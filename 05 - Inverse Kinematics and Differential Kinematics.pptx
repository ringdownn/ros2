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  <p:sldMasterId id="2147483734" r:id="rId5"/>
    <p:sldMasterId id="2147483722" r:id="rId6"/>
    <p:sldMasterId id="2147483772" r:id="rId7"/>
  </p:sldMasterIdLst>
  <p:notesMasterIdLst>
    <p:notesMasterId r:id="rId44"/>
  </p:notesMasterIdLst>
  <p:sldIdLst>
    <p:sldId id="428" r:id="rId8"/>
    <p:sldId id="521" r:id="rId9"/>
    <p:sldId id="430" r:id="rId10"/>
    <p:sldId id="445" r:id="rId11"/>
    <p:sldId id="484" r:id="rId12"/>
    <p:sldId id="485" r:id="rId13"/>
    <p:sldId id="486" r:id="rId14"/>
    <p:sldId id="483" r:id="rId15"/>
    <p:sldId id="488" r:id="rId16"/>
    <p:sldId id="489" r:id="rId17"/>
    <p:sldId id="490" r:id="rId18"/>
    <p:sldId id="491" r:id="rId19"/>
    <p:sldId id="492" r:id="rId20"/>
    <p:sldId id="495" r:id="rId21"/>
    <p:sldId id="496" r:id="rId22"/>
    <p:sldId id="487" r:id="rId23"/>
    <p:sldId id="497" r:id="rId24"/>
    <p:sldId id="499" r:id="rId25"/>
    <p:sldId id="500" r:id="rId26"/>
    <p:sldId id="502" r:id="rId27"/>
    <p:sldId id="503" r:id="rId28"/>
    <p:sldId id="504" r:id="rId29"/>
    <p:sldId id="505" r:id="rId30"/>
    <p:sldId id="506" r:id="rId31"/>
    <p:sldId id="508" r:id="rId32"/>
    <p:sldId id="509" r:id="rId33"/>
    <p:sldId id="512" r:id="rId34"/>
    <p:sldId id="516" r:id="rId35"/>
    <p:sldId id="514" r:id="rId36"/>
    <p:sldId id="515" r:id="rId37"/>
    <p:sldId id="517" r:id="rId38"/>
    <p:sldId id="518" r:id="rId39"/>
    <p:sldId id="513" r:id="rId40"/>
    <p:sldId id="520" r:id="rId41"/>
    <p:sldId id="519" r:id="rId42"/>
    <p:sldId id="507" r:id="rId4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54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cdonald, Lucy J" initials="MLJ" lastIdx="23" clrIdx="0"/>
  <p:cmAuthor id="2" name="Fernandes, Jennifer A." initials="FJA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DA641C"/>
    <a:srgbClr val="DAA01C"/>
    <a:srgbClr val="DA501C"/>
    <a:srgbClr val="DA3C1C"/>
    <a:srgbClr val="75D0FF"/>
    <a:srgbClr val="1C4392"/>
    <a:srgbClr val="FFFFFF"/>
    <a:srgbClr val="E5C02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7" autoAdjust="0"/>
    <p:restoredTop sz="84136"/>
  </p:normalViewPr>
  <p:slideViewPr>
    <p:cSldViewPr snapToGrid="0">
      <p:cViewPr varScale="1">
        <p:scale>
          <a:sx n="180" d="100"/>
          <a:sy n="180" d="100"/>
        </p:scale>
        <p:origin x="1128" y="168"/>
      </p:cViewPr>
      <p:guideLst>
        <p:guide orient="horz" pos="1620"/>
        <p:guide pos="2880"/>
        <p:guide pos="54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4B29D-FB41-7449-B07E-7B0C50F1D655}" type="datetimeFigureOut">
              <a:rPr lang="en-US" smtClean="0"/>
              <a:pPr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741E6-F4B0-0348-85E5-28B214E36C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0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97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32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dirty="0">
                <a:solidFill>
                  <a:schemeClr val="bg1">
                    <a:lumMod val="65000"/>
                  </a:schemeClr>
                </a:solidFill>
              </a:rPr>
              <a:t>Nowadays, to be simple, almost every 6-degree manipulator built has three axes intersecting like PUMA 560. 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This equation looks like three equations with four unknowns, but in fact the first and second equations express the same constraints.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58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23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1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55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28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NB:</a:t>
            </a:r>
            <a:r>
              <a:rPr kumimoji="1" lang="en-GB" altLang="zh-CN" baseline="0" dirty="0"/>
              <a:t> cos(180 – </a:t>
            </a:r>
            <a:r>
              <a:rPr lang="el-GR" altLang="zh-CN" b="0" i="0" dirty="0">
                <a:solidFill>
                  <a:srgbClr val="202124"/>
                </a:solidFill>
                <a:effectLst/>
                <a:latin typeface="Google Sans"/>
              </a:rPr>
              <a:t>θ</a:t>
            </a:r>
            <a:r>
              <a:rPr lang="en-GB" altLang="zh-CN" b="0" i="0" dirty="0">
                <a:solidFill>
                  <a:srgbClr val="202124"/>
                </a:solidFill>
                <a:effectLst/>
                <a:latin typeface="Google Sans"/>
              </a:rPr>
              <a:t>2</a:t>
            </a:r>
            <a:r>
              <a:rPr kumimoji="1" lang="en-GB" altLang="zh-CN" baseline="0" dirty="0"/>
              <a:t>) = -cos</a:t>
            </a:r>
            <a:r>
              <a:rPr lang="el-GR" altLang="zh-CN" b="0" i="0" dirty="0">
                <a:solidFill>
                  <a:srgbClr val="202124"/>
                </a:solidFill>
                <a:effectLst/>
                <a:latin typeface="Google Sans"/>
              </a:rPr>
              <a:t>θ</a:t>
            </a:r>
            <a:r>
              <a:rPr lang="en-GB" altLang="zh-CN" b="0" i="0" dirty="0">
                <a:solidFill>
                  <a:srgbClr val="202124"/>
                </a:solidFill>
                <a:effectLst/>
                <a:latin typeface="Google Sans"/>
              </a:rPr>
              <a:t>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38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NB:</a:t>
            </a:r>
            <a:r>
              <a:rPr kumimoji="1" lang="en-GB" altLang="zh-CN" baseline="0" dirty="0"/>
              <a:t> cos(180 – </a:t>
            </a:r>
            <a:r>
              <a:rPr lang="el-GR" altLang="zh-CN" b="0" i="0" dirty="0">
                <a:solidFill>
                  <a:srgbClr val="202124"/>
                </a:solidFill>
                <a:effectLst/>
                <a:latin typeface="Google Sans"/>
              </a:rPr>
              <a:t>θ</a:t>
            </a:r>
            <a:r>
              <a:rPr lang="en-GB" altLang="zh-CN" b="0" i="0" dirty="0">
                <a:solidFill>
                  <a:srgbClr val="202124"/>
                </a:solidFill>
                <a:effectLst/>
                <a:latin typeface="Google Sans"/>
              </a:rPr>
              <a:t>2</a:t>
            </a:r>
            <a:r>
              <a:rPr kumimoji="1" lang="en-GB" altLang="zh-CN" baseline="0" dirty="0"/>
              <a:t>) = -cos</a:t>
            </a:r>
            <a:r>
              <a:rPr lang="el-GR" altLang="zh-CN" b="0" i="0" dirty="0">
                <a:solidFill>
                  <a:srgbClr val="202124"/>
                </a:solidFill>
                <a:effectLst/>
                <a:latin typeface="Google Sans"/>
              </a:rPr>
              <a:t>θ</a:t>
            </a:r>
            <a:r>
              <a:rPr lang="en-GB" altLang="zh-CN" b="0" i="0" dirty="0">
                <a:solidFill>
                  <a:srgbClr val="202124"/>
                </a:solidFill>
                <a:effectLst/>
                <a:latin typeface="Google Sans"/>
              </a:rPr>
              <a:t>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96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GB" altLang="zh-CN" dirty="0"/>
              <a:t>NB:</a:t>
            </a:r>
            <a:r>
              <a:rPr kumimoji="1" lang="en-GB" altLang="zh-CN" baseline="0" dirty="0"/>
              <a:t> cos(180 – </a:t>
            </a:r>
            <a:r>
              <a:rPr lang="el-GR" altLang="zh-CN" b="0" i="0" dirty="0">
                <a:solidFill>
                  <a:srgbClr val="202124"/>
                </a:solidFill>
                <a:effectLst/>
                <a:latin typeface="Google Sans"/>
              </a:rPr>
              <a:t>θ</a:t>
            </a:r>
            <a:r>
              <a:rPr lang="en-GB" altLang="zh-CN" b="0" i="0" dirty="0">
                <a:solidFill>
                  <a:srgbClr val="202124"/>
                </a:solidFill>
                <a:effectLst/>
                <a:latin typeface="Google Sans"/>
              </a:rPr>
              <a:t>2</a:t>
            </a:r>
            <a:r>
              <a:rPr kumimoji="1" lang="en-GB" altLang="zh-CN" baseline="0" dirty="0"/>
              <a:t>) = -cos</a:t>
            </a:r>
            <a:r>
              <a:rPr lang="el-GR" altLang="zh-CN" b="0" i="0" dirty="0">
                <a:solidFill>
                  <a:srgbClr val="202124"/>
                </a:solidFill>
                <a:effectLst/>
                <a:latin typeface="Google Sans"/>
              </a:rPr>
              <a:t>θ</a:t>
            </a:r>
            <a:r>
              <a:rPr lang="en-GB" altLang="zh-CN" b="0" i="0" dirty="0">
                <a:solidFill>
                  <a:srgbClr val="202124"/>
                </a:solidFill>
                <a:effectLst/>
                <a:latin typeface="Google Sans"/>
              </a:rPr>
              <a:t>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6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6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53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21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39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31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50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62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22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741E6-F4B0-0348-85E5-28B214E36C0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6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F3B5D918-36B2-FC42-822A-6E727352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86" y="1575771"/>
            <a:ext cx="5988199" cy="906303"/>
          </a:xfrm>
          <a:prstGeom prst="rect">
            <a:avLst/>
          </a:prstGeom>
        </p:spPr>
        <p:txBody>
          <a:bodyPr anchor="b"/>
          <a:lstStyle>
            <a:lvl1pPr>
              <a:defRPr sz="30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A3CF2EC-A73D-514B-90DA-DC81C59C65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657" y="2565427"/>
            <a:ext cx="5988199" cy="906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8BF1C7B7-77C0-964F-92F3-D5CBACA54A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657" y="3940277"/>
            <a:ext cx="1804708" cy="445585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>
                <a:tab pos="1905000" algn="l"/>
              </a:tabLst>
              <a:defRPr sz="1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GB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362701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no logo/text, add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6">
            <a:extLst>
              <a:ext uri="{FF2B5EF4-FFF2-40B4-BE49-F238E27FC236}">
                <a16:creationId xmlns:a16="http://schemas.microsoft.com/office/drawing/2014/main" id="{02E36751-8351-A048-A25E-825FFFF2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33" y="1096027"/>
            <a:ext cx="6249257" cy="1093153"/>
          </a:xfrm>
          <a:prstGeom prst="rect">
            <a:avLst/>
          </a:prstGeom>
        </p:spPr>
        <p:txBody>
          <a:bodyPr/>
          <a:lstStyle>
            <a:lvl1pPr>
              <a:defRPr sz="3000" b="1" i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649C5231-1AB2-6945-B967-2D6B9C864F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2604" y="2272533"/>
            <a:ext cx="6249257" cy="906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D6B357D3-A859-0045-81BB-E1A5236B6E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604" y="3355308"/>
            <a:ext cx="1804708" cy="445585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>
                <a:tab pos="1905000" algn="l"/>
              </a:tabLst>
              <a:defRPr sz="13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GB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272494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- white logo/text, add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6">
            <a:extLst>
              <a:ext uri="{FF2B5EF4-FFF2-40B4-BE49-F238E27FC236}">
                <a16:creationId xmlns:a16="http://schemas.microsoft.com/office/drawing/2014/main" id="{02E36751-8351-A048-A25E-825FFFF2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04" y="1388921"/>
            <a:ext cx="6249257" cy="1093153"/>
          </a:xfrm>
          <a:prstGeom prst="rect">
            <a:avLst/>
          </a:prstGeom>
        </p:spPr>
        <p:txBody>
          <a:bodyPr/>
          <a:lstStyle>
            <a:lvl1pPr>
              <a:defRPr sz="3000" b="1" i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649C5231-1AB2-6945-B967-2D6B9C864F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1975" y="2565427"/>
            <a:ext cx="6249257" cy="906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D6B357D3-A859-0045-81BB-E1A5236B6E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1975" y="3648202"/>
            <a:ext cx="1804708" cy="445585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>
                <a:tab pos="1905000" algn="l"/>
              </a:tabLst>
              <a:defRPr sz="13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GB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2456672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blue logo/text, add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6">
            <a:extLst>
              <a:ext uri="{FF2B5EF4-FFF2-40B4-BE49-F238E27FC236}">
                <a16:creationId xmlns:a16="http://schemas.microsoft.com/office/drawing/2014/main" id="{02E36751-8351-A048-A25E-825FFFF2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04" y="1388921"/>
            <a:ext cx="6249257" cy="1093153"/>
          </a:xfrm>
          <a:prstGeom prst="rect">
            <a:avLst/>
          </a:prstGeom>
        </p:spPr>
        <p:txBody>
          <a:bodyPr/>
          <a:lstStyle>
            <a:lvl1pPr>
              <a:defRPr sz="3000" b="1" i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649C5231-1AB2-6945-B967-2D6B9C864F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1975" y="2565427"/>
            <a:ext cx="6249257" cy="906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D6B357D3-A859-0045-81BB-E1A5236B6E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1975" y="3648202"/>
            <a:ext cx="1804708" cy="445585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>
                <a:tab pos="1905000" algn="l"/>
              </a:tabLst>
              <a:defRPr sz="13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GB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351101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6">
            <a:extLst>
              <a:ext uri="{FF2B5EF4-FFF2-40B4-BE49-F238E27FC236}">
                <a16:creationId xmlns:a16="http://schemas.microsoft.com/office/drawing/2014/main" id="{E59E36B3-53DD-429B-A5C6-F42D15D2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86" y="1575771"/>
            <a:ext cx="5988199" cy="906303"/>
          </a:xfrm>
          <a:prstGeom prst="rect">
            <a:avLst/>
          </a:prstGeom>
        </p:spPr>
        <p:txBody>
          <a:bodyPr anchor="b"/>
          <a:lstStyle>
            <a:lvl1pPr>
              <a:defRPr sz="30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5E4309F6-755A-47ED-9515-58F69DCF43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657" y="2565427"/>
            <a:ext cx="5988199" cy="906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03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A792C48-516D-0149-B66B-29373611B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49" y="559420"/>
            <a:ext cx="7732925" cy="63033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5F9D32-3EB3-3F4B-8EC4-D05593DD88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465729"/>
            <a:ext cx="7732924" cy="28419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GB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221892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multi typ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546DD5-3AF7-004C-90B2-294082908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791" y="1352877"/>
            <a:ext cx="3471663" cy="29388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F17E44B-6C06-324F-ADEA-EA0DC1634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1671" y="1352877"/>
            <a:ext cx="3689906" cy="29388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33D2BB9-0C7A-2B41-B697-8B0D622D6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791" y="554556"/>
            <a:ext cx="7462928" cy="63033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0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multi typ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546DD5-3AF7-004C-90B2-294082908F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649" y="1364456"/>
            <a:ext cx="7661336" cy="2936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US"/>
              <a:t>Click on the icons to insert content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33D2BB9-0C7A-2B41-B697-8B0D622D6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49" y="569815"/>
            <a:ext cx="7661335" cy="63033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5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A792C48-516D-0149-B66B-29373611B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49" y="559420"/>
            <a:ext cx="7732925" cy="63033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C4392"/>
                </a:solidFill>
              </a:defRPr>
            </a:lvl1pPr>
          </a:lstStyle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5F9D32-3EB3-3F4B-8EC4-D05593DD88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319099"/>
            <a:ext cx="7732924" cy="29885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GB"/>
              <a:t>Click to edit text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DCEEA5-870D-9924-120A-8AA4B9163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4736306"/>
            <a:ext cx="4350544" cy="40719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the course code and title</a:t>
            </a:r>
          </a:p>
        </p:txBody>
      </p:sp>
    </p:spTree>
    <p:extLst>
      <p:ext uri="{BB962C8B-B14F-4D97-AF65-F5344CB8AC3E}">
        <p14:creationId xmlns:p14="http://schemas.microsoft.com/office/powerpoint/2010/main" val="8780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multi typ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546DD5-3AF7-004C-90B2-294082908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791" y="1352877"/>
            <a:ext cx="3471663" cy="29388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F17E44B-6C06-324F-ADEA-EA0DC1634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1671" y="1352877"/>
            <a:ext cx="3689906" cy="29388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33D2BB9-0C7A-2B41-B697-8B0D622D6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791" y="554556"/>
            <a:ext cx="7462928" cy="63033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C3523BA-AACC-8F69-E4C8-9598B96CF8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4736306"/>
            <a:ext cx="4350544" cy="40719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the course code and title</a:t>
            </a:r>
          </a:p>
        </p:txBody>
      </p:sp>
    </p:spTree>
    <p:extLst>
      <p:ext uri="{BB962C8B-B14F-4D97-AF65-F5344CB8AC3E}">
        <p14:creationId xmlns:p14="http://schemas.microsoft.com/office/powerpoint/2010/main" val="207799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_multi typ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546DD5-3AF7-004C-90B2-294082908F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649" y="1364456"/>
            <a:ext cx="7661336" cy="2936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en-US"/>
              <a:t>Click on the icons to insert content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33D2BB9-0C7A-2B41-B697-8B0D622D6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49" y="569815"/>
            <a:ext cx="7661335" cy="63033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title style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F274F51-2AD8-145F-B782-8A678AAF0F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4736306"/>
            <a:ext cx="4350544" cy="40719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the course code and title</a:t>
            </a:r>
          </a:p>
        </p:txBody>
      </p:sp>
    </p:spTree>
    <p:extLst>
      <p:ext uri="{BB962C8B-B14F-4D97-AF65-F5344CB8AC3E}">
        <p14:creationId xmlns:p14="http://schemas.microsoft.com/office/powerpoint/2010/main" val="45095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23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40" r:id="rId2"/>
    <p:sldLayoutId id="2147483771" r:id="rId3"/>
    <p:sldLayoutId id="2147483737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1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4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3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2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692EA-6E25-D1E6-C245-BC4CB7A20AF0}"/>
              </a:ext>
            </a:extLst>
          </p:cNvPr>
          <p:cNvSpPr/>
          <p:nvPr userDrawn="1"/>
        </p:nvSpPr>
        <p:spPr>
          <a:xfrm>
            <a:off x="0" y="4736306"/>
            <a:ext cx="9144000" cy="407194"/>
          </a:xfrm>
          <a:prstGeom prst="rect">
            <a:avLst/>
          </a:prstGeom>
          <a:solidFill>
            <a:srgbClr val="1C4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76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2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0" Type="http://schemas.openxmlformats.org/officeDocument/2006/relationships/image" Target="../media/image430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65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6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62.png"/><Relationship Id="rId3" Type="http://schemas.openxmlformats.org/officeDocument/2006/relationships/image" Target="../media/image67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70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69.png"/><Relationship Id="rId1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672D-E6A5-4E34-B8F6-1D2436AE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86" y="1575771"/>
            <a:ext cx="8357688" cy="906303"/>
          </a:xfrm>
        </p:spPr>
        <p:txBody>
          <a:bodyPr lIns="91440" tIns="45720" rIns="91440" bIns="45720" anchor="b"/>
          <a:lstStyle/>
          <a:p>
            <a:r>
              <a:rPr lang="en-GB" dirty="0"/>
              <a:t>JC3504  Robot Technology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EA9F0-2D49-49CE-A162-EB45E762A6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657" y="2575453"/>
            <a:ext cx="8143856" cy="896277"/>
          </a:xfrm>
        </p:spPr>
        <p:txBody>
          <a:bodyPr lIns="91440" tIns="45720" rIns="91440" bIns="45720" anchor="t"/>
          <a:lstStyle/>
          <a:p>
            <a:r>
              <a:rPr lang="en-GB" dirty="0">
                <a:latin typeface="Calibri"/>
                <a:cs typeface="Calibri"/>
              </a:rPr>
              <a:t>Lecture 5: Inverse Kinematics and </a:t>
            </a:r>
            <a:r>
              <a:rPr lang="en-GB" altLang="zh-CN" dirty="0"/>
              <a:t>Differential Kinematics</a:t>
            </a:r>
            <a:endParaRPr lang="en-GB" dirty="0">
              <a:cs typeface="Calibri" panose="020F0502020204030204" pitchFamily="34" charset="0"/>
            </a:endParaRPr>
          </a:p>
        </p:txBody>
      </p:sp>
      <p:pic>
        <p:nvPicPr>
          <p:cNvPr id="5" name="Picture 6" descr="South China Normal University - Wikipedia">
            <a:extLst>
              <a:ext uri="{FF2B5EF4-FFF2-40B4-BE49-F238E27FC236}">
                <a16:creationId xmlns:a16="http://schemas.microsoft.com/office/drawing/2014/main" id="{432ED946-D500-5516-8807-AE50C0B66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365" y="207001"/>
            <a:ext cx="658611" cy="70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20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723C450-C930-2B0E-0229-3A8E58C6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dirty="0"/>
              <a:t>Inverse Kinematics </a:t>
            </a:r>
            <a:r>
              <a:rPr lang="en-GB" altLang="zh-CN" b="0" i="1" dirty="0"/>
              <a:t>(covered in next lecture)</a:t>
            </a:r>
            <a:endParaRPr lang="zh-CN" altLang="en-US" b="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DACCFD9F-8B91-7320-E2EE-8ED6CDC291D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3221832" cy="3118351"/>
              </a:xfrm>
            </p:spPr>
            <p:txBody>
              <a:bodyPr/>
              <a:lstStyle/>
              <a:p>
                <a:r>
                  <a:rPr lang="en-GB" altLang="zh-CN" i="0" dirty="0">
                    <a:effectLst/>
                  </a:rPr>
                  <a:t>Inverse Kinematics </a:t>
                </a:r>
                <a:r>
                  <a:rPr lang="en-GB" altLang="zh-CN" b="0" i="0" dirty="0">
                    <a:solidFill>
                      <a:srgbClr val="003399"/>
                    </a:solidFill>
                    <a:effectLst/>
                  </a:rPr>
                  <a:t>calculates the joint parameters </a:t>
                </a:r>
                <a:r>
                  <a:rPr lang="en-GB" altLang="zh-CN" b="0" i="0" dirty="0">
                    <a:solidFill>
                      <a:srgbClr val="0D0D0D"/>
                    </a:solidFill>
                    <a:effectLst/>
                  </a:rPr>
                  <a:t>required to achieve a desired position and orientation of the end-effector. </a:t>
                </a:r>
              </a:p>
              <a:p>
                <a:r>
                  <a:rPr lang="en-GB" altLang="zh-CN" dirty="0">
                    <a:solidFill>
                      <a:srgbClr val="0D0D0D"/>
                    </a:solidFill>
                  </a:rPr>
                  <a:t>i.e. g</a:t>
                </a:r>
                <a:r>
                  <a:rPr lang="en-GB" altLang="zh-CN" b="0" i="0" dirty="0">
                    <a:solidFill>
                      <a:srgbClr val="0D0D0D"/>
                    </a:solidFill>
                    <a:effectLst/>
                  </a:rPr>
                  <a:t>iven </a:t>
                </a:r>
                <a:r>
                  <a:rPr lang="en-GB" altLang="zh-CN" dirty="0"/>
                  <a:t>the position and orientation of the end-effector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>
                    <a:solidFill>
                      <a:srgbClr val="0D0D0D"/>
                    </a:solidFill>
                  </a:rPr>
                  <a:t>, with the lengths of links,</a:t>
                </a:r>
                <a:r>
                  <a:rPr lang="en-GB" altLang="zh-CN" dirty="0"/>
                  <a:t> what are the joint angles (</a:t>
                </a:r>
                <a14:m>
                  <m:oMath xmlns:m="http://schemas.openxmlformats.org/officeDocument/2006/math">
                    <m:r>
                      <a:rPr lang="en-GB" altLang="zh-CN" i="1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altLang="zh-CN" dirty="0">
                    <a:solidFill>
                      <a:srgbClr val="0D0D0D"/>
                    </a:solidFill>
                  </a:rPr>
                  <a:t>s</a:t>
                </a:r>
                <a:r>
                  <a:rPr lang="en-GB" altLang="zh-CN" dirty="0"/>
                  <a:t>)?</a:t>
                </a:r>
              </a:p>
              <a:p>
                <a:endParaRPr lang="en-GB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Pre>
                            <m:sPrePr>
                              <m:ctrlPr>
                                <a:rPr lang="en-GB" altLang="zh-CN" i="1">
                                  <a:solidFill>
                                    <a:srgbClr val="0D0D0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GB" altLang="zh-CN" i="1">
                                  <a:solidFill>
                                    <a:srgbClr val="0D0D0D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p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sPre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DACCFD9F-8B91-7320-E2EE-8ED6CDC291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3221832" cy="3118351"/>
              </a:xfrm>
              <a:blipFill>
                <a:blip r:embed="rId2"/>
                <a:stretch>
                  <a:fillRect l="-784" t="-1626" r="-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EF777995-549B-0282-15E7-00E369CFB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095" y="1107279"/>
            <a:ext cx="4771174" cy="385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27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71DC877-1CB0-BE40-20BE-90D04B390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/>
          <a:lstStyle/>
          <a:p>
            <a:r>
              <a:rPr lang="en-GB" altLang="zh-CN" dirty="0"/>
              <a:t>Outline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F6BA4E4-9E73-0A20-53B6-E34D526430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465729"/>
            <a:ext cx="7732924" cy="2841951"/>
          </a:xfrm>
        </p:spPr>
        <p:txBody>
          <a:bodyPr/>
          <a:lstStyle/>
          <a:p>
            <a:r>
              <a:rPr lang="en-US" altLang="zh-CN" dirty="0"/>
              <a:t>Frames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Standard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endParaRPr lang="en-GB" altLang="zh-CN" dirty="0"/>
          </a:p>
          <a:p>
            <a:r>
              <a:rPr lang="en-GB" altLang="zh-CN" dirty="0"/>
              <a:t>Inverse Kinematics</a:t>
            </a:r>
          </a:p>
          <a:p>
            <a:r>
              <a:rPr lang="en-GB" altLang="zh-CN" dirty="0"/>
              <a:t>Differential Kinematics</a:t>
            </a:r>
          </a:p>
        </p:txBody>
      </p:sp>
    </p:spTree>
    <p:extLst>
      <p:ext uri="{BB962C8B-B14F-4D97-AF65-F5344CB8AC3E}">
        <p14:creationId xmlns:p14="http://schemas.microsoft.com/office/powerpoint/2010/main" val="3309945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5164F326-6124-2928-C4CB-F6F2AD43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04" y="1388921"/>
            <a:ext cx="6249257" cy="1093153"/>
          </a:xfrm>
        </p:spPr>
        <p:txBody>
          <a:bodyPr/>
          <a:lstStyle/>
          <a:p>
            <a:r>
              <a:rPr lang="en-US" altLang="zh-CN" dirty="0"/>
              <a:t>Frames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Standard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697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ED3ADDC-C495-073E-D685-7B87C376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Frames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Standard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0902A02-64D1-A41D-9828-F8D0996060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274520"/>
            <a:ext cx="7732924" cy="630335"/>
          </a:xfrm>
        </p:spPr>
        <p:txBody>
          <a:bodyPr/>
          <a:lstStyle/>
          <a:p>
            <a:r>
              <a:rPr lang="en-GB" altLang="zh-CN" sz="1600" dirty="0"/>
              <a:t>As a matter of convention, we assign specific names and locations to certain "standard" frames associated with a robot and its workspace. </a:t>
            </a: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0C2E9395-99EF-D07E-EB3A-31FA48BAB674}"/>
              </a:ext>
            </a:extLst>
          </p:cNvPr>
          <p:cNvSpPr txBox="1">
            <a:spLocks/>
          </p:cNvSpPr>
          <p:nvPr/>
        </p:nvSpPr>
        <p:spPr>
          <a:xfrm>
            <a:off x="628649" y="1912994"/>
            <a:ext cx="4224311" cy="24816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/>
              <a:t>The</a:t>
            </a:r>
            <a:r>
              <a:rPr lang="en-US" altLang="zh-CN" sz="1400" dirty="0">
                <a:solidFill>
                  <a:srgbClr val="003399"/>
                </a:solidFill>
              </a:rPr>
              <a:t> base</a:t>
            </a:r>
            <a:r>
              <a:rPr lang="zh-CN" altLang="en-US" sz="1400" dirty="0">
                <a:solidFill>
                  <a:srgbClr val="003399"/>
                </a:solidFill>
              </a:rPr>
              <a:t> </a:t>
            </a:r>
            <a:r>
              <a:rPr lang="en-US" altLang="zh-CN" sz="1400" dirty="0">
                <a:solidFill>
                  <a:srgbClr val="003399"/>
                </a:solidFill>
              </a:rPr>
              <a:t>frame,</a:t>
            </a:r>
            <a:r>
              <a:rPr lang="zh-CN" altLang="en-US" sz="1400" dirty="0">
                <a:solidFill>
                  <a:srgbClr val="003399"/>
                </a:solidFill>
              </a:rPr>
              <a:t> </a:t>
            </a:r>
            <a:r>
              <a:rPr lang="en-US" altLang="zh-CN" sz="1400" dirty="0">
                <a:solidFill>
                  <a:srgbClr val="003399"/>
                </a:solidFill>
              </a:rPr>
              <a:t>{B} =</a:t>
            </a:r>
            <a:r>
              <a:rPr lang="zh-CN" altLang="en-US" sz="1400" dirty="0">
                <a:solidFill>
                  <a:srgbClr val="003399"/>
                </a:solidFill>
              </a:rPr>
              <a:t> </a:t>
            </a:r>
            <a:r>
              <a:rPr lang="en-US" altLang="zh-CN" sz="1400" dirty="0">
                <a:solidFill>
                  <a:srgbClr val="003399"/>
                </a:solidFill>
              </a:rPr>
              <a:t>{0},</a:t>
            </a:r>
            <a:r>
              <a:rPr lang="zh-CN" altLang="en-US" sz="1400" dirty="0">
                <a:solidFill>
                  <a:srgbClr val="003399"/>
                </a:solidFill>
              </a:rPr>
              <a:t> </a:t>
            </a:r>
            <a:r>
              <a:rPr lang="en-GB" altLang="zh-CN" sz="1400" dirty="0"/>
              <a:t>is located at the base of the manipulator</a:t>
            </a:r>
            <a:r>
              <a:rPr lang="en-US" altLang="zh-CN" sz="1400" dirty="0"/>
              <a:t>.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/>
              <a:t>The </a:t>
            </a:r>
            <a:r>
              <a:rPr lang="en-GB" altLang="zh-CN" sz="1400" dirty="0">
                <a:solidFill>
                  <a:srgbClr val="003399"/>
                </a:solidFill>
              </a:rPr>
              <a:t>station frame, </a:t>
            </a:r>
            <a:r>
              <a:rPr lang="en-US" altLang="zh-CN" sz="1400" dirty="0">
                <a:solidFill>
                  <a:srgbClr val="003399"/>
                </a:solidFill>
              </a:rPr>
              <a:t>{S}</a:t>
            </a:r>
            <a:r>
              <a:rPr lang="en-US" altLang="zh-CN" sz="1400" dirty="0"/>
              <a:t>,</a:t>
            </a:r>
            <a:r>
              <a:rPr lang="zh-CN" altLang="en-US" sz="1400" dirty="0"/>
              <a:t> </a:t>
            </a:r>
            <a:r>
              <a:rPr lang="en-GB" altLang="zh-CN" sz="1400" dirty="0"/>
              <a:t>is located in a task-relevant location</a:t>
            </a:r>
            <a:r>
              <a:rPr lang="en-US" altLang="zh-CN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/>
              <a:t>e.g.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GB" altLang="zh-CN" sz="1400" dirty="0"/>
              <a:t>working desk.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/>
              <a:t>The </a:t>
            </a:r>
            <a:r>
              <a:rPr lang="en-GB" altLang="zh-CN" sz="1400" dirty="0">
                <a:solidFill>
                  <a:srgbClr val="003399"/>
                </a:solidFill>
              </a:rPr>
              <a:t>wrist frame, {W} = {n}</a:t>
            </a:r>
            <a:r>
              <a:rPr lang="en-GB" altLang="zh-CN" sz="1400" dirty="0"/>
              <a:t>, is affixed to the last link of the manipulator.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/>
              <a:t>The </a:t>
            </a:r>
            <a:r>
              <a:rPr lang="en-GB" altLang="zh-CN" sz="1400" dirty="0">
                <a:solidFill>
                  <a:srgbClr val="003399"/>
                </a:solidFill>
              </a:rPr>
              <a:t>tool frame, {T}</a:t>
            </a:r>
            <a:r>
              <a:rPr lang="en-GB" altLang="zh-CN" sz="1400" dirty="0"/>
              <a:t>, is affixed to the end of any tool the robot holds.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zh-CN" sz="1400" dirty="0"/>
              <a:t>The </a:t>
            </a:r>
            <a:r>
              <a:rPr lang="en-GB" altLang="zh-CN" sz="1400" dirty="0">
                <a:solidFill>
                  <a:srgbClr val="003399"/>
                </a:solidFill>
              </a:rPr>
              <a:t>goal frame, {G}</a:t>
            </a:r>
            <a:r>
              <a:rPr lang="en-GB" altLang="zh-CN" sz="1400" dirty="0"/>
              <a:t>, is the destination location to which the robot is to move the tool. That is, after moving, {G} = {T}.</a:t>
            </a:r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833977B-249C-8ECB-5F39-02217573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66" y="1629573"/>
            <a:ext cx="3922857" cy="339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9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4F0A965-A1D9-5F2F-746E-13C5633F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Where Is the Tool?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744E2C94-D5F6-7764-F544-5609BA2441C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67216" cy="2841951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altLang="zh-CN" dirty="0"/>
                  <a:t>All the objects on the working table use the station frame as the coordinate, so, when the robot works, we need to calculate the value of the tool frame, {T}, relative to the station frame,{S}, i.e. to find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  <m:e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altLang="zh-CN" dirty="0"/>
                  <a:t>In the previous lecture, we have found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  <m:r>
                      <a:rPr lang="en-GB" altLang="zh-CN" b="0" i="1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/>
                  <a:t>, and given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altLang="zh-CN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  <m:e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/>
                  <a:t>,</a:t>
                </a:r>
              </a:p>
              <a:p>
                <a:pPr>
                  <a:lnSpc>
                    <a:spcPct val="100000"/>
                  </a:lnSpc>
                </a:pPr>
                <a:endParaRPr lang="en-GB" altLang="zh-CN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GB" altLang="zh-CN" b="0" i="1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GB" altLang="zh-CN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GB" altLang="zh-CN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GB" altLang="zh-CN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r>
                                <a:rPr lang="en-GB" altLang="zh-CN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sPre>
                        </m:e>
                        <m:sup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Pre>
                        <m:sPre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sPre>
                        <m:sPre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744E2C94-D5F6-7764-F544-5609BA2441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67216" cy="2841951"/>
              </a:xfrm>
              <a:blipFill>
                <a:blip r:embed="rId2"/>
                <a:stretch>
                  <a:fillRect l="-593" t="-444" r="-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C1E457DC-4842-DD56-7360-75F2DDA3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66" y="1629573"/>
            <a:ext cx="3922857" cy="339726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30781C-34E1-55AD-39D3-78BA64C76F73}"/>
              </a:ext>
            </a:extLst>
          </p:cNvPr>
          <p:cNvSpPr txBox="1"/>
          <p:nvPr/>
        </p:nvSpPr>
        <p:spPr>
          <a:xfrm>
            <a:off x="7075107" y="18543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{T}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FBF6CF-8DE4-964B-6960-9BC8DF1C9F73}"/>
              </a:ext>
            </a:extLst>
          </p:cNvPr>
          <p:cNvSpPr txBox="1"/>
          <p:nvPr/>
        </p:nvSpPr>
        <p:spPr>
          <a:xfrm>
            <a:off x="5884855" y="4677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{B}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FAD909-20CB-B2E1-22AE-2D4D344C16E0}"/>
              </a:ext>
            </a:extLst>
          </p:cNvPr>
          <p:cNvSpPr txBox="1"/>
          <p:nvPr/>
        </p:nvSpPr>
        <p:spPr>
          <a:xfrm>
            <a:off x="6206683" y="3640936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{S}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80EAA0-5640-1737-D345-E3A305DEAD25}"/>
              </a:ext>
            </a:extLst>
          </p:cNvPr>
          <p:cNvSpPr txBox="1"/>
          <p:nvPr/>
        </p:nvSpPr>
        <p:spPr>
          <a:xfrm>
            <a:off x="7616599" y="38350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{G}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1F0A60-4D66-3CD8-1CA6-A392A9686BD0}"/>
              </a:ext>
            </a:extLst>
          </p:cNvPr>
          <p:cNvSpPr txBox="1"/>
          <p:nvPr/>
        </p:nvSpPr>
        <p:spPr>
          <a:xfrm>
            <a:off x="6862402" y="274537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{W}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95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4F0A965-A1D9-5F2F-746E-13C5633F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Goal of Inverse Kinematics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744E2C94-D5F6-7764-F544-5609BA2441C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67216" cy="2841951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GB" altLang="zh-CN" dirty="0"/>
                  <a:t>The goal of inverse kinematics is to find a robot configuration </a:t>
                </a:r>
                <a:r>
                  <a:rPr lang="en-GB" altLang="zh-CN" dirty="0">
                    <a:solidFill>
                      <a:schemeClr val="bg1">
                        <a:lumMod val="50000"/>
                      </a:schemeClr>
                    </a:solidFill>
                  </a:rPr>
                  <a:t>(i.e.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altLang="zh-CN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b="0" dirty="0">
                    <a:solidFill>
                      <a:schemeClr val="bg1">
                        <a:lumMod val="50000"/>
                      </a:schemeClr>
                    </a:solidFill>
                  </a:rPr>
                  <a:t>,</a:t>
                </a:r>
                <a:r>
                  <a:rPr lang="en-GB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b="0" dirty="0">
                    <a:solidFill>
                      <a:schemeClr val="bg1">
                        <a:lumMod val="50000"/>
                      </a:schemeClr>
                    </a:solidFill>
                  </a:rPr>
                  <a:t>,</a:t>
                </a:r>
                <a:r>
                  <a:rPr lang="en-GB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b="0" dirty="0">
                    <a:solidFill>
                      <a:schemeClr val="bg1">
                        <a:lumMod val="50000"/>
                      </a:schemeClr>
                    </a:solidFill>
                  </a:rPr>
                  <a:t>,</a:t>
                </a:r>
                <a:r>
                  <a:rPr lang="en-GB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GB" altLang="zh-CN" b="0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altLang="zh-CN" b="0" dirty="0"/>
                  <a:t>given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b="0" dirty="0"/>
                  <a:t> </a:t>
                </a:r>
                <a:r>
                  <a:rPr lang="en-GB" altLang="zh-CN" b="0" dirty="0">
                    <a:solidFill>
                      <a:schemeClr val="bg1">
                        <a:lumMod val="50000"/>
                      </a:schemeClr>
                    </a:solidFill>
                  </a:rPr>
                  <a:t>(i.e. given {B} and {T}={G}).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744E2C94-D5F6-7764-F544-5609BA2441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67216" cy="2841951"/>
              </a:xfrm>
              <a:blipFill>
                <a:blip r:embed="rId2"/>
                <a:stretch>
                  <a:fillRect l="-593" t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C1E457DC-4842-DD56-7360-75F2DDA3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66" y="1629573"/>
            <a:ext cx="3922857" cy="339726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30781C-34E1-55AD-39D3-78BA64C76F73}"/>
              </a:ext>
            </a:extLst>
          </p:cNvPr>
          <p:cNvSpPr txBox="1"/>
          <p:nvPr/>
        </p:nvSpPr>
        <p:spPr>
          <a:xfrm>
            <a:off x="7075107" y="18543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{T}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FBF6CF-8DE4-964B-6960-9BC8DF1C9F73}"/>
              </a:ext>
            </a:extLst>
          </p:cNvPr>
          <p:cNvSpPr txBox="1"/>
          <p:nvPr/>
        </p:nvSpPr>
        <p:spPr>
          <a:xfrm>
            <a:off x="5884855" y="467793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{B}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FAD909-20CB-B2E1-22AE-2D4D344C16E0}"/>
              </a:ext>
            </a:extLst>
          </p:cNvPr>
          <p:cNvSpPr txBox="1"/>
          <p:nvPr/>
        </p:nvSpPr>
        <p:spPr>
          <a:xfrm>
            <a:off x="6206683" y="3640936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{S}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80EAA0-5640-1737-D345-E3A305DEAD25}"/>
              </a:ext>
            </a:extLst>
          </p:cNvPr>
          <p:cNvSpPr txBox="1"/>
          <p:nvPr/>
        </p:nvSpPr>
        <p:spPr>
          <a:xfrm>
            <a:off x="7616599" y="38350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{G}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1F0A60-4D66-3CD8-1CA6-A392A9686BD0}"/>
              </a:ext>
            </a:extLst>
          </p:cNvPr>
          <p:cNvSpPr txBox="1"/>
          <p:nvPr/>
        </p:nvSpPr>
        <p:spPr>
          <a:xfrm>
            <a:off x="6862402" y="274537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{W}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784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正五边形 181">
            <a:extLst>
              <a:ext uri="{FF2B5EF4-FFF2-40B4-BE49-F238E27FC236}">
                <a16:creationId xmlns:a16="http://schemas.microsoft.com/office/drawing/2014/main" id="{DBD5821B-666C-359C-356B-DF2FEF9A688D}"/>
              </a:ext>
            </a:extLst>
          </p:cNvPr>
          <p:cNvSpPr/>
          <p:nvPr/>
        </p:nvSpPr>
        <p:spPr>
          <a:xfrm>
            <a:off x="5171364" y="3854190"/>
            <a:ext cx="410382" cy="39084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00" dirty="0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558973F9-6441-29E7-8D41-7C570A0754D7}"/>
              </a:ext>
            </a:extLst>
          </p:cNvPr>
          <p:cNvSpPr txBox="1"/>
          <p:nvPr/>
        </p:nvSpPr>
        <p:spPr>
          <a:xfrm>
            <a:off x="5107157" y="3914181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800" dirty="0">
                <a:solidFill>
                  <a:schemeClr val="bg1"/>
                </a:solidFill>
              </a:rPr>
              <a:t>Obstacle</a:t>
            </a:r>
            <a:endParaRPr kumimoji="1"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96" name="立方体 95">
            <a:extLst>
              <a:ext uri="{FF2B5EF4-FFF2-40B4-BE49-F238E27FC236}">
                <a16:creationId xmlns:a16="http://schemas.microsoft.com/office/drawing/2014/main" id="{90B38E27-C18D-2C71-5088-DACEABD99C4D}"/>
              </a:ext>
            </a:extLst>
          </p:cNvPr>
          <p:cNvSpPr/>
          <p:nvPr/>
        </p:nvSpPr>
        <p:spPr>
          <a:xfrm>
            <a:off x="7837094" y="2810172"/>
            <a:ext cx="280961" cy="29891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D3EFCB2F-B0A6-3EB5-B865-0853A265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Solvability</a:t>
            </a:r>
            <a:endParaRPr lang="zh-CN" altLang="en-US" dirty="0"/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BE7ECEE0-0F88-73E7-DED2-97591626AE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465729"/>
            <a:ext cx="3565330" cy="2841951"/>
          </a:xfrm>
        </p:spPr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Existence of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The solution may not exist, because the arm may not be able to reach the target.</a:t>
            </a:r>
          </a:p>
          <a:p>
            <a:r>
              <a:rPr lang="en-GB" altLang="zh-CN" dirty="0">
                <a:solidFill>
                  <a:srgbClr val="003399"/>
                </a:solidFill>
              </a:rPr>
              <a:t>Multiple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It can be multiple solutions, because the arm can reach the target with different poses.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If there is no obstacle, we choose the </a:t>
            </a:r>
            <a:r>
              <a:rPr lang="en-GB" altLang="zh-CN" dirty="0">
                <a:solidFill>
                  <a:srgbClr val="003399"/>
                </a:solidFill>
              </a:rPr>
              <a:t>closest solution </a:t>
            </a:r>
            <a:r>
              <a:rPr lang="en-GB" altLang="zh-CN" dirty="0"/>
              <a:t>to the current pose.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6AEA1C8-489B-89A1-645A-1C0774B9CF87}"/>
              </a:ext>
            </a:extLst>
          </p:cNvPr>
          <p:cNvGrpSpPr/>
          <p:nvPr/>
        </p:nvGrpSpPr>
        <p:grpSpPr>
          <a:xfrm>
            <a:off x="5082840" y="1657068"/>
            <a:ext cx="311518" cy="424729"/>
            <a:chOff x="3097129" y="3967281"/>
            <a:chExt cx="506285" cy="690277"/>
          </a:xfrm>
        </p:grpSpPr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0B8C742A-C863-0F6B-7E1C-A0C1F0ADDC9E}"/>
                </a:ext>
              </a:extLst>
            </p:cNvPr>
            <p:cNvSpPr/>
            <p:nvPr/>
          </p:nvSpPr>
          <p:spPr>
            <a:xfrm>
              <a:off x="3142826" y="3967281"/>
              <a:ext cx="460588" cy="616373"/>
            </a:xfrm>
            <a:custGeom>
              <a:avLst/>
              <a:gdLst>
                <a:gd name="connsiteX0" fmla="*/ 230294 w 460588"/>
                <a:gd name="connsiteY0" fmla="*/ 0 h 616373"/>
                <a:gd name="connsiteX1" fmla="*/ 460588 w 460588"/>
                <a:gd name="connsiteY1" fmla="*/ 230294 h 616373"/>
                <a:gd name="connsiteX2" fmla="*/ 460586 w 460588"/>
                <a:gd name="connsiteY2" fmla="*/ 230314 h 616373"/>
                <a:gd name="connsiteX3" fmla="*/ 460586 w 460588"/>
                <a:gd name="connsiteY3" fmla="*/ 616373 h 616373"/>
                <a:gd name="connsiteX4" fmla="*/ 0 w 460588"/>
                <a:gd name="connsiteY4" fmla="*/ 616373 h 616373"/>
                <a:gd name="connsiteX5" fmla="*/ 0 w 460588"/>
                <a:gd name="connsiteY5" fmla="*/ 230294 h 616373"/>
                <a:gd name="connsiteX6" fmla="*/ 0 w 460588"/>
                <a:gd name="connsiteY6" fmla="*/ 230293 h 616373"/>
                <a:gd name="connsiteX7" fmla="*/ 0 w 460588"/>
                <a:gd name="connsiteY7" fmla="*/ 230293 h 616373"/>
                <a:gd name="connsiteX8" fmla="*/ 4679 w 460588"/>
                <a:gd name="connsiteY8" fmla="*/ 183882 h 616373"/>
                <a:gd name="connsiteX9" fmla="*/ 230294 w 460588"/>
                <a:gd name="connsiteY9" fmla="*/ 0 h 61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588" h="616373">
                  <a:moveTo>
                    <a:pt x="230294" y="0"/>
                  </a:moveTo>
                  <a:cubicBezTo>
                    <a:pt x="357482" y="0"/>
                    <a:pt x="460588" y="103106"/>
                    <a:pt x="460588" y="230294"/>
                  </a:cubicBezTo>
                  <a:lnTo>
                    <a:pt x="460586" y="230314"/>
                  </a:lnTo>
                  <a:lnTo>
                    <a:pt x="460586" y="616373"/>
                  </a:lnTo>
                  <a:lnTo>
                    <a:pt x="0" y="616373"/>
                  </a:lnTo>
                  <a:lnTo>
                    <a:pt x="0" y="230294"/>
                  </a:lnTo>
                  <a:lnTo>
                    <a:pt x="0" y="230293"/>
                  </a:lnTo>
                  <a:lnTo>
                    <a:pt x="0" y="230293"/>
                  </a:lnTo>
                  <a:lnTo>
                    <a:pt x="4679" y="183882"/>
                  </a:lnTo>
                  <a:cubicBezTo>
                    <a:pt x="26153" y="78941"/>
                    <a:pt x="119005" y="0"/>
                    <a:pt x="230294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B6589EB4-8778-6619-4517-198AC2205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7129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0C49C571-0A23-13DA-538D-71EBEFB1EC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17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56B49DFB-A463-5267-1310-71BF14AC3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931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19C97B9B-AC1B-BA80-6A06-90C64489F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944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138F7CE0-AF94-76F4-54E2-A373C0A79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584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BF3C13D0-27A2-904D-095F-C113EBA8E6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9720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714B5BF7-95DB-5DA1-C2FE-EC33C03A6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85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B656C377-2B77-BBEB-10AF-E416E5920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99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D56B429C-355E-85FE-12A3-454F35A8A6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012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AEA79B5-ACC1-8434-FCB1-AE1A1A594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0261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CB0E86-9729-F7D9-2F19-D2AEB392A33C}"/>
              </a:ext>
            </a:extLst>
          </p:cNvPr>
          <p:cNvGrpSpPr/>
          <p:nvPr/>
        </p:nvGrpSpPr>
        <p:grpSpPr>
          <a:xfrm rot="1465311">
            <a:off x="5209164" y="1614332"/>
            <a:ext cx="775182" cy="340677"/>
            <a:chOff x="3234600" y="3615138"/>
            <a:chExt cx="1259840" cy="553674"/>
          </a:xfrm>
        </p:grpSpPr>
        <p:sp>
          <p:nvSpPr>
            <p:cNvPr id="3" name="圆角矩形 2">
              <a:extLst>
                <a:ext uri="{FF2B5EF4-FFF2-40B4-BE49-F238E27FC236}">
                  <a16:creationId xmlns:a16="http://schemas.microsoft.com/office/drawing/2014/main" id="{C03A1716-4ABA-4995-4577-1604CB861F78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CD2F4D1-B129-E4BE-D5E6-1045B7099CDB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BF6A269-5F6C-9F2F-34DB-6B67D0F02DBA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DE524E-94C8-E774-EB8D-4F3415B5A3EA}"/>
              </a:ext>
            </a:extLst>
          </p:cNvPr>
          <p:cNvGrpSpPr/>
          <p:nvPr/>
        </p:nvGrpSpPr>
        <p:grpSpPr>
          <a:xfrm rot="21591852">
            <a:off x="6541160" y="1629360"/>
            <a:ext cx="450733" cy="310275"/>
            <a:chOff x="2078991" y="2260878"/>
            <a:chExt cx="732539" cy="504265"/>
          </a:xfrm>
        </p:grpSpPr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83AD9AAC-0BAE-1E0A-CD67-52EC428CD271}"/>
                </a:ext>
              </a:extLst>
            </p:cNvPr>
            <p:cNvSpPr/>
            <p:nvPr/>
          </p:nvSpPr>
          <p:spPr>
            <a:xfrm>
              <a:off x="2078991" y="2411705"/>
              <a:ext cx="553157" cy="203200"/>
            </a:xfrm>
            <a:custGeom>
              <a:avLst/>
              <a:gdLst>
                <a:gd name="connsiteX0" fmla="*/ 101600 w 553157"/>
                <a:gd name="connsiteY0" fmla="*/ 0 h 203200"/>
                <a:gd name="connsiteX1" fmla="*/ 553157 w 553157"/>
                <a:gd name="connsiteY1" fmla="*/ 0 h 203200"/>
                <a:gd name="connsiteX2" fmla="*/ 553157 w 553157"/>
                <a:gd name="connsiteY2" fmla="*/ 203200 h 203200"/>
                <a:gd name="connsiteX3" fmla="*/ 101600 w 553157"/>
                <a:gd name="connsiteY3" fmla="*/ 203200 h 203200"/>
                <a:gd name="connsiteX4" fmla="*/ 0 w 553157"/>
                <a:gd name="connsiteY4" fmla="*/ 101600 h 203200"/>
                <a:gd name="connsiteX5" fmla="*/ 101600 w 553157"/>
                <a:gd name="connsiteY5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157" h="203200">
                  <a:moveTo>
                    <a:pt x="101600" y="0"/>
                  </a:moveTo>
                  <a:lnTo>
                    <a:pt x="553157" y="0"/>
                  </a:lnTo>
                  <a:lnTo>
                    <a:pt x="553157" y="203200"/>
                  </a:ln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5F743A13-5926-6F8B-410E-BC5B3411BBE8}"/>
                </a:ext>
              </a:extLst>
            </p:cNvPr>
            <p:cNvSpPr/>
            <p:nvPr/>
          </p:nvSpPr>
          <p:spPr>
            <a:xfrm>
              <a:off x="2116243" y="2462505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F8FEC20-63A2-420B-9666-4BEBA714174E}"/>
                </a:ext>
              </a:extLst>
            </p:cNvPr>
            <p:cNvSpPr/>
            <p:nvPr/>
          </p:nvSpPr>
          <p:spPr>
            <a:xfrm>
              <a:off x="2600723" y="2260878"/>
              <a:ext cx="45719" cy="5042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5FD2FCF4-2BF3-2929-B503-A5E10F3CC695}"/>
                </a:ext>
              </a:extLst>
            </p:cNvPr>
            <p:cNvSpPr/>
            <p:nvPr/>
          </p:nvSpPr>
          <p:spPr>
            <a:xfrm rot="5400000">
              <a:off x="2666974" y="2246827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三角形 14">
              <a:extLst>
                <a:ext uri="{FF2B5EF4-FFF2-40B4-BE49-F238E27FC236}">
                  <a16:creationId xmlns:a16="http://schemas.microsoft.com/office/drawing/2014/main" id="{A9BD61E3-E636-086C-FF3B-89380C321544}"/>
                </a:ext>
              </a:extLst>
            </p:cNvPr>
            <p:cNvSpPr/>
            <p:nvPr/>
          </p:nvSpPr>
          <p:spPr>
            <a:xfrm rot="5400000">
              <a:off x="2666974" y="2598583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373014F-E004-FB43-1DB8-F964C961DC58}"/>
              </a:ext>
            </a:extLst>
          </p:cNvPr>
          <p:cNvGrpSpPr/>
          <p:nvPr/>
        </p:nvGrpSpPr>
        <p:grpSpPr>
          <a:xfrm rot="1465311">
            <a:off x="5874551" y="1614187"/>
            <a:ext cx="775182" cy="340677"/>
            <a:chOff x="3234600" y="3615138"/>
            <a:chExt cx="1259840" cy="553674"/>
          </a:xfrm>
        </p:grpSpPr>
        <p:sp>
          <p:nvSpPr>
            <p:cNvPr id="52" name="圆角矩形 51">
              <a:extLst>
                <a:ext uri="{FF2B5EF4-FFF2-40B4-BE49-F238E27FC236}">
                  <a16:creationId xmlns:a16="http://schemas.microsoft.com/office/drawing/2014/main" id="{F54F690D-024C-1341-0460-DA2D6BEF84C4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99B9E9D6-FD98-23E7-78DD-F5E487A28768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C55EF71-A1FE-F210-C78E-9B4346B6B62E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立方体 54">
            <a:extLst>
              <a:ext uri="{FF2B5EF4-FFF2-40B4-BE49-F238E27FC236}">
                <a16:creationId xmlns:a16="http://schemas.microsoft.com/office/drawing/2014/main" id="{827FC6FE-0BA5-D2FE-C31A-81571CC5D2B1}"/>
              </a:ext>
            </a:extLst>
          </p:cNvPr>
          <p:cNvSpPr/>
          <p:nvPr/>
        </p:nvSpPr>
        <p:spPr>
          <a:xfrm>
            <a:off x="7840239" y="1615531"/>
            <a:ext cx="280961" cy="29891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9F79972-50A0-366C-7F0E-95393A3BFBA9}"/>
              </a:ext>
            </a:extLst>
          </p:cNvPr>
          <p:cNvGrpSpPr/>
          <p:nvPr/>
        </p:nvGrpSpPr>
        <p:grpSpPr>
          <a:xfrm>
            <a:off x="7807217" y="1916671"/>
            <a:ext cx="310838" cy="45473"/>
            <a:chOff x="6265959" y="2608428"/>
            <a:chExt cx="310838" cy="45473"/>
          </a:xfrm>
        </p:grpSpPr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EBAE8312-BBAC-D98A-306D-0CC1BF9DC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5959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3197434E-5144-DCA9-1532-5292DA43F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7984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连接符 59">
              <a:extLst>
                <a:ext uri="{FF2B5EF4-FFF2-40B4-BE49-F238E27FC236}">
                  <a16:creationId xmlns:a16="http://schemas.microsoft.com/office/drawing/2014/main" id="{08390B22-95F3-A94F-B671-18184E1EB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8832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45E88D68-7A0F-80B3-BDFE-10400F339A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9681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线连接符 61">
              <a:extLst>
                <a:ext uri="{FF2B5EF4-FFF2-40B4-BE49-F238E27FC236}">
                  <a16:creationId xmlns:a16="http://schemas.microsoft.com/office/drawing/2014/main" id="{F9148DFF-52B2-84E1-A082-3C6920567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0530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F4A1F37E-E718-4D02-9738-9A920A2034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1379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0ADBCDD0-49A0-C67E-6FE9-CAB171E86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2227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>
              <a:extLst>
                <a:ext uri="{FF2B5EF4-FFF2-40B4-BE49-F238E27FC236}">
                  <a16:creationId xmlns:a16="http://schemas.microsoft.com/office/drawing/2014/main" id="{11AF40F7-2F7F-46C8-299C-54F12895F0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3076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FC7E6F5F-A375-2EB8-E913-C2E7E21138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3925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F03A262C-D9E2-87BB-0978-7588B00B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772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256F7B0-2D66-529B-F106-EFEE0D49FDA2}"/>
              </a:ext>
            </a:extLst>
          </p:cNvPr>
          <p:cNvGrpSpPr/>
          <p:nvPr/>
        </p:nvGrpSpPr>
        <p:grpSpPr>
          <a:xfrm>
            <a:off x="6310228" y="2851709"/>
            <a:ext cx="311518" cy="424729"/>
            <a:chOff x="3097129" y="3967281"/>
            <a:chExt cx="506285" cy="690277"/>
          </a:xfrm>
        </p:grpSpPr>
        <p:sp>
          <p:nvSpPr>
            <p:cNvPr id="71" name="任意形状 70">
              <a:extLst>
                <a:ext uri="{FF2B5EF4-FFF2-40B4-BE49-F238E27FC236}">
                  <a16:creationId xmlns:a16="http://schemas.microsoft.com/office/drawing/2014/main" id="{8CAE2B61-456B-D7DA-554F-9F9833632230}"/>
                </a:ext>
              </a:extLst>
            </p:cNvPr>
            <p:cNvSpPr/>
            <p:nvPr/>
          </p:nvSpPr>
          <p:spPr>
            <a:xfrm>
              <a:off x="3142826" y="3967281"/>
              <a:ext cx="460588" cy="616373"/>
            </a:xfrm>
            <a:custGeom>
              <a:avLst/>
              <a:gdLst>
                <a:gd name="connsiteX0" fmla="*/ 230294 w 460588"/>
                <a:gd name="connsiteY0" fmla="*/ 0 h 616373"/>
                <a:gd name="connsiteX1" fmla="*/ 460588 w 460588"/>
                <a:gd name="connsiteY1" fmla="*/ 230294 h 616373"/>
                <a:gd name="connsiteX2" fmla="*/ 460586 w 460588"/>
                <a:gd name="connsiteY2" fmla="*/ 230314 h 616373"/>
                <a:gd name="connsiteX3" fmla="*/ 460586 w 460588"/>
                <a:gd name="connsiteY3" fmla="*/ 616373 h 616373"/>
                <a:gd name="connsiteX4" fmla="*/ 0 w 460588"/>
                <a:gd name="connsiteY4" fmla="*/ 616373 h 616373"/>
                <a:gd name="connsiteX5" fmla="*/ 0 w 460588"/>
                <a:gd name="connsiteY5" fmla="*/ 230294 h 616373"/>
                <a:gd name="connsiteX6" fmla="*/ 0 w 460588"/>
                <a:gd name="connsiteY6" fmla="*/ 230293 h 616373"/>
                <a:gd name="connsiteX7" fmla="*/ 0 w 460588"/>
                <a:gd name="connsiteY7" fmla="*/ 230293 h 616373"/>
                <a:gd name="connsiteX8" fmla="*/ 4679 w 460588"/>
                <a:gd name="connsiteY8" fmla="*/ 183882 h 616373"/>
                <a:gd name="connsiteX9" fmla="*/ 230294 w 460588"/>
                <a:gd name="connsiteY9" fmla="*/ 0 h 61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588" h="616373">
                  <a:moveTo>
                    <a:pt x="230294" y="0"/>
                  </a:moveTo>
                  <a:cubicBezTo>
                    <a:pt x="357482" y="0"/>
                    <a:pt x="460588" y="103106"/>
                    <a:pt x="460588" y="230294"/>
                  </a:cubicBezTo>
                  <a:lnTo>
                    <a:pt x="460586" y="230314"/>
                  </a:lnTo>
                  <a:lnTo>
                    <a:pt x="460586" y="616373"/>
                  </a:lnTo>
                  <a:lnTo>
                    <a:pt x="0" y="616373"/>
                  </a:lnTo>
                  <a:lnTo>
                    <a:pt x="0" y="230294"/>
                  </a:lnTo>
                  <a:lnTo>
                    <a:pt x="0" y="230293"/>
                  </a:lnTo>
                  <a:lnTo>
                    <a:pt x="0" y="230293"/>
                  </a:lnTo>
                  <a:lnTo>
                    <a:pt x="4679" y="183882"/>
                  </a:lnTo>
                  <a:cubicBezTo>
                    <a:pt x="26153" y="78941"/>
                    <a:pt x="119005" y="0"/>
                    <a:pt x="230294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46F26018-1B14-6115-A402-8F52F3D3B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7129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3DFAECE9-88D9-F7DB-BF61-EFB9A8A86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17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C18EAADC-2926-62E6-EEFD-814EC10A1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931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B4138DE8-6EF5-6AF0-9188-69E4E161F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944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8A365C85-EB87-80AC-0912-33BA3EB99D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584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22AF2AD0-4DF6-93A0-A3E8-6B4C0D38C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9720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715CA81A-8B25-53C1-F2BB-C9421D7F8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85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A526C353-FD1D-169F-A28C-0D66D09A57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99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8A1F4FA6-133E-1D18-414D-5684B82C10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012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E0A5E778-8D18-D170-F607-B9C4D99E0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0261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912A586-F602-D72B-D78A-924FC45C8DC7}"/>
              </a:ext>
            </a:extLst>
          </p:cNvPr>
          <p:cNvGrpSpPr/>
          <p:nvPr/>
        </p:nvGrpSpPr>
        <p:grpSpPr>
          <a:xfrm rot="20661086">
            <a:off x="6349414" y="2595690"/>
            <a:ext cx="775182" cy="340677"/>
            <a:chOff x="3234600" y="3615138"/>
            <a:chExt cx="1259840" cy="553674"/>
          </a:xfrm>
        </p:grpSpPr>
        <p:sp>
          <p:nvSpPr>
            <p:cNvPr id="83" name="圆角矩形 82">
              <a:extLst>
                <a:ext uri="{FF2B5EF4-FFF2-40B4-BE49-F238E27FC236}">
                  <a16:creationId xmlns:a16="http://schemas.microsoft.com/office/drawing/2014/main" id="{1A32BDB0-95F1-BA15-B8F1-58D9E4AA81F1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7B615CFB-3535-0CE8-09A7-DE843F0C7759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E5745644-5037-4048-6992-3F42EC51EBCE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D5E7DD3A-F44D-97FD-41DF-5441D0574153}"/>
              </a:ext>
            </a:extLst>
          </p:cNvPr>
          <p:cNvGrpSpPr/>
          <p:nvPr/>
        </p:nvGrpSpPr>
        <p:grpSpPr>
          <a:xfrm rot="21591852">
            <a:off x="7449861" y="2824001"/>
            <a:ext cx="450733" cy="310275"/>
            <a:chOff x="2078991" y="2260878"/>
            <a:chExt cx="732539" cy="504265"/>
          </a:xfrm>
        </p:grpSpPr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45F8F65D-52FC-ECB8-BCF4-E121837079F2}"/>
                </a:ext>
              </a:extLst>
            </p:cNvPr>
            <p:cNvSpPr/>
            <p:nvPr/>
          </p:nvSpPr>
          <p:spPr>
            <a:xfrm>
              <a:off x="2078991" y="2411705"/>
              <a:ext cx="553157" cy="203200"/>
            </a:xfrm>
            <a:custGeom>
              <a:avLst/>
              <a:gdLst>
                <a:gd name="connsiteX0" fmla="*/ 101600 w 553157"/>
                <a:gd name="connsiteY0" fmla="*/ 0 h 203200"/>
                <a:gd name="connsiteX1" fmla="*/ 553157 w 553157"/>
                <a:gd name="connsiteY1" fmla="*/ 0 h 203200"/>
                <a:gd name="connsiteX2" fmla="*/ 553157 w 553157"/>
                <a:gd name="connsiteY2" fmla="*/ 203200 h 203200"/>
                <a:gd name="connsiteX3" fmla="*/ 101600 w 553157"/>
                <a:gd name="connsiteY3" fmla="*/ 203200 h 203200"/>
                <a:gd name="connsiteX4" fmla="*/ 0 w 553157"/>
                <a:gd name="connsiteY4" fmla="*/ 101600 h 203200"/>
                <a:gd name="connsiteX5" fmla="*/ 101600 w 553157"/>
                <a:gd name="connsiteY5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157" h="203200">
                  <a:moveTo>
                    <a:pt x="101600" y="0"/>
                  </a:moveTo>
                  <a:lnTo>
                    <a:pt x="553157" y="0"/>
                  </a:lnTo>
                  <a:lnTo>
                    <a:pt x="553157" y="203200"/>
                  </a:ln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8344C31D-9454-2C2B-6D95-9A3C306F812C}"/>
                </a:ext>
              </a:extLst>
            </p:cNvPr>
            <p:cNvSpPr/>
            <p:nvPr/>
          </p:nvSpPr>
          <p:spPr>
            <a:xfrm>
              <a:off x="2116243" y="2462505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D19D7DB-B419-F31E-173F-463FBB021623}"/>
                </a:ext>
              </a:extLst>
            </p:cNvPr>
            <p:cNvSpPr/>
            <p:nvPr/>
          </p:nvSpPr>
          <p:spPr>
            <a:xfrm>
              <a:off x="2600723" y="2260878"/>
              <a:ext cx="45719" cy="5042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三角形 89">
              <a:extLst>
                <a:ext uri="{FF2B5EF4-FFF2-40B4-BE49-F238E27FC236}">
                  <a16:creationId xmlns:a16="http://schemas.microsoft.com/office/drawing/2014/main" id="{17BE96DD-9B1A-1890-4A1F-BE92B1E04118}"/>
                </a:ext>
              </a:extLst>
            </p:cNvPr>
            <p:cNvSpPr/>
            <p:nvPr/>
          </p:nvSpPr>
          <p:spPr>
            <a:xfrm rot="5400000">
              <a:off x="2666974" y="2246827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三角形 90">
              <a:extLst>
                <a:ext uri="{FF2B5EF4-FFF2-40B4-BE49-F238E27FC236}">
                  <a16:creationId xmlns:a16="http://schemas.microsoft.com/office/drawing/2014/main" id="{932BBF44-A58D-223C-DAAA-79ECF93BBBA6}"/>
                </a:ext>
              </a:extLst>
            </p:cNvPr>
            <p:cNvSpPr/>
            <p:nvPr/>
          </p:nvSpPr>
          <p:spPr>
            <a:xfrm rot="5400000">
              <a:off x="2666974" y="2598583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AEFF53B2-9209-4F91-4307-B7CB7F7C19B9}"/>
              </a:ext>
            </a:extLst>
          </p:cNvPr>
          <p:cNvGrpSpPr/>
          <p:nvPr/>
        </p:nvGrpSpPr>
        <p:grpSpPr>
          <a:xfrm>
            <a:off x="7804072" y="3111312"/>
            <a:ext cx="310838" cy="45473"/>
            <a:chOff x="6265959" y="2608428"/>
            <a:chExt cx="310838" cy="45473"/>
          </a:xfrm>
        </p:grpSpPr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D8444578-B010-FDAB-1D50-1A6026D00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5959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6804511C-2593-3BED-6D60-BEBF9E5B2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7984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BF7E7009-65F4-549E-4524-D234DCF973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8832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AC515FC7-D9B9-8B89-AC92-CD72858A85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9681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265FF2E1-5CCF-CBE9-F1F6-15A7A26E0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0530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3A116B3F-E57A-63EB-6B25-5EC57908F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1379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A276017A-6CDD-66C6-BBFE-3BEB8CE999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2227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D53A8251-05A7-D758-1988-6656FA33B1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3076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2EA49E5A-3888-362C-426E-3D8C7CE3F9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3925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78A760CF-E6D7-B9F0-A26D-EF5CB1BA1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4772" y="2608428"/>
              <a:ext cx="32025" cy="454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07F684E6-F8D5-AA58-669F-1FD14FDAD4EF}"/>
              </a:ext>
            </a:extLst>
          </p:cNvPr>
          <p:cNvGrpSpPr/>
          <p:nvPr/>
        </p:nvGrpSpPr>
        <p:grpSpPr>
          <a:xfrm rot="938914" flipH="1">
            <a:off x="6859117" y="2595690"/>
            <a:ext cx="775182" cy="340677"/>
            <a:chOff x="3234600" y="3615138"/>
            <a:chExt cx="1259840" cy="553674"/>
          </a:xfrm>
        </p:grpSpPr>
        <p:sp>
          <p:nvSpPr>
            <p:cNvPr id="109" name="圆角矩形 108">
              <a:extLst>
                <a:ext uri="{FF2B5EF4-FFF2-40B4-BE49-F238E27FC236}">
                  <a16:creationId xmlns:a16="http://schemas.microsoft.com/office/drawing/2014/main" id="{34EA648E-EA98-13D8-8D21-C3AC169C7AD1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403FC29B-9970-2182-3490-D7588B6EEE0E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A4EDA177-441F-F35E-F9BE-D3977FF9DBED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444F965-C808-2B69-ABED-5F7BA1CB60A2}"/>
              </a:ext>
            </a:extLst>
          </p:cNvPr>
          <p:cNvGrpSpPr/>
          <p:nvPr/>
        </p:nvGrpSpPr>
        <p:grpSpPr>
          <a:xfrm rot="938914" flipV="1">
            <a:off x="6349414" y="3029497"/>
            <a:ext cx="775182" cy="340677"/>
            <a:chOff x="3234600" y="3615138"/>
            <a:chExt cx="1259840" cy="553674"/>
          </a:xfrm>
        </p:grpSpPr>
        <p:sp>
          <p:nvSpPr>
            <p:cNvPr id="113" name="圆角矩形 112">
              <a:extLst>
                <a:ext uri="{FF2B5EF4-FFF2-40B4-BE49-F238E27FC236}">
                  <a16:creationId xmlns:a16="http://schemas.microsoft.com/office/drawing/2014/main" id="{0A8B91F4-3809-F1BB-0B46-CD4E7BB8B3B1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4A7E01A-9009-1B04-690F-E2E518B5D6B5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90E52585-5670-6C5F-2DF2-9A542967F72B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A50644D8-EE6C-4447-8EA6-CBD82677C571}"/>
              </a:ext>
            </a:extLst>
          </p:cNvPr>
          <p:cNvGrpSpPr/>
          <p:nvPr/>
        </p:nvGrpSpPr>
        <p:grpSpPr>
          <a:xfrm rot="20661086" flipH="1" flipV="1">
            <a:off x="6844594" y="3031495"/>
            <a:ext cx="775182" cy="232989"/>
            <a:chOff x="3234600" y="3790154"/>
            <a:chExt cx="1259840" cy="378658"/>
          </a:xfrm>
        </p:grpSpPr>
        <p:sp>
          <p:nvSpPr>
            <p:cNvPr id="117" name="圆角矩形 116">
              <a:extLst>
                <a:ext uri="{FF2B5EF4-FFF2-40B4-BE49-F238E27FC236}">
                  <a16:creationId xmlns:a16="http://schemas.microsoft.com/office/drawing/2014/main" id="{5ED4BE9A-625D-D5A2-B0EB-D80B279AD6A9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BD91625B-93F4-25ED-1D15-C9D7D764E097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66EA8AAF-74B3-5C3C-24CB-92A68C4CC3B9}"/>
              </a:ext>
            </a:extLst>
          </p:cNvPr>
          <p:cNvGrpSpPr/>
          <p:nvPr/>
        </p:nvGrpSpPr>
        <p:grpSpPr>
          <a:xfrm>
            <a:off x="4599302" y="4064579"/>
            <a:ext cx="311518" cy="424729"/>
            <a:chOff x="3097129" y="3967281"/>
            <a:chExt cx="506285" cy="690277"/>
          </a:xfrm>
        </p:grpSpPr>
        <p:sp>
          <p:nvSpPr>
            <p:cNvPr id="122" name="任意形状 121">
              <a:extLst>
                <a:ext uri="{FF2B5EF4-FFF2-40B4-BE49-F238E27FC236}">
                  <a16:creationId xmlns:a16="http://schemas.microsoft.com/office/drawing/2014/main" id="{71B78DA7-0189-D5BE-E6DB-96FD857E2B98}"/>
                </a:ext>
              </a:extLst>
            </p:cNvPr>
            <p:cNvSpPr/>
            <p:nvPr/>
          </p:nvSpPr>
          <p:spPr>
            <a:xfrm>
              <a:off x="3142826" y="3967281"/>
              <a:ext cx="460588" cy="616373"/>
            </a:xfrm>
            <a:custGeom>
              <a:avLst/>
              <a:gdLst>
                <a:gd name="connsiteX0" fmla="*/ 230294 w 460588"/>
                <a:gd name="connsiteY0" fmla="*/ 0 h 616373"/>
                <a:gd name="connsiteX1" fmla="*/ 460588 w 460588"/>
                <a:gd name="connsiteY1" fmla="*/ 230294 h 616373"/>
                <a:gd name="connsiteX2" fmla="*/ 460586 w 460588"/>
                <a:gd name="connsiteY2" fmla="*/ 230314 h 616373"/>
                <a:gd name="connsiteX3" fmla="*/ 460586 w 460588"/>
                <a:gd name="connsiteY3" fmla="*/ 616373 h 616373"/>
                <a:gd name="connsiteX4" fmla="*/ 0 w 460588"/>
                <a:gd name="connsiteY4" fmla="*/ 616373 h 616373"/>
                <a:gd name="connsiteX5" fmla="*/ 0 w 460588"/>
                <a:gd name="connsiteY5" fmla="*/ 230294 h 616373"/>
                <a:gd name="connsiteX6" fmla="*/ 0 w 460588"/>
                <a:gd name="connsiteY6" fmla="*/ 230293 h 616373"/>
                <a:gd name="connsiteX7" fmla="*/ 0 w 460588"/>
                <a:gd name="connsiteY7" fmla="*/ 230293 h 616373"/>
                <a:gd name="connsiteX8" fmla="*/ 4679 w 460588"/>
                <a:gd name="connsiteY8" fmla="*/ 183882 h 616373"/>
                <a:gd name="connsiteX9" fmla="*/ 230294 w 460588"/>
                <a:gd name="connsiteY9" fmla="*/ 0 h 61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588" h="616373">
                  <a:moveTo>
                    <a:pt x="230294" y="0"/>
                  </a:moveTo>
                  <a:cubicBezTo>
                    <a:pt x="357482" y="0"/>
                    <a:pt x="460588" y="103106"/>
                    <a:pt x="460588" y="230294"/>
                  </a:cubicBezTo>
                  <a:lnTo>
                    <a:pt x="460586" y="230314"/>
                  </a:lnTo>
                  <a:lnTo>
                    <a:pt x="460586" y="616373"/>
                  </a:lnTo>
                  <a:lnTo>
                    <a:pt x="0" y="616373"/>
                  </a:lnTo>
                  <a:lnTo>
                    <a:pt x="0" y="230294"/>
                  </a:lnTo>
                  <a:lnTo>
                    <a:pt x="0" y="230293"/>
                  </a:lnTo>
                  <a:lnTo>
                    <a:pt x="0" y="230293"/>
                  </a:lnTo>
                  <a:lnTo>
                    <a:pt x="4679" y="183882"/>
                  </a:lnTo>
                  <a:cubicBezTo>
                    <a:pt x="26153" y="78941"/>
                    <a:pt x="119005" y="0"/>
                    <a:pt x="230294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63A3DEA4-FFF0-CCE2-5FDD-CBE647E277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7129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345EA19C-882D-E9C6-1754-F2601990FE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17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线连接符 124">
              <a:extLst>
                <a:ext uri="{FF2B5EF4-FFF2-40B4-BE49-F238E27FC236}">
                  <a16:creationId xmlns:a16="http://schemas.microsoft.com/office/drawing/2014/main" id="{F6338088-FA08-3ABB-0917-9FDC478C3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931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线连接符 125">
              <a:extLst>
                <a:ext uri="{FF2B5EF4-FFF2-40B4-BE49-F238E27FC236}">
                  <a16:creationId xmlns:a16="http://schemas.microsoft.com/office/drawing/2014/main" id="{7BC4215B-1C95-23C1-E7AD-9F11372E6C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944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线连接符 126">
              <a:extLst>
                <a:ext uri="{FF2B5EF4-FFF2-40B4-BE49-F238E27FC236}">
                  <a16:creationId xmlns:a16="http://schemas.microsoft.com/office/drawing/2014/main" id="{98A80505-94DF-D163-5BE4-83390E416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584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线连接符 127">
              <a:extLst>
                <a:ext uri="{FF2B5EF4-FFF2-40B4-BE49-F238E27FC236}">
                  <a16:creationId xmlns:a16="http://schemas.microsoft.com/office/drawing/2014/main" id="{ACFD527D-A9A9-BA99-A610-ADE5BC0A7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9720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6DE65C9F-9C2C-2E46-ABE4-68E694BA8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85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B22F855F-7076-0EBA-E846-C1527686E3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99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B193414B-2EA3-BB91-6871-D3F57198BB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012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线连接符 131">
              <a:extLst>
                <a:ext uri="{FF2B5EF4-FFF2-40B4-BE49-F238E27FC236}">
                  <a16:creationId xmlns:a16="http://schemas.microsoft.com/office/drawing/2014/main" id="{E6DAC4DA-A9D2-A962-1318-1220AE435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0261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C9B4308B-3339-5859-36E1-071D4D98A100}"/>
              </a:ext>
            </a:extLst>
          </p:cNvPr>
          <p:cNvGrpSpPr/>
          <p:nvPr/>
        </p:nvGrpSpPr>
        <p:grpSpPr>
          <a:xfrm rot="20661086">
            <a:off x="4638488" y="3808560"/>
            <a:ext cx="775182" cy="340677"/>
            <a:chOff x="3234600" y="3615138"/>
            <a:chExt cx="1259840" cy="553674"/>
          </a:xfrm>
        </p:grpSpPr>
        <p:sp>
          <p:nvSpPr>
            <p:cNvPr id="134" name="圆角矩形 133">
              <a:extLst>
                <a:ext uri="{FF2B5EF4-FFF2-40B4-BE49-F238E27FC236}">
                  <a16:creationId xmlns:a16="http://schemas.microsoft.com/office/drawing/2014/main" id="{BDDD15C2-3B94-08CD-E0F2-DBE28F03EE6F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36659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0BFA189A-CB26-5B65-DC0C-6D5D109E2BE0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6659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ADA3EF63-A54A-F000-F19D-715A31AE0091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6659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5411B7D8-0D4D-1E46-3B8F-1130FB558D2E}"/>
              </a:ext>
            </a:extLst>
          </p:cNvPr>
          <p:cNvGrpSpPr/>
          <p:nvPr/>
        </p:nvGrpSpPr>
        <p:grpSpPr>
          <a:xfrm rot="21591852">
            <a:off x="5738935" y="4036871"/>
            <a:ext cx="450733" cy="310275"/>
            <a:chOff x="2078991" y="2260878"/>
            <a:chExt cx="732539" cy="504265"/>
          </a:xfrm>
        </p:grpSpPr>
        <p:sp>
          <p:nvSpPr>
            <p:cNvPr id="138" name="任意形状 137">
              <a:extLst>
                <a:ext uri="{FF2B5EF4-FFF2-40B4-BE49-F238E27FC236}">
                  <a16:creationId xmlns:a16="http://schemas.microsoft.com/office/drawing/2014/main" id="{96E00CDF-63DF-08E3-865A-32E1EE4C4EFA}"/>
                </a:ext>
              </a:extLst>
            </p:cNvPr>
            <p:cNvSpPr/>
            <p:nvPr/>
          </p:nvSpPr>
          <p:spPr>
            <a:xfrm>
              <a:off x="2078991" y="2411705"/>
              <a:ext cx="553157" cy="203200"/>
            </a:xfrm>
            <a:custGeom>
              <a:avLst/>
              <a:gdLst>
                <a:gd name="connsiteX0" fmla="*/ 101600 w 553157"/>
                <a:gd name="connsiteY0" fmla="*/ 0 h 203200"/>
                <a:gd name="connsiteX1" fmla="*/ 553157 w 553157"/>
                <a:gd name="connsiteY1" fmla="*/ 0 h 203200"/>
                <a:gd name="connsiteX2" fmla="*/ 553157 w 553157"/>
                <a:gd name="connsiteY2" fmla="*/ 203200 h 203200"/>
                <a:gd name="connsiteX3" fmla="*/ 101600 w 553157"/>
                <a:gd name="connsiteY3" fmla="*/ 203200 h 203200"/>
                <a:gd name="connsiteX4" fmla="*/ 0 w 553157"/>
                <a:gd name="connsiteY4" fmla="*/ 101600 h 203200"/>
                <a:gd name="connsiteX5" fmla="*/ 101600 w 553157"/>
                <a:gd name="connsiteY5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157" h="203200">
                  <a:moveTo>
                    <a:pt x="101600" y="0"/>
                  </a:moveTo>
                  <a:lnTo>
                    <a:pt x="553157" y="0"/>
                  </a:lnTo>
                  <a:lnTo>
                    <a:pt x="553157" y="203200"/>
                  </a:ln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noFill/>
            <a:ln>
              <a:solidFill>
                <a:schemeClr val="tx1">
                  <a:alpha val="36659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E8910B1C-93AC-AC6A-97DA-7E3E78437521}"/>
                </a:ext>
              </a:extLst>
            </p:cNvPr>
            <p:cNvSpPr/>
            <p:nvPr/>
          </p:nvSpPr>
          <p:spPr>
            <a:xfrm>
              <a:off x="2116243" y="2462505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6659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526CA9DE-1D5C-5A24-6DD1-A8CC099DFEC6}"/>
                </a:ext>
              </a:extLst>
            </p:cNvPr>
            <p:cNvSpPr/>
            <p:nvPr/>
          </p:nvSpPr>
          <p:spPr>
            <a:xfrm>
              <a:off x="2600723" y="2260878"/>
              <a:ext cx="45719" cy="504265"/>
            </a:xfrm>
            <a:prstGeom prst="rect">
              <a:avLst/>
            </a:prstGeom>
            <a:solidFill>
              <a:schemeClr val="tx1">
                <a:alpha val="25801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1" name="三角形 140">
              <a:extLst>
                <a:ext uri="{FF2B5EF4-FFF2-40B4-BE49-F238E27FC236}">
                  <a16:creationId xmlns:a16="http://schemas.microsoft.com/office/drawing/2014/main" id="{A07DF55B-D009-ABDE-E18A-10E55651E8E2}"/>
                </a:ext>
              </a:extLst>
            </p:cNvPr>
            <p:cNvSpPr/>
            <p:nvPr/>
          </p:nvSpPr>
          <p:spPr>
            <a:xfrm rot="5400000">
              <a:off x="2666974" y="2246827"/>
              <a:ext cx="102534" cy="186578"/>
            </a:xfrm>
            <a:prstGeom prst="triangle">
              <a:avLst/>
            </a:prstGeom>
            <a:solidFill>
              <a:schemeClr val="tx1">
                <a:alpha val="25801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2" name="三角形 141">
              <a:extLst>
                <a:ext uri="{FF2B5EF4-FFF2-40B4-BE49-F238E27FC236}">
                  <a16:creationId xmlns:a16="http://schemas.microsoft.com/office/drawing/2014/main" id="{FB870B55-497F-7A21-E72D-358CA6EBAC9F}"/>
                </a:ext>
              </a:extLst>
            </p:cNvPr>
            <p:cNvSpPr/>
            <p:nvPr/>
          </p:nvSpPr>
          <p:spPr>
            <a:xfrm rot="5400000">
              <a:off x="2666974" y="2598583"/>
              <a:ext cx="102534" cy="186578"/>
            </a:xfrm>
            <a:prstGeom prst="triangle">
              <a:avLst/>
            </a:prstGeom>
            <a:solidFill>
              <a:schemeClr val="tx1">
                <a:alpha val="25801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55" name="圆角矩形 154">
            <a:extLst>
              <a:ext uri="{FF2B5EF4-FFF2-40B4-BE49-F238E27FC236}">
                <a16:creationId xmlns:a16="http://schemas.microsoft.com/office/drawing/2014/main" id="{B5FEF409-61C8-76BD-9E41-18D3B6D70537}"/>
              </a:ext>
            </a:extLst>
          </p:cNvPr>
          <p:cNvSpPr/>
          <p:nvPr/>
        </p:nvSpPr>
        <p:spPr>
          <a:xfrm rot="2419724" flipH="1">
            <a:off x="5148228" y="3916251"/>
            <a:ext cx="775182" cy="12502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alpha val="36659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F26E8600-17F8-3F62-E347-8A1A582C82B5}"/>
              </a:ext>
            </a:extLst>
          </p:cNvPr>
          <p:cNvGrpSpPr/>
          <p:nvPr/>
        </p:nvGrpSpPr>
        <p:grpSpPr>
          <a:xfrm rot="938914" flipV="1">
            <a:off x="4638488" y="4242367"/>
            <a:ext cx="775182" cy="340677"/>
            <a:chOff x="3234600" y="3615138"/>
            <a:chExt cx="1259840" cy="553674"/>
          </a:xfrm>
        </p:grpSpPr>
        <p:sp>
          <p:nvSpPr>
            <p:cNvPr id="159" name="圆角矩形 158">
              <a:extLst>
                <a:ext uri="{FF2B5EF4-FFF2-40B4-BE49-F238E27FC236}">
                  <a16:creationId xmlns:a16="http://schemas.microsoft.com/office/drawing/2014/main" id="{26E8D4A2-23FE-9A0C-46CA-18BC36D90CE1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F918E1CF-03B3-81C3-597D-666ED81112C3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83D568AE-4641-AD46-FDF2-765CE8236236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>
                  <a:alpha val="31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3" name="圆角矩形 162">
            <a:extLst>
              <a:ext uri="{FF2B5EF4-FFF2-40B4-BE49-F238E27FC236}">
                <a16:creationId xmlns:a16="http://schemas.microsoft.com/office/drawing/2014/main" id="{B957D58C-00B3-F30A-D583-B936C61FEE2C}"/>
              </a:ext>
            </a:extLst>
          </p:cNvPr>
          <p:cNvSpPr/>
          <p:nvPr/>
        </p:nvSpPr>
        <p:spPr>
          <a:xfrm rot="19180276" flipH="1" flipV="1">
            <a:off x="5148228" y="4350325"/>
            <a:ext cx="775182" cy="12502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alpha val="31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C0573456-B3C1-2828-4B63-2E86361F0DE5}"/>
              </a:ext>
            </a:extLst>
          </p:cNvPr>
          <p:cNvGrpSpPr/>
          <p:nvPr/>
        </p:nvGrpSpPr>
        <p:grpSpPr>
          <a:xfrm rot="1610584">
            <a:off x="5766955" y="3668526"/>
            <a:ext cx="450733" cy="310275"/>
            <a:chOff x="2078991" y="2260878"/>
            <a:chExt cx="732539" cy="504265"/>
          </a:xfrm>
        </p:grpSpPr>
        <p:sp>
          <p:nvSpPr>
            <p:cNvPr id="171" name="任意形状 170">
              <a:extLst>
                <a:ext uri="{FF2B5EF4-FFF2-40B4-BE49-F238E27FC236}">
                  <a16:creationId xmlns:a16="http://schemas.microsoft.com/office/drawing/2014/main" id="{0B984EDA-AFC4-3603-20F5-EA4C3ABC2DD0}"/>
                </a:ext>
              </a:extLst>
            </p:cNvPr>
            <p:cNvSpPr/>
            <p:nvPr/>
          </p:nvSpPr>
          <p:spPr>
            <a:xfrm>
              <a:off x="2078991" y="2411705"/>
              <a:ext cx="553157" cy="203200"/>
            </a:xfrm>
            <a:custGeom>
              <a:avLst/>
              <a:gdLst>
                <a:gd name="connsiteX0" fmla="*/ 101600 w 553157"/>
                <a:gd name="connsiteY0" fmla="*/ 0 h 203200"/>
                <a:gd name="connsiteX1" fmla="*/ 553157 w 553157"/>
                <a:gd name="connsiteY1" fmla="*/ 0 h 203200"/>
                <a:gd name="connsiteX2" fmla="*/ 553157 w 553157"/>
                <a:gd name="connsiteY2" fmla="*/ 203200 h 203200"/>
                <a:gd name="connsiteX3" fmla="*/ 101600 w 553157"/>
                <a:gd name="connsiteY3" fmla="*/ 203200 h 203200"/>
                <a:gd name="connsiteX4" fmla="*/ 0 w 553157"/>
                <a:gd name="connsiteY4" fmla="*/ 101600 h 203200"/>
                <a:gd name="connsiteX5" fmla="*/ 101600 w 553157"/>
                <a:gd name="connsiteY5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157" h="203200">
                  <a:moveTo>
                    <a:pt x="101600" y="0"/>
                  </a:moveTo>
                  <a:lnTo>
                    <a:pt x="553157" y="0"/>
                  </a:lnTo>
                  <a:lnTo>
                    <a:pt x="553157" y="203200"/>
                  </a:ln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D6DA52FA-EA6A-0700-7092-F78C10C73598}"/>
                </a:ext>
              </a:extLst>
            </p:cNvPr>
            <p:cNvSpPr/>
            <p:nvPr/>
          </p:nvSpPr>
          <p:spPr>
            <a:xfrm>
              <a:off x="2116243" y="2462505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D964EE7D-E61C-D819-625C-30BFF84D4FF3}"/>
                </a:ext>
              </a:extLst>
            </p:cNvPr>
            <p:cNvSpPr/>
            <p:nvPr/>
          </p:nvSpPr>
          <p:spPr>
            <a:xfrm>
              <a:off x="2600723" y="2260878"/>
              <a:ext cx="45719" cy="5042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三角形 173">
              <a:extLst>
                <a:ext uri="{FF2B5EF4-FFF2-40B4-BE49-F238E27FC236}">
                  <a16:creationId xmlns:a16="http://schemas.microsoft.com/office/drawing/2014/main" id="{BDAFFEC4-5188-FE6A-3416-AC8CEEEB33E0}"/>
                </a:ext>
              </a:extLst>
            </p:cNvPr>
            <p:cNvSpPr/>
            <p:nvPr/>
          </p:nvSpPr>
          <p:spPr>
            <a:xfrm rot="5400000">
              <a:off x="2666974" y="2246827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5" name="三角形 174">
              <a:extLst>
                <a:ext uri="{FF2B5EF4-FFF2-40B4-BE49-F238E27FC236}">
                  <a16:creationId xmlns:a16="http://schemas.microsoft.com/office/drawing/2014/main" id="{4A21B95E-FEB9-7A84-CF71-5D7301508831}"/>
                </a:ext>
              </a:extLst>
            </p:cNvPr>
            <p:cNvSpPr/>
            <p:nvPr/>
          </p:nvSpPr>
          <p:spPr>
            <a:xfrm rot="5400000">
              <a:off x="2666974" y="2598583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A973AFBA-685E-8CAA-8039-1F6694ACD112}"/>
              </a:ext>
            </a:extLst>
          </p:cNvPr>
          <p:cNvGrpSpPr/>
          <p:nvPr/>
        </p:nvGrpSpPr>
        <p:grpSpPr>
          <a:xfrm rot="19948481">
            <a:off x="4588848" y="3757373"/>
            <a:ext cx="775182" cy="340677"/>
            <a:chOff x="3234600" y="3615138"/>
            <a:chExt cx="1259840" cy="553674"/>
          </a:xfrm>
        </p:grpSpPr>
        <p:sp>
          <p:nvSpPr>
            <p:cNvPr id="167" name="圆角矩形 166">
              <a:extLst>
                <a:ext uri="{FF2B5EF4-FFF2-40B4-BE49-F238E27FC236}">
                  <a16:creationId xmlns:a16="http://schemas.microsoft.com/office/drawing/2014/main" id="{8B20BB51-738C-363F-913A-3B86BDA4B3A8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D60D0B1D-BDED-EB7D-DDC1-31241BA3828C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C310481F-C834-7D27-3AB3-550970AF84FF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850AC0BE-6021-1FBE-3EA8-671555581994}"/>
              </a:ext>
            </a:extLst>
          </p:cNvPr>
          <p:cNvGrpSpPr/>
          <p:nvPr/>
        </p:nvGrpSpPr>
        <p:grpSpPr>
          <a:xfrm rot="20546559" flipH="1">
            <a:off x="5123253" y="3534250"/>
            <a:ext cx="775182" cy="340677"/>
            <a:chOff x="3234600" y="3615138"/>
            <a:chExt cx="1259840" cy="553674"/>
          </a:xfrm>
        </p:grpSpPr>
        <p:sp>
          <p:nvSpPr>
            <p:cNvPr id="177" name="圆角矩形 176">
              <a:extLst>
                <a:ext uri="{FF2B5EF4-FFF2-40B4-BE49-F238E27FC236}">
                  <a16:creationId xmlns:a16="http://schemas.microsoft.com/office/drawing/2014/main" id="{105C962D-AA06-AED8-A7E2-FD3F7318981D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A842E044-516F-5F01-6569-15FE18A5E3FB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A3B73CAC-8D8B-ACBE-B3D3-32ED1F81C11E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4" name="弧 183">
            <a:extLst>
              <a:ext uri="{FF2B5EF4-FFF2-40B4-BE49-F238E27FC236}">
                <a16:creationId xmlns:a16="http://schemas.microsoft.com/office/drawing/2014/main" id="{DCE56487-AD5A-06E6-1B36-FA2E1A245C7E}"/>
              </a:ext>
            </a:extLst>
          </p:cNvPr>
          <p:cNvSpPr/>
          <p:nvPr/>
        </p:nvSpPr>
        <p:spPr>
          <a:xfrm rot="5400000" flipV="1">
            <a:off x="6157539" y="3932237"/>
            <a:ext cx="371931" cy="305986"/>
          </a:xfrm>
          <a:prstGeom prst="arc">
            <a:avLst>
              <a:gd name="adj1" fmla="val 20849124"/>
              <a:gd name="adj2" fmla="val 10352418"/>
            </a:avLst>
          </a:prstGeom>
          <a:ln w="22225">
            <a:solidFill>
              <a:schemeClr val="tx1"/>
            </a:solidFill>
            <a:head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04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>
            <a:extLst>
              <a:ext uri="{FF2B5EF4-FFF2-40B4-BE49-F238E27FC236}">
                <a16:creationId xmlns:a16="http://schemas.microsoft.com/office/drawing/2014/main" id="{D3EFCB2F-B0A6-3EB5-B865-0853A265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Solvability</a:t>
            </a:r>
            <a:endParaRPr lang="zh-CN" altLang="en-US" dirty="0"/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BE7ECEE0-0F88-73E7-DED2-97591626AE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48" y="1285424"/>
            <a:ext cx="7732925" cy="3118351"/>
          </a:xfrm>
        </p:spPr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(Analytical solutions)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0" i="0" dirty="0">
                <a:solidFill>
                  <a:srgbClr val="0D0D0D"/>
                </a:solidFill>
                <a:effectLst/>
              </a:rPr>
              <a:t>give exact answers. They use formulas to solve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i="1" dirty="0">
                <a:solidFill>
                  <a:srgbClr val="0D0D0D"/>
                </a:solidFill>
              </a:rPr>
              <a:t>Currently, people can definitely find the </a:t>
            </a:r>
            <a:r>
              <a:rPr lang="en-GB" altLang="zh-CN" i="1" u="sng" dirty="0">
                <a:solidFill>
                  <a:srgbClr val="0D0D0D"/>
                </a:solidFill>
              </a:rPr>
              <a:t>analytical</a:t>
            </a:r>
            <a:r>
              <a:rPr lang="en-GB" altLang="zh-CN" i="1" dirty="0">
                <a:solidFill>
                  <a:srgbClr val="0D0D0D"/>
                </a:solidFill>
              </a:rPr>
              <a:t> solutions when: </a:t>
            </a:r>
            <a:r>
              <a:rPr lang="en-GB" altLang="zh-CN" i="1" dirty="0">
                <a:solidFill>
                  <a:schemeClr val="accent1"/>
                </a:solidFill>
              </a:rPr>
              <a:t>a manipulator with six revolute joints has three neighbouring joint axes intersect at a point. </a:t>
            </a:r>
            <a:br>
              <a:rPr lang="en-GB" altLang="zh-CN" i="1" dirty="0">
                <a:solidFill>
                  <a:schemeClr val="accent1"/>
                </a:solidFill>
              </a:rPr>
            </a:br>
            <a:r>
              <a:rPr lang="en-GB" altLang="zh-CN" i="1" dirty="0"/>
              <a:t>Or: </a:t>
            </a:r>
            <a:r>
              <a:rPr lang="en-GB" altLang="zh-CN" i="1" dirty="0">
                <a:solidFill>
                  <a:schemeClr val="accent1"/>
                </a:solidFill>
              </a:rPr>
              <a:t>a manipulator with six revolute joints has three neighbouring joint axes are parallel. </a:t>
            </a:r>
          </a:p>
          <a:p>
            <a:r>
              <a:rPr lang="en-GB" altLang="zh-CN" dirty="0">
                <a:solidFill>
                  <a:srgbClr val="003399"/>
                </a:solidFill>
              </a:rPr>
              <a:t>Numerical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Find approximate solutions through iterative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i="1" dirty="0">
                <a:solidFill>
                  <a:schemeClr val="accent1"/>
                </a:solidFill>
              </a:rPr>
              <a:t>All systems with revolute and prismatic joints having a total of six degrees of freedom in a single series chain </a:t>
            </a:r>
            <a:r>
              <a:rPr lang="en-GB" altLang="zh-CN" i="1" dirty="0"/>
              <a:t>have </a:t>
            </a:r>
            <a:r>
              <a:rPr lang="en-GB" altLang="zh-CN" i="1" u="sng" dirty="0"/>
              <a:t>numerical</a:t>
            </a:r>
            <a:r>
              <a:rPr lang="en-GB" altLang="zh-CN" i="1" dirty="0"/>
              <a:t> solution.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70658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F4DF346-897A-7067-9711-80B25B2D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(algebraic solution)</a:t>
            </a:r>
            <a:endParaRPr kumimoji="1" lang="zh-CN" altLang="en-US" b="0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5D40C58-9988-C910-E139-8E3595F4B0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465730"/>
            <a:ext cx="3747132" cy="787482"/>
          </a:xfrm>
        </p:spPr>
        <p:txBody>
          <a:bodyPr/>
          <a:lstStyle/>
          <a:p>
            <a:r>
              <a:rPr lang="en-GB" altLang="zh-CN" dirty="0"/>
              <a:t>Consider the three-link planar manipulator, first, we can use the link parameters to find the kinematic equations :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FE963F-4801-30C6-F257-D429890C7535}"/>
              </a:ext>
            </a:extLst>
          </p:cNvPr>
          <p:cNvGrpSpPr/>
          <p:nvPr/>
        </p:nvGrpSpPr>
        <p:grpSpPr>
          <a:xfrm>
            <a:off x="4761325" y="3445319"/>
            <a:ext cx="1259840" cy="553674"/>
            <a:chOff x="3234600" y="3615138"/>
            <a:chExt cx="1259840" cy="553674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BB53E4C5-90FC-44D4-BC8B-62646CD5BB37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2C8E892-7399-4AE1-33CC-B9C79F97D5BA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D9BC26F-2328-85A1-B1C0-F1226C0519FE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FF0C0D9-6DF5-5265-F3AC-68CA6E0E77F3}"/>
              </a:ext>
            </a:extLst>
          </p:cNvPr>
          <p:cNvGrpSpPr/>
          <p:nvPr/>
        </p:nvGrpSpPr>
        <p:grpSpPr>
          <a:xfrm rot="18798067">
            <a:off x="5424900" y="2705419"/>
            <a:ext cx="1259840" cy="553674"/>
            <a:chOff x="3234600" y="3615138"/>
            <a:chExt cx="1259840" cy="553674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02840447-F583-E7F2-0B51-FA6B223CE7DA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BFC58CF-7031-0325-B963-803C61DB8EAD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859C564-9ECC-9C32-BEA4-4DD6FD76D92E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914964B-5C14-30CA-B815-419294C97F38}"/>
              </a:ext>
            </a:extLst>
          </p:cNvPr>
          <p:cNvGrpSpPr/>
          <p:nvPr/>
        </p:nvGrpSpPr>
        <p:grpSpPr>
          <a:xfrm rot="13614798">
            <a:off x="5668298" y="2015689"/>
            <a:ext cx="732539" cy="504265"/>
            <a:chOff x="2078991" y="2260878"/>
            <a:chExt cx="732539" cy="504265"/>
          </a:xfrm>
        </p:grpSpPr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7F870801-4685-518A-C8E4-6EB8A65129EE}"/>
                </a:ext>
              </a:extLst>
            </p:cNvPr>
            <p:cNvSpPr/>
            <p:nvPr/>
          </p:nvSpPr>
          <p:spPr>
            <a:xfrm>
              <a:off x="2078991" y="2411705"/>
              <a:ext cx="553157" cy="203200"/>
            </a:xfrm>
            <a:custGeom>
              <a:avLst/>
              <a:gdLst>
                <a:gd name="connsiteX0" fmla="*/ 101600 w 553157"/>
                <a:gd name="connsiteY0" fmla="*/ 0 h 203200"/>
                <a:gd name="connsiteX1" fmla="*/ 553157 w 553157"/>
                <a:gd name="connsiteY1" fmla="*/ 0 h 203200"/>
                <a:gd name="connsiteX2" fmla="*/ 553157 w 553157"/>
                <a:gd name="connsiteY2" fmla="*/ 203200 h 203200"/>
                <a:gd name="connsiteX3" fmla="*/ 101600 w 553157"/>
                <a:gd name="connsiteY3" fmla="*/ 203200 h 203200"/>
                <a:gd name="connsiteX4" fmla="*/ 0 w 553157"/>
                <a:gd name="connsiteY4" fmla="*/ 101600 h 203200"/>
                <a:gd name="connsiteX5" fmla="*/ 101600 w 553157"/>
                <a:gd name="connsiteY5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157" h="203200">
                  <a:moveTo>
                    <a:pt x="101600" y="0"/>
                  </a:moveTo>
                  <a:lnTo>
                    <a:pt x="553157" y="0"/>
                  </a:lnTo>
                  <a:lnTo>
                    <a:pt x="553157" y="203200"/>
                  </a:ln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946C1DB-5220-CD22-BD2D-757C855CC7D3}"/>
                </a:ext>
              </a:extLst>
            </p:cNvPr>
            <p:cNvSpPr/>
            <p:nvPr/>
          </p:nvSpPr>
          <p:spPr>
            <a:xfrm>
              <a:off x="2116243" y="2462505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A891BD8-3A8F-3A46-FEE8-E813B0137719}"/>
                </a:ext>
              </a:extLst>
            </p:cNvPr>
            <p:cNvSpPr/>
            <p:nvPr/>
          </p:nvSpPr>
          <p:spPr>
            <a:xfrm>
              <a:off x="2600723" y="2260878"/>
              <a:ext cx="45719" cy="5042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三角形 19">
              <a:extLst>
                <a:ext uri="{FF2B5EF4-FFF2-40B4-BE49-F238E27FC236}">
                  <a16:creationId xmlns:a16="http://schemas.microsoft.com/office/drawing/2014/main" id="{3F1EB265-B4BB-6556-C4A0-CEEBD8DEA6B7}"/>
                </a:ext>
              </a:extLst>
            </p:cNvPr>
            <p:cNvSpPr/>
            <p:nvPr/>
          </p:nvSpPr>
          <p:spPr>
            <a:xfrm rot="5400000">
              <a:off x="2666974" y="2246827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B4E013ED-0352-738A-9B3B-ECFFBD09DEA3}"/>
                </a:ext>
              </a:extLst>
            </p:cNvPr>
            <p:cNvSpPr/>
            <p:nvPr/>
          </p:nvSpPr>
          <p:spPr>
            <a:xfrm rot="5400000">
              <a:off x="2666974" y="2598583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50696B5-E7F9-2007-4A88-392E0EE21F88}"/>
              </a:ext>
            </a:extLst>
          </p:cNvPr>
          <p:cNvGrpSpPr/>
          <p:nvPr/>
        </p:nvGrpSpPr>
        <p:grpSpPr>
          <a:xfrm>
            <a:off x="4623854" y="3797462"/>
            <a:ext cx="506285" cy="690277"/>
            <a:chOff x="3097129" y="3967281"/>
            <a:chExt cx="506285" cy="690277"/>
          </a:xfrm>
        </p:grpSpPr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849E094C-39B2-7F0C-9F34-6DEA7864627E}"/>
                </a:ext>
              </a:extLst>
            </p:cNvPr>
            <p:cNvSpPr/>
            <p:nvPr/>
          </p:nvSpPr>
          <p:spPr>
            <a:xfrm>
              <a:off x="3142826" y="3967281"/>
              <a:ext cx="460588" cy="616373"/>
            </a:xfrm>
            <a:custGeom>
              <a:avLst/>
              <a:gdLst>
                <a:gd name="connsiteX0" fmla="*/ 230294 w 460588"/>
                <a:gd name="connsiteY0" fmla="*/ 0 h 616373"/>
                <a:gd name="connsiteX1" fmla="*/ 460588 w 460588"/>
                <a:gd name="connsiteY1" fmla="*/ 230294 h 616373"/>
                <a:gd name="connsiteX2" fmla="*/ 460586 w 460588"/>
                <a:gd name="connsiteY2" fmla="*/ 230314 h 616373"/>
                <a:gd name="connsiteX3" fmla="*/ 460586 w 460588"/>
                <a:gd name="connsiteY3" fmla="*/ 616373 h 616373"/>
                <a:gd name="connsiteX4" fmla="*/ 0 w 460588"/>
                <a:gd name="connsiteY4" fmla="*/ 616373 h 616373"/>
                <a:gd name="connsiteX5" fmla="*/ 0 w 460588"/>
                <a:gd name="connsiteY5" fmla="*/ 230294 h 616373"/>
                <a:gd name="connsiteX6" fmla="*/ 0 w 460588"/>
                <a:gd name="connsiteY6" fmla="*/ 230293 h 616373"/>
                <a:gd name="connsiteX7" fmla="*/ 0 w 460588"/>
                <a:gd name="connsiteY7" fmla="*/ 230293 h 616373"/>
                <a:gd name="connsiteX8" fmla="*/ 4679 w 460588"/>
                <a:gd name="connsiteY8" fmla="*/ 183882 h 616373"/>
                <a:gd name="connsiteX9" fmla="*/ 230294 w 460588"/>
                <a:gd name="connsiteY9" fmla="*/ 0 h 61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588" h="616373">
                  <a:moveTo>
                    <a:pt x="230294" y="0"/>
                  </a:moveTo>
                  <a:cubicBezTo>
                    <a:pt x="357482" y="0"/>
                    <a:pt x="460588" y="103106"/>
                    <a:pt x="460588" y="230294"/>
                  </a:cubicBezTo>
                  <a:lnTo>
                    <a:pt x="460586" y="230314"/>
                  </a:lnTo>
                  <a:lnTo>
                    <a:pt x="460586" y="616373"/>
                  </a:lnTo>
                  <a:lnTo>
                    <a:pt x="0" y="616373"/>
                  </a:lnTo>
                  <a:lnTo>
                    <a:pt x="0" y="230294"/>
                  </a:lnTo>
                  <a:lnTo>
                    <a:pt x="0" y="230293"/>
                  </a:lnTo>
                  <a:lnTo>
                    <a:pt x="0" y="230293"/>
                  </a:lnTo>
                  <a:lnTo>
                    <a:pt x="4679" y="183882"/>
                  </a:lnTo>
                  <a:cubicBezTo>
                    <a:pt x="26153" y="78941"/>
                    <a:pt x="119005" y="0"/>
                    <a:pt x="230294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78856ABC-CE96-A3B5-A74F-0661C76405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7129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4850CAD1-F99A-6275-031A-F8430A314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17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83C1C371-573B-0DF5-7528-94E3834C6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931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9FF49C25-F312-3F73-656A-44A4A580E5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944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8A6E55C7-D855-6252-2C51-DC69D3D888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584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F4B67BF2-0405-C646-0C9A-3E5E9577F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9720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70C54B83-A4EE-A22B-F0D0-900D55BC5F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85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EF0DF2F7-FF32-8659-33B9-339EDF8B92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99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7BC632C5-8F58-D49C-7DE0-FF6D9FFAC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012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84058CD4-55DC-5BC7-6214-C95CCCE3F1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0261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48E0B37F-78A2-63A8-2959-4D961EC86161}"/>
              </a:ext>
            </a:extLst>
          </p:cNvPr>
          <p:cNvCxnSpPr>
            <a:cxnSpLocks/>
          </p:cNvCxnSpPr>
          <p:nvPr/>
        </p:nvCxnSpPr>
        <p:spPr>
          <a:xfrm>
            <a:off x="4438872" y="3945899"/>
            <a:ext cx="2113645" cy="0"/>
          </a:xfrm>
          <a:prstGeom prst="line">
            <a:avLst/>
          </a:prstGeom>
          <a:ln w="2222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146676E1-8163-0D62-4F9A-37C85DEE1434}"/>
              </a:ext>
            </a:extLst>
          </p:cNvPr>
          <p:cNvCxnSpPr>
            <a:cxnSpLocks/>
          </p:cNvCxnSpPr>
          <p:nvPr/>
        </p:nvCxnSpPr>
        <p:spPr>
          <a:xfrm flipV="1">
            <a:off x="4550183" y="3282772"/>
            <a:ext cx="1778647" cy="835302"/>
          </a:xfrm>
          <a:prstGeom prst="line">
            <a:avLst/>
          </a:prstGeom>
          <a:ln w="2222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51F39A01-F535-2421-35B5-C5A6ECBF4FD7}"/>
              </a:ext>
            </a:extLst>
          </p:cNvPr>
          <p:cNvCxnSpPr>
            <a:cxnSpLocks/>
          </p:cNvCxnSpPr>
          <p:nvPr/>
        </p:nvCxnSpPr>
        <p:spPr>
          <a:xfrm flipV="1">
            <a:off x="5810621" y="1853883"/>
            <a:ext cx="614009" cy="1839765"/>
          </a:xfrm>
          <a:prstGeom prst="line">
            <a:avLst/>
          </a:prstGeom>
          <a:ln w="2222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8995F5EB-EBDB-1DE9-8D4B-717E1D7B55CE}"/>
              </a:ext>
            </a:extLst>
          </p:cNvPr>
          <p:cNvCxnSpPr>
            <a:cxnSpLocks/>
          </p:cNvCxnSpPr>
          <p:nvPr/>
        </p:nvCxnSpPr>
        <p:spPr>
          <a:xfrm>
            <a:off x="5534421" y="1748918"/>
            <a:ext cx="820936" cy="847615"/>
          </a:xfrm>
          <a:prstGeom prst="line">
            <a:avLst/>
          </a:prstGeom>
          <a:ln w="2222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弧 37">
            <a:extLst>
              <a:ext uri="{FF2B5EF4-FFF2-40B4-BE49-F238E27FC236}">
                <a16:creationId xmlns:a16="http://schemas.microsoft.com/office/drawing/2014/main" id="{B8A9348A-0F88-6266-089D-4E598E4CE0C6}"/>
              </a:ext>
            </a:extLst>
          </p:cNvPr>
          <p:cNvSpPr/>
          <p:nvPr/>
        </p:nvSpPr>
        <p:spPr>
          <a:xfrm rot="2606943">
            <a:off x="5125644" y="3714103"/>
            <a:ext cx="283779" cy="283779"/>
          </a:xfrm>
          <a:prstGeom prst="arc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4724390-E1B9-6270-E478-64B2C3D44C40}"/>
                  </a:ext>
                </a:extLst>
              </p:cNvPr>
              <p:cNvSpPr txBox="1"/>
              <p:nvPr/>
            </p:nvSpPr>
            <p:spPr>
              <a:xfrm>
                <a:off x="5401475" y="3618021"/>
                <a:ext cx="461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4724390-E1B9-6270-E478-64B2C3D44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475" y="3618021"/>
                <a:ext cx="46128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弧 39">
            <a:extLst>
              <a:ext uri="{FF2B5EF4-FFF2-40B4-BE49-F238E27FC236}">
                <a16:creationId xmlns:a16="http://schemas.microsoft.com/office/drawing/2014/main" id="{CB0F08DF-0190-0F4E-4E50-783633FA9FF1}"/>
              </a:ext>
            </a:extLst>
          </p:cNvPr>
          <p:cNvSpPr/>
          <p:nvPr/>
        </p:nvSpPr>
        <p:spPr>
          <a:xfrm rot="21440828">
            <a:off x="5832844" y="3238857"/>
            <a:ext cx="283779" cy="283779"/>
          </a:xfrm>
          <a:prstGeom prst="arc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13B58B3-6C92-2EF4-EA60-7C0319DA323E}"/>
                  </a:ext>
                </a:extLst>
              </p:cNvPr>
              <p:cNvSpPr txBox="1"/>
              <p:nvPr/>
            </p:nvSpPr>
            <p:spPr>
              <a:xfrm>
                <a:off x="6008597" y="2951947"/>
                <a:ext cx="4666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13B58B3-6C92-2EF4-EA60-7C0319DA3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597" y="2951947"/>
                <a:ext cx="4666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弧 41">
            <a:extLst>
              <a:ext uri="{FF2B5EF4-FFF2-40B4-BE49-F238E27FC236}">
                <a16:creationId xmlns:a16="http://schemas.microsoft.com/office/drawing/2014/main" id="{50AA14BA-D808-A6AE-82F0-A932D2E0D1D8}"/>
              </a:ext>
            </a:extLst>
          </p:cNvPr>
          <p:cNvSpPr/>
          <p:nvPr/>
        </p:nvSpPr>
        <p:spPr>
          <a:xfrm rot="18100353">
            <a:off x="6069109" y="2234918"/>
            <a:ext cx="283779" cy="283779"/>
          </a:xfrm>
          <a:prstGeom prst="arc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2D3886B-E010-6744-E049-70831AC1956E}"/>
                  </a:ext>
                </a:extLst>
              </p:cNvPr>
              <p:cNvSpPr txBox="1"/>
              <p:nvPr/>
            </p:nvSpPr>
            <p:spPr>
              <a:xfrm>
                <a:off x="6102025" y="1883879"/>
                <a:ext cx="4666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2D3886B-E010-6744-E049-70831AC19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25" y="1883879"/>
                <a:ext cx="4666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960CD09C-64F7-71A6-9E4C-C42389E86C2E}"/>
              </a:ext>
            </a:extLst>
          </p:cNvPr>
          <p:cNvCxnSpPr>
            <a:cxnSpLocks/>
          </p:cNvCxnSpPr>
          <p:nvPr/>
        </p:nvCxnSpPr>
        <p:spPr>
          <a:xfrm flipH="1" flipV="1">
            <a:off x="4645028" y="3400642"/>
            <a:ext cx="151650" cy="322916"/>
          </a:xfrm>
          <a:prstGeom prst="line">
            <a:avLst/>
          </a:prstGeom>
          <a:ln w="1270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E9B9BCC3-CAA3-055D-8B16-AC1A34575CAA}"/>
              </a:ext>
            </a:extLst>
          </p:cNvPr>
          <p:cNvCxnSpPr>
            <a:cxnSpLocks/>
          </p:cNvCxnSpPr>
          <p:nvPr/>
        </p:nvCxnSpPr>
        <p:spPr>
          <a:xfrm flipH="1" flipV="1">
            <a:off x="5617508" y="2960187"/>
            <a:ext cx="151650" cy="322916"/>
          </a:xfrm>
          <a:prstGeom prst="line">
            <a:avLst/>
          </a:prstGeom>
          <a:ln w="1270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3BAB9A94-1456-6095-6608-2680CC15F472}"/>
              </a:ext>
            </a:extLst>
          </p:cNvPr>
          <p:cNvCxnSpPr>
            <a:cxnSpLocks/>
          </p:cNvCxnSpPr>
          <p:nvPr/>
        </p:nvCxnSpPr>
        <p:spPr>
          <a:xfrm flipV="1">
            <a:off x="4718280" y="3114216"/>
            <a:ext cx="975053" cy="449275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7DAFD59F-8723-166C-ECE9-21F6CA56D42F}"/>
              </a:ext>
            </a:extLst>
          </p:cNvPr>
          <p:cNvCxnSpPr>
            <a:cxnSpLocks/>
          </p:cNvCxnSpPr>
          <p:nvPr/>
        </p:nvCxnSpPr>
        <p:spPr>
          <a:xfrm>
            <a:off x="6099538" y="3561437"/>
            <a:ext cx="376501" cy="125656"/>
          </a:xfrm>
          <a:prstGeom prst="line">
            <a:avLst/>
          </a:prstGeom>
          <a:ln w="1270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305711F-FF8B-954F-89F9-A89F074A0561}"/>
              </a:ext>
            </a:extLst>
          </p:cNvPr>
          <p:cNvCxnSpPr>
            <a:cxnSpLocks/>
          </p:cNvCxnSpPr>
          <p:nvPr/>
        </p:nvCxnSpPr>
        <p:spPr>
          <a:xfrm>
            <a:off x="6433908" y="2539807"/>
            <a:ext cx="376501" cy="125656"/>
          </a:xfrm>
          <a:prstGeom prst="line">
            <a:avLst/>
          </a:prstGeom>
          <a:ln w="1270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7E2AB79-67F8-081C-C502-EE4D96A80140}"/>
              </a:ext>
            </a:extLst>
          </p:cNvPr>
          <p:cNvCxnSpPr>
            <a:cxnSpLocks/>
          </p:cNvCxnSpPr>
          <p:nvPr/>
        </p:nvCxnSpPr>
        <p:spPr>
          <a:xfrm flipV="1">
            <a:off x="6312537" y="2615277"/>
            <a:ext cx="350338" cy="1012846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23D66185-90A9-A88F-3C39-9C6197227884}"/>
              </a:ext>
            </a:extLst>
          </p:cNvPr>
          <p:cNvCxnSpPr>
            <a:cxnSpLocks/>
          </p:cNvCxnSpPr>
          <p:nvPr/>
        </p:nvCxnSpPr>
        <p:spPr>
          <a:xfrm flipH="1">
            <a:off x="5789344" y="2650171"/>
            <a:ext cx="235872" cy="228448"/>
          </a:xfrm>
          <a:prstGeom prst="line">
            <a:avLst/>
          </a:prstGeom>
          <a:ln w="2222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8EA6A53B-51BB-A9E2-C865-288B27977D79}"/>
              </a:ext>
            </a:extLst>
          </p:cNvPr>
          <p:cNvCxnSpPr>
            <a:cxnSpLocks/>
          </p:cNvCxnSpPr>
          <p:nvPr/>
        </p:nvCxnSpPr>
        <p:spPr>
          <a:xfrm flipH="1">
            <a:off x="5361747" y="2197615"/>
            <a:ext cx="235872" cy="228448"/>
          </a:xfrm>
          <a:prstGeom prst="line">
            <a:avLst/>
          </a:prstGeom>
          <a:ln w="2222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46CFC7DC-B04B-72B7-1D87-689FEDBDCC68}"/>
              </a:ext>
            </a:extLst>
          </p:cNvPr>
          <p:cNvCxnSpPr>
            <a:cxnSpLocks/>
          </p:cNvCxnSpPr>
          <p:nvPr/>
        </p:nvCxnSpPr>
        <p:spPr>
          <a:xfrm flipH="1" flipV="1">
            <a:off x="5467020" y="2341816"/>
            <a:ext cx="441894" cy="446196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E06ACFC-D4FA-FBEA-D58B-418C3ECD57A7}"/>
                  </a:ext>
                </a:extLst>
              </p:cNvPr>
              <p:cNvSpPr txBox="1"/>
              <p:nvPr/>
            </p:nvSpPr>
            <p:spPr>
              <a:xfrm>
                <a:off x="5391605" y="2480797"/>
                <a:ext cx="360996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E06ACFC-D4FA-FBEA-D58B-418C3ECD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605" y="2480797"/>
                <a:ext cx="360996" cy="3702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组合 55">
            <a:extLst>
              <a:ext uri="{FF2B5EF4-FFF2-40B4-BE49-F238E27FC236}">
                <a16:creationId xmlns:a16="http://schemas.microsoft.com/office/drawing/2014/main" id="{A6CAF1A1-2B54-C13A-CC17-4241002E9E4D}"/>
              </a:ext>
            </a:extLst>
          </p:cNvPr>
          <p:cNvGrpSpPr/>
          <p:nvPr/>
        </p:nvGrpSpPr>
        <p:grpSpPr>
          <a:xfrm>
            <a:off x="7242589" y="3445318"/>
            <a:ext cx="1259840" cy="553674"/>
            <a:chOff x="3234600" y="3615138"/>
            <a:chExt cx="1259840" cy="553674"/>
          </a:xfrm>
        </p:grpSpPr>
        <p:sp>
          <p:nvSpPr>
            <p:cNvPr id="57" name="圆角矩形 56">
              <a:extLst>
                <a:ext uri="{FF2B5EF4-FFF2-40B4-BE49-F238E27FC236}">
                  <a16:creationId xmlns:a16="http://schemas.microsoft.com/office/drawing/2014/main" id="{FA49373C-3504-BEA3-04CF-C4D69EDC5A36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605A00B0-B069-D627-4C54-C8D40F032E96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350F78A1-2469-44EC-9471-EC1CB4997486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390F5AF-6906-2200-66A4-6E1B5098EF55}"/>
              </a:ext>
            </a:extLst>
          </p:cNvPr>
          <p:cNvGrpSpPr/>
          <p:nvPr/>
        </p:nvGrpSpPr>
        <p:grpSpPr>
          <a:xfrm rot="18798067">
            <a:off x="7906164" y="2705418"/>
            <a:ext cx="1259840" cy="553674"/>
            <a:chOff x="3234600" y="3615138"/>
            <a:chExt cx="1259840" cy="553674"/>
          </a:xfrm>
        </p:grpSpPr>
        <p:sp>
          <p:nvSpPr>
            <p:cNvPr id="61" name="圆角矩形 60">
              <a:extLst>
                <a:ext uri="{FF2B5EF4-FFF2-40B4-BE49-F238E27FC236}">
                  <a16:creationId xmlns:a16="http://schemas.microsoft.com/office/drawing/2014/main" id="{16609EF5-7159-8C07-218D-2C3B5B8194E4}"/>
                </a:ext>
              </a:extLst>
            </p:cNvPr>
            <p:cNvSpPr/>
            <p:nvPr/>
          </p:nvSpPr>
          <p:spPr>
            <a:xfrm rot="20119190">
              <a:off x="3234600" y="3790154"/>
              <a:ext cx="1259840" cy="203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F9D56DCB-813E-8230-74A4-D6C39D065A33}"/>
                </a:ext>
              </a:extLst>
            </p:cNvPr>
            <p:cNvSpPr/>
            <p:nvPr/>
          </p:nvSpPr>
          <p:spPr>
            <a:xfrm rot="20119190">
              <a:off x="3321351" y="4067212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FAB77B92-2D9A-F584-24CF-0E3571E0B64E}"/>
                </a:ext>
              </a:extLst>
            </p:cNvPr>
            <p:cNvSpPr/>
            <p:nvPr/>
          </p:nvSpPr>
          <p:spPr>
            <a:xfrm rot="20119190">
              <a:off x="4305127" y="3615138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F6CD5658-7F11-FA69-A326-A17A4D29546B}"/>
              </a:ext>
            </a:extLst>
          </p:cNvPr>
          <p:cNvGrpSpPr/>
          <p:nvPr/>
        </p:nvGrpSpPr>
        <p:grpSpPr>
          <a:xfrm rot="13614798">
            <a:off x="8149562" y="2015688"/>
            <a:ext cx="732539" cy="504265"/>
            <a:chOff x="2078991" y="2260878"/>
            <a:chExt cx="732539" cy="504265"/>
          </a:xfrm>
        </p:grpSpPr>
        <p:sp>
          <p:nvSpPr>
            <p:cNvPr id="65" name="任意形状 64">
              <a:extLst>
                <a:ext uri="{FF2B5EF4-FFF2-40B4-BE49-F238E27FC236}">
                  <a16:creationId xmlns:a16="http://schemas.microsoft.com/office/drawing/2014/main" id="{28FCF985-EF01-66BC-9769-D79B61C6A9A9}"/>
                </a:ext>
              </a:extLst>
            </p:cNvPr>
            <p:cNvSpPr/>
            <p:nvPr/>
          </p:nvSpPr>
          <p:spPr>
            <a:xfrm>
              <a:off x="2078991" y="2411705"/>
              <a:ext cx="553157" cy="203200"/>
            </a:xfrm>
            <a:custGeom>
              <a:avLst/>
              <a:gdLst>
                <a:gd name="connsiteX0" fmla="*/ 101600 w 553157"/>
                <a:gd name="connsiteY0" fmla="*/ 0 h 203200"/>
                <a:gd name="connsiteX1" fmla="*/ 553157 w 553157"/>
                <a:gd name="connsiteY1" fmla="*/ 0 h 203200"/>
                <a:gd name="connsiteX2" fmla="*/ 553157 w 553157"/>
                <a:gd name="connsiteY2" fmla="*/ 203200 h 203200"/>
                <a:gd name="connsiteX3" fmla="*/ 101600 w 553157"/>
                <a:gd name="connsiteY3" fmla="*/ 203200 h 203200"/>
                <a:gd name="connsiteX4" fmla="*/ 0 w 553157"/>
                <a:gd name="connsiteY4" fmla="*/ 101600 h 203200"/>
                <a:gd name="connsiteX5" fmla="*/ 101600 w 553157"/>
                <a:gd name="connsiteY5" fmla="*/ 0 h 20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3157" h="203200">
                  <a:moveTo>
                    <a:pt x="101600" y="0"/>
                  </a:moveTo>
                  <a:lnTo>
                    <a:pt x="553157" y="0"/>
                  </a:lnTo>
                  <a:lnTo>
                    <a:pt x="553157" y="203200"/>
                  </a:ln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15F97E71-2D9E-C32D-C834-A78BD8BE1191}"/>
                </a:ext>
              </a:extLst>
            </p:cNvPr>
            <p:cNvSpPr/>
            <p:nvPr/>
          </p:nvSpPr>
          <p:spPr>
            <a:xfrm>
              <a:off x="2116243" y="2462505"/>
              <a:ext cx="101600" cy="1016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CDF93C0D-B2D6-71B2-28AF-A87834846214}"/>
                </a:ext>
              </a:extLst>
            </p:cNvPr>
            <p:cNvSpPr/>
            <p:nvPr/>
          </p:nvSpPr>
          <p:spPr>
            <a:xfrm>
              <a:off x="2600723" y="2260878"/>
              <a:ext cx="45719" cy="5042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三角形 67">
              <a:extLst>
                <a:ext uri="{FF2B5EF4-FFF2-40B4-BE49-F238E27FC236}">
                  <a16:creationId xmlns:a16="http://schemas.microsoft.com/office/drawing/2014/main" id="{34E42D61-F024-FE5B-4683-3B71905B8CE7}"/>
                </a:ext>
              </a:extLst>
            </p:cNvPr>
            <p:cNvSpPr/>
            <p:nvPr/>
          </p:nvSpPr>
          <p:spPr>
            <a:xfrm rot="5400000">
              <a:off x="2666974" y="2246827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三角形 68">
              <a:extLst>
                <a:ext uri="{FF2B5EF4-FFF2-40B4-BE49-F238E27FC236}">
                  <a16:creationId xmlns:a16="http://schemas.microsoft.com/office/drawing/2014/main" id="{D3597036-D060-FF1C-F332-DF24B6AA53B8}"/>
                </a:ext>
              </a:extLst>
            </p:cNvPr>
            <p:cNvSpPr/>
            <p:nvPr/>
          </p:nvSpPr>
          <p:spPr>
            <a:xfrm rot="5400000">
              <a:off x="2666974" y="2598583"/>
              <a:ext cx="102534" cy="186578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07B3086-4381-12E0-263C-3BFBBB02AA5B}"/>
              </a:ext>
            </a:extLst>
          </p:cNvPr>
          <p:cNvGrpSpPr/>
          <p:nvPr/>
        </p:nvGrpSpPr>
        <p:grpSpPr>
          <a:xfrm>
            <a:off x="7105118" y="3797461"/>
            <a:ext cx="506285" cy="690277"/>
            <a:chOff x="3097129" y="3967281"/>
            <a:chExt cx="506285" cy="690277"/>
          </a:xfrm>
        </p:grpSpPr>
        <p:sp>
          <p:nvSpPr>
            <p:cNvPr id="71" name="任意形状 70">
              <a:extLst>
                <a:ext uri="{FF2B5EF4-FFF2-40B4-BE49-F238E27FC236}">
                  <a16:creationId xmlns:a16="http://schemas.microsoft.com/office/drawing/2014/main" id="{79DAC5F5-8E2B-54A8-1ECE-E4A3B2AC548D}"/>
                </a:ext>
              </a:extLst>
            </p:cNvPr>
            <p:cNvSpPr/>
            <p:nvPr/>
          </p:nvSpPr>
          <p:spPr>
            <a:xfrm>
              <a:off x="3142826" y="3967281"/>
              <a:ext cx="460588" cy="616373"/>
            </a:xfrm>
            <a:custGeom>
              <a:avLst/>
              <a:gdLst>
                <a:gd name="connsiteX0" fmla="*/ 230294 w 460588"/>
                <a:gd name="connsiteY0" fmla="*/ 0 h 616373"/>
                <a:gd name="connsiteX1" fmla="*/ 460588 w 460588"/>
                <a:gd name="connsiteY1" fmla="*/ 230294 h 616373"/>
                <a:gd name="connsiteX2" fmla="*/ 460586 w 460588"/>
                <a:gd name="connsiteY2" fmla="*/ 230314 h 616373"/>
                <a:gd name="connsiteX3" fmla="*/ 460586 w 460588"/>
                <a:gd name="connsiteY3" fmla="*/ 616373 h 616373"/>
                <a:gd name="connsiteX4" fmla="*/ 0 w 460588"/>
                <a:gd name="connsiteY4" fmla="*/ 616373 h 616373"/>
                <a:gd name="connsiteX5" fmla="*/ 0 w 460588"/>
                <a:gd name="connsiteY5" fmla="*/ 230294 h 616373"/>
                <a:gd name="connsiteX6" fmla="*/ 0 w 460588"/>
                <a:gd name="connsiteY6" fmla="*/ 230293 h 616373"/>
                <a:gd name="connsiteX7" fmla="*/ 0 w 460588"/>
                <a:gd name="connsiteY7" fmla="*/ 230293 h 616373"/>
                <a:gd name="connsiteX8" fmla="*/ 4679 w 460588"/>
                <a:gd name="connsiteY8" fmla="*/ 183882 h 616373"/>
                <a:gd name="connsiteX9" fmla="*/ 230294 w 460588"/>
                <a:gd name="connsiteY9" fmla="*/ 0 h 61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588" h="616373">
                  <a:moveTo>
                    <a:pt x="230294" y="0"/>
                  </a:moveTo>
                  <a:cubicBezTo>
                    <a:pt x="357482" y="0"/>
                    <a:pt x="460588" y="103106"/>
                    <a:pt x="460588" y="230294"/>
                  </a:cubicBezTo>
                  <a:lnTo>
                    <a:pt x="460586" y="230314"/>
                  </a:lnTo>
                  <a:lnTo>
                    <a:pt x="460586" y="616373"/>
                  </a:lnTo>
                  <a:lnTo>
                    <a:pt x="0" y="616373"/>
                  </a:lnTo>
                  <a:lnTo>
                    <a:pt x="0" y="230294"/>
                  </a:lnTo>
                  <a:lnTo>
                    <a:pt x="0" y="230293"/>
                  </a:lnTo>
                  <a:lnTo>
                    <a:pt x="0" y="230293"/>
                  </a:lnTo>
                  <a:lnTo>
                    <a:pt x="4679" y="183882"/>
                  </a:lnTo>
                  <a:cubicBezTo>
                    <a:pt x="26153" y="78941"/>
                    <a:pt x="119005" y="0"/>
                    <a:pt x="230294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30EE985F-5E53-C16D-11EA-158F7196E3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7129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1B315B29-1151-F95F-4FAC-53284D5BA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17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70BD3F26-ACA4-DF0F-902D-FB41EFAD7C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931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7148F084-6AE5-0085-8720-99690F9BC0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944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9EC162F0-3717-1096-304A-9A838C62F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584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C5C9FFC6-BE0D-8A9E-B1CC-EE36CAA2CD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9720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1811A014-E372-A906-5C94-88AC945BBC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856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7ADA40D6-C8EB-00B9-E0FD-3E3CC64E8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992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FD7069B-5AF6-AEA7-0BBF-47554A1048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0128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B7E1DFD7-998F-4412-794C-C49762D925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0261" y="4583654"/>
              <a:ext cx="52047" cy="7390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05047AC-E009-5903-2D42-95D3983B92ED}"/>
                  </a:ext>
                </a:extLst>
              </p:cNvPr>
              <p:cNvSpPr txBox="1"/>
              <p:nvPr/>
            </p:nvSpPr>
            <p:spPr>
              <a:xfrm>
                <a:off x="7842755" y="3517606"/>
                <a:ext cx="478528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i="1" dirty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003399"/>
                  </a:solidFill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205047AC-E009-5903-2D42-95D3983B9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755" y="3517606"/>
                <a:ext cx="478528" cy="3767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13D69985-A731-BF32-E760-0C18AFA448B4}"/>
              </a:ext>
            </a:extLst>
          </p:cNvPr>
          <p:cNvGrpSpPr/>
          <p:nvPr/>
        </p:nvGrpSpPr>
        <p:grpSpPr>
          <a:xfrm>
            <a:off x="7380140" y="3366590"/>
            <a:ext cx="682306" cy="585533"/>
            <a:chOff x="5301376" y="3462506"/>
            <a:chExt cx="682306" cy="585533"/>
          </a:xfrm>
        </p:grpSpPr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9D424D36-6262-608A-CA87-FE91B9412A44}"/>
                </a:ext>
              </a:extLst>
            </p:cNvPr>
            <p:cNvCxnSpPr>
              <a:cxnSpLocks/>
            </p:cNvCxnSpPr>
            <p:nvPr/>
          </p:nvCxnSpPr>
          <p:spPr>
            <a:xfrm>
              <a:off x="5301376" y="4043675"/>
              <a:ext cx="682306" cy="0"/>
            </a:xfrm>
            <a:prstGeom prst="line">
              <a:avLst/>
            </a:prstGeom>
            <a:ln w="22225">
              <a:solidFill>
                <a:schemeClr val="tx2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73CD6FE8-F933-FF18-82BA-20A0DF1E69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1376" y="3462506"/>
              <a:ext cx="0" cy="585533"/>
            </a:xfrm>
            <a:prstGeom prst="line">
              <a:avLst/>
            </a:prstGeom>
            <a:ln w="22225">
              <a:solidFill>
                <a:schemeClr val="accent3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2E5BE48-FE04-B72E-7774-4595F80F64E4}"/>
                  </a:ext>
                </a:extLst>
              </p:cNvPr>
              <p:cNvSpPr txBox="1"/>
              <p:nvPr/>
            </p:nvSpPr>
            <p:spPr>
              <a:xfrm>
                <a:off x="6805952" y="3111350"/>
                <a:ext cx="441146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i="1" dirty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altLang="zh-CN" i="1" dirty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2E5BE48-FE04-B72E-7774-4595F80F6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952" y="3111350"/>
                <a:ext cx="441146" cy="376770"/>
              </a:xfrm>
              <a:prstGeom prst="rect">
                <a:avLst/>
              </a:prstGeom>
              <a:blipFill>
                <a:blip r:embed="rId7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0D469C9D-C5FD-7947-4DC0-5C6D644069B6}"/>
                  </a:ext>
                </a:extLst>
              </p:cNvPr>
              <p:cNvSpPr txBox="1"/>
              <p:nvPr/>
            </p:nvSpPr>
            <p:spPr>
              <a:xfrm>
                <a:off x="7172590" y="3010315"/>
                <a:ext cx="446468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b="0" i="1" dirty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0D469C9D-C5FD-7947-4DC0-5C6D64406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590" y="3010315"/>
                <a:ext cx="446468" cy="376770"/>
              </a:xfrm>
              <a:prstGeom prst="rect">
                <a:avLst/>
              </a:prstGeom>
              <a:blipFill>
                <a:blip r:embed="rId8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7EC66DE-3275-12E6-5EE6-6B7F7D57C37A}"/>
                  </a:ext>
                </a:extLst>
              </p:cNvPr>
              <p:cNvSpPr txBox="1"/>
              <p:nvPr/>
            </p:nvSpPr>
            <p:spPr>
              <a:xfrm>
                <a:off x="7996579" y="3945899"/>
                <a:ext cx="483850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b="0" i="1" dirty="0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altLang="zh-CN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003399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7EC66DE-3275-12E6-5EE6-6B7F7D57C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579" y="3945899"/>
                <a:ext cx="483850" cy="376770"/>
              </a:xfrm>
              <a:prstGeom prst="rect">
                <a:avLst/>
              </a:prstGeom>
              <a:blipFill>
                <a:blip r:embed="rId9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9186A324-5847-7BCC-E97D-33B6D39ABFFB}"/>
              </a:ext>
            </a:extLst>
          </p:cNvPr>
          <p:cNvGrpSpPr/>
          <p:nvPr/>
        </p:nvGrpSpPr>
        <p:grpSpPr>
          <a:xfrm rot="20089482">
            <a:off x="7223275" y="3255759"/>
            <a:ext cx="682306" cy="585533"/>
            <a:chOff x="5301376" y="3462506"/>
            <a:chExt cx="682306" cy="585533"/>
          </a:xfrm>
        </p:grpSpPr>
        <p:cxnSp>
          <p:nvCxnSpPr>
            <p:cNvPr id="90" name="直线连接符 89">
              <a:extLst>
                <a:ext uri="{FF2B5EF4-FFF2-40B4-BE49-F238E27FC236}">
                  <a16:creationId xmlns:a16="http://schemas.microsoft.com/office/drawing/2014/main" id="{30E7238E-A629-BC45-DE68-1654B0680331}"/>
                </a:ext>
              </a:extLst>
            </p:cNvPr>
            <p:cNvCxnSpPr>
              <a:cxnSpLocks/>
            </p:cNvCxnSpPr>
            <p:nvPr/>
          </p:nvCxnSpPr>
          <p:spPr>
            <a:xfrm>
              <a:off x="5301376" y="4043675"/>
              <a:ext cx="682306" cy="0"/>
            </a:xfrm>
            <a:prstGeom prst="line">
              <a:avLst/>
            </a:prstGeom>
            <a:ln w="22225">
              <a:solidFill>
                <a:schemeClr val="tx2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12AB5B84-391B-1B79-EAEA-0008D84C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1376" y="3462506"/>
              <a:ext cx="0" cy="585533"/>
            </a:xfrm>
            <a:prstGeom prst="line">
              <a:avLst/>
            </a:prstGeom>
            <a:ln w="22225">
              <a:solidFill>
                <a:schemeClr val="accent3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35BFE135-34A3-6959-1424-62689FABAB7D}"/>
              </a:ext>
            </a:extLst>
          </p:cNvPr>
          <p:cNvGrpSpPr/>
          <p:nvPr/>
        </p:nvGrpSpPr>
        <p:grpSpPr>
          <a:xfrm rot="17312166">
            <a:off x="7858648" y="2794584"/>
            <a:ext cx="682306" cy="585533"/>
            <a:chOff x="5301376" y="3462506"/>
            <a:chExt cx="682306" cy="585533"/>
          </a:xfrm>
        </p:grpSpPr>
        <p:cxnSp>
          <p:nvCxnSpPr>
            <p:cNvPr id="93" name="直线连接符 92">
              <a:extLst>
                <a:ext uri="{FF2B5EF4-FFF2-40B4-BE49-F238E27FC236}">
                  <a16:creationId xmlns:a16="http://schemas.microsoft.com/office/drawing/2014/main" id="{F7C3BAF4-24AC-E140-D315-A2CE00D56B07}"/>
                </a:ext>
              </a:extLst>
            </p:cNvPr>
            <p:cNvCxnSpPr>
              <a:cxnSpLocks/>
            </p:cNvCxnSpPr>
            <p:nvPr/>
          </p:nvCxnSpPr>
          <p:spPr>
            <a:xfrm>
              <a:off x="5301376" y="4043675"/>
              <a:ext cx="682306" cy="0"/>
            </a:xfrm>
            <a:prstGeom prst="line">
              <a:avLst/>
            </a:prstGeom>
            <a:ln w="22225">
              <a:solidFill>
                <a:schemeClr val="tx2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0D6F65F8-93AC-75AB-349B-5B3486B0B5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1376" y="3462506"/>
              <a:ext cx="0" cy="585533"/>
            </a:xfrm>
            <a:prstGeom prst="line">
              <a:avLst/>
            </a:prstGeom>
            <a:ln w="22225">
              <a:solidFill>
                <a:schemeClr val="accent3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6C37F21F-BAF9-3EB4-C8BF-256579993AD4}"/>
                  </a:ext>
                </a:extLst>
              </p:cNvPr>
              <p:cNvSpPr txBox="1"/>
              <p:nvPr/>
            </p:nvSpPr>
            <p:spPr>
              <a:xfrm>
                <a:off x="8466055" y="2578852"/>
                <a:ext cx="483850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b="0" i="1" dirty="0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altLang="zh-CN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003399"/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6C37F21F-BAF9-3EB4-C8BF-256579993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055" y="2578852"/>
                <a:ext cx="483850" cy="376770"/>
              </a:xfrm>
              <a:prstGeom prst="rect">
                <a:avLst/>
              </a:prstGeom>
              <a:blipFill>
                <a:blip r:embed="rId10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ABA16417-9F54-35E1-7B86-C8E7080499D5}"/>
                  </a:ext>
                </a:extLst>
              </p:cNvPr>
              <p:cNvSpPr txBox="1"/>
              <p:nvPr/>
            </p:nvSpPr>
            <p:spPr>
              <a:xfrm>
                <a:off x="7549390" y="2922965"/>
                <a:ext cx="446469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ABA16417-9F54-35E1-7B86-C8E708049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390" y="2922965"/>
                <a:ext cx="446469" cy="376770"/>
              </a:xfrm>
              <a:prstGeom prst="rect">
                <a:avLst/>
              </a:prstGeom>
              <a:blipFill>
                <a:blip r:embed="rId11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组合 96">
            <a:extLst>
              <a:ext uri="{FF2B5EF4-FFF2-40B4-BE49-F238E27FC236}">
                <a16:creationId xmlns:a16="http://schemas.microsoft.com/office/drawing/2014/main" id="{E5F2FD3E-8B07-7436-5531-011BF6FD2F33}"/>
              </a:ext>
            </a:extLst>
          </p:cNvPr>
          <p:cNvGrpSpPr/>
          <p:nvPr/>
        </p:nvGrpSpPr>
        <p:grpSpPr>
          <a:xfrm rot="13615991">
            <a:off x="7928876" y="2126779"/>
            <a:ext cx="682306" cy="585533"/>
            <a:chOff x="5301376" y="3462506"/>
            <a:chExt cx="682306" cy="585533"/>
          </a:xfrm>
        </p:grpSpPr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65E6B3D4-1F2E-41AC-65B3-ECFF22CD2495}"/>
                </a:ext>
              </a:extLst>
            </p:cNvPr>
            <p:cNvCxnSpPr>
              <a:cxnSpLocks/>
            </p:cNvCxnSpPr>
            <p:nvPr/>
          </p:nvCxnSpPr>
          <p:spPr>
            <a:xfrm>
              <a:off x="5301376" y="4043675"/>
              <a:ext cx="682306" cy="0"/>
            </a:xfrm>
            <a:prstGeom prst="line">
              <a:avLst/>
            </a:prstGeom>
            <a:ln w="22225">
              <a:solidFill>
                <a:schemeClr val="tx2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C2C00EEC-95C3-989F-5E0C-B0F63DADE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1376" y="3462506"/>
              <a:ext cx="0" cy="585533"/>
            </a:xfrm>
            <a:prstGeom prst="line">
              <a:avLst/>
            </a:prstGeom>
            <a:ln w="22225">
              <a:solidFill>
                <a:schemeClr val="accent3"/>
              </a:solidFill>
              <a:prstDash val="soli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BE967092-B740-9DDF-7859-F11FBA7B242C}"/>
                  </a:ext>
                </a:extLst>
              </p:cNvPr>
              <p:cNvSpPr txBox="1"/>
              <p:nvPr/>
            </p:nvSpPr>
            <p:spPr>
              <a:xfrm>
                <a:off x="7903909" y="2854834"/>
                <a:ext cx="446469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i="1" dirty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BE967092-B740-9DDF-7859-F11FBA7B2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909" y="2854834"/>
                <a:ext cx="446469" cy="376770"/>
              </a:xfrm>
              <a:prstGeom prst="rect">
                <a:avLst/>
              </a:prstGeom>
              <a:blipFill>
                <a:blip r:embed="rId12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5C0E4DE3-E0F1-A30F-2D27-D42B502ACC2D}"/>
                  </a:ext>
                </a:extLst>
              </p:cNvPr>
              <p:cNvSpPr txBox="1"/>
              <p:nvPr/>
            </p:nvSpPr>
            <p:spPr>
              <a:xfrm>
                <a:off x="7865021" y="1702203"/>
                <a:ext cx="483850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altLang="zh-CN" i="1" dirty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altLang="zh-CN" b="0" i="1" dirty="0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altLang="zh-CN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003399"/>
                  </a:solidFill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5C0E4DE3-E0F1-A30F-2D27-D42B502AC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021" y="1702203"/>
                <a:ext cx="483850" cy="376770"/>
              </a:xfrm>
              <a:prstGeom prst="rect">
                <a:avLst/>
              </a:prstGeom>
              <a:blipFill>
                <a:blip r:embed="rId13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2A709908-E380-88F9-6FED-D7232664E282}"/>
                  </a:ext>
                </a:extLst>
              </p:cNvPr>
              <p:cNvSpPr txBox="1"/>
              <p:nvPr/>
            </p:nvSpPr>
            <p:spPr>
              <a:xfrm>
                <a:off x="6331201" y="2854340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2A709908-E380-88F9-6FED-D7232664E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201" y="2854340"/>
                <a:ext cx="360996" cy="3702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1569EA5F-BE65-A49F-B1CD-EAE661E2C37C}"/>
                  </a:ext>
                </a:extLst>
              </p:cNvPr>
              <p:cNvSpPr txBox="1"/>
              <p:nvPr/>
            </p:nvSpPr>
            <p:spPr>
              <a:xfrm>
                <a:off x="5032210" y="3121170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1569EA5F-BE65-A49F-B1CD-EAE661E2C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210" y="3121170"/>
                <a:ext cx="360996" cy="37029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占位符 6">
                <a:extLst>
                  <a:ext uri="{FF2B5EF4-FFF2-40B4-BE49-F238E27FC236}">
                    <a16:creationId xmlns:a16="http://schemas.microsoft.com/office/drawing/2014/main" id="{56F80F14-3C89-92D8-B5F4-97DC3CD7DE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332432"/>
                <a:ext cx="4060308" cy="108501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文本占位符 6">
                <a:extLst>
                  <a:ext uri="{FF2B5EF4-FFF2-40B4-BE49-F238E27FC236}">
                    <a16:creationId xmlns:a16="http://schemas.microsoft.com/office/drawing/2014/main" id="{56F80F14-3C89-92D8-B5F4-97DC3CD7D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332432"/>
                <a:ext cx="4060308" cy="1085014"/>
              </a:xfrm>
              <a:prstGeom prst="rect">
                <a:avLst/>
              </a:prstGeom>
              <a:blipFill>
                <a:blip r:embed="rId16"/>
                <a:stretch>
                  <a:fillRect t="-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占位符 6">
                <a:extLst>
                  <a:ext uri="{FF2B5EF4-FFF2-40B4-BE49-F238E27FC236}">
                    <a16:creationId xmlns:a16="http://schemas.microsoft.com/office/drawing/2014/main" id="{63FFEEFE-EDB0-C2E5-DE34-EF8F8A2897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3293352"/>
                <a:ext cx="4057529" cy="1194386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GB" altLang="zh-CN" dirty="0"/>
                  <a:t>where </a:t>
                </a:r>
              </a:p>
              <a:p>
                <a:pPr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altLang="zh-CN" b="0" dirty="0"/>
              </a:p>
              <a:p>
                <a:pPr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altLang="zh-CN" b="0" dirty="0"/>
              </a:p>
              <a:p>
                <a:pPr fontAlgn="auto">
                  <a:spcAft>
                    <a:spcPts val="0"/>
                  </a:spcAft>
                </a:pPr>
                <a:r>
                  <a:rPr lang="en-GB" altLang="zh-CN" dirty="0"/>
                  <a:t>and so on.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6" name="文本占位符 6">
                <a:extLst>
                  <a:ext uri="{FF2B5EF4-FFF2-40B4-BE49-F238E27FC236}">
                    <a16:creationId xmlns:a16="http://schemas.microsoft.com/office/drawing/2014/main" id="{63FFEEFE-EDB0-C2E5-DE34-EF8F8A289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293352"/>
                <a:ext cx="4057529" cy="1194386"/>
              </a:xfrm>
              <a:prstGeom prst="rect">
                <a:avLst/>
              </a:prstGeom>
              <a:blipFill>
                <a:blip r:embed="rId17"/>
                <a:stretch>
                  <a:fillRect l="-623" t="-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54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F4DF346-897A-7067-9711-80B25B2D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(algebraic solution)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占位符 6">
                <a:extLst>
                  <a:ext uri="{FF2B5EF4-FFF2-40B4-BE49-F238E27FC236}">
                    <a16:creationId xmlns:a16="http://schemas.microsoft.com/office/drawing/2014/main" id="{55D40C58-9988-C910-E139-8E3595F4B01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30"/>
                <a:ext cx="7781254" cy="787482"/>
              </a:xfrm>
            </p:spPr>
            <p:txBody>
              <a:bodyPr/>
              <a:lstStyle/>
              <a:p>
                <a:r>
                  <a:rPr lang="en-GB" altLang="zh-CN" dirty="0"/>
                  <a:t>Suppose the necessary transformations have been done such that the goal point is a specification of the wrist frame relative to the base frame,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sPre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占位符 6">
                <a:extLst>
                  <a:ext uri="{FF2B5EF4-FFF2-40B4-BE49-F238E27FC236}">
                    <a16:creationId xmlns:a16="http://schemas.microsoft.com/office/drawing/2014/main" id="{55D40C58-9988-C910-E139-8E3595F4B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30"/>
                <a:ext cx="7781254" cy="787482"/>
              </a:xfrm>
              <a:blipFill>
                <a:blip r:embed="rId2"/>
                <a:stretch>
                  <a:fillRect l="-326"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占位符 6">
                <a:extLst>
                  <a:ext uri="{FF2B5EF4-FFF2-40B4-BE49-F238E27FC236}">
                    <a16:creationId xmlns:a16="http://schemas.microsoft.com/office/drawing/2014/main" id="{56F80F14-3C89-92D8-B5F4-97DC3CD7DE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152127"/>
                <a:ext cx="4060308" cy="108501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Pre>
                            <m:sPre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sPre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文本占位符 6">
                <a:extLst>
                  <a:ext uri="{FF2B5EF4-FFF2-40B4-BE49-F238E27FC236}">
                    <a16:creationId xmlns:a16="http://schemas.microsoft.com/office/drawing/2014/main" id="{56F80F14-3C89-92D8-B5F4-97DC3CD7D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152127"/>
                <a:ext cx="4060308" cy="1085014"/>
              </a:xfrm>
              <a:prstGeom prst="rect">
                <a:avLst/>
              </a:prstGeom>
              <a:blipFill>
                <a:blip r:embed="rId3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占位符 6">
                <a:extLst>
                  <a:ext uri="{FF2B5EF4-FFF2-40B4-BE49-F238E27FC236}">
                    <a16:creationId xmlns:a16="http://schemas.microsoft.com/office/drawing/2014/main" id="{63FFEEFE-EDB0-C2E5-DE34-EF8F8A2897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3326345"/>
                <a:ext cx="7781254" cy="1194386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GB" altLang="zh-CN" dirty="0"/>
                  <a:t>So, the goal is to find a solution of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/>
                  <a:t>}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GB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GB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  <m:e>
                            <m:r>
                              <a:rPr lang="en-GB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sPre>
                      </m:e>
                      <m:sub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altLang="zh-CN" i="1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CN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b="0" dirty="0"/>
                  <a:t>.</a:t>
                </a:r>
              </a:p>
            </p:txBody>
          </p:sp>
        </mc:Choice>
        <mc:Fallback xmlns="">
          <p:sp>
            <p:nvSpPr>
              <p:cNvPr id="106" name="文本占位符 6">
                <a:extLst>
                  <a:ext uri="{FF2B5EF4-FFF2-40B4-BE49-F238E27FC236}">
                    <a16:creationId xmlns:a16="http://schemas.microsoft.com/office/drawing/2014/main" id="{63FFEEFE-EDB0-C2E5-DE34-EF8F8A289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326345"/>
                <a:ext cx="7781254" cy="1194386"/>
              </a:xfrm>
              <a:prstGeom prst="rect">
                <a:avLst/>
              </a:prstGeom>
              <a:blipFill>
                <a:blip r:embed="rId4"/>
                <a:stretch>
                  <a:fillRect l="-326" t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6">
                <a:extLst>
                  <a:ext uri="{FF2B5EF4-FFF2-40B4-BE49-F238E27FC236}">
                    <a16:creationId xmlns:a16="http://schemas.microsoft.com/office/drawing/2014/main" id="{0C67B85C-0213-B5BD-993A-73EDD734CB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3972" y="2152127"/>
                <a:ext cx="3855294" cy="108501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CN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GB" altLang="zh-CN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GB" altLang="zh-CN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GB" altLang="zh-CN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altLang="zh-CN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占位符 6">
                <a:extLst>
                  <a:ext uri="{FF2B5EF4-FFF2-40B4-BE49-F238E27FC236}">
                    <a16:creationId xmlns:a16="http://schemas.microsoft.com/office/drawing/2014/main" id="{0C67B85C-0213-B5BD-993A-73EDD734C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972" y="2152127"/>
                <a:ext cx="3855294" cy="1085014"/>
              </a:xfrm>
              <a:prstGeom prst="rect">
                <a:avLst/>
              </a:prstGeom>
              <a:blipFill>
                <a:blip r:embed="rId5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252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F4DF346-897A-7067-9711-80B25B2D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(algebraic solution)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占位符 6">
                <a:extLst>
                  <a:ext uri="{FF2B5EF4-FFF2-40B4-BE49-F238E27FC236}">
                    <a16:creationId xmlns:a16="http://schemas.microsoft.com/office/drawing/2014/main" id="{55D40C58-9988-C910-E139-8E3595F4B01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30"/>
                <a:ext cx="7781254" cy="787482"/>
              </a:xfrm>
            </p:spPr>
            <p:txBody>
              <a:bodyPr/>
              <a:lstStyle/>
              <a:p>
                <a:r>
                  <a:rPr lang="en-US" altLang="zh-CN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US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GB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GB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  <m:e>
                            <m:r>
                              <a:rPr lang="en-GB" altLang="zh-CN" i="1">
                                <a:solidFill>
                                  <a:srgbClr val="003399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sPre>
                      </m:e>
                      <m:sub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GB" altLang="zh-CN" i="1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CN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r>
                          <a:rPr lang="en-GB" altLang="zh-CN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US" altLang="zh-CN" dirty="0"/>
                  <a:t>, we have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占位符 6">
                <a:extLst>
                  <a:ext uri="{FF2B5EF4-FFF2-40B4-BE49-F238E27FC236}">
                    <a16:creationId xmlns:a16="http://schemas.microsoft.com/office/drawing/2014/main" id="{55D40C58-9988-C910-E139-8E3595F4B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30"/>
                <a:ext cx="7781254" cy="787482"/>
              </a:xfrm>
              <a:blipFill>
                <a:blip r:embed="rId3"/>
                <a:stretch>
                  <a:fillRect l="-326" t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占位符 6">
                <a:extLst>
                  <a:ext uri="{FF2B5EF4-FFF2-40B4-BE49-F238E27FC236}">
                    <a16:creationId xmlns:a16="http://schemas.microsoft.com/office/drawing/2014/main" id="{56F80F14-3C89-92D8-B5F4-97DC3CD7DE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8842" y="1912850"/>
                <a:ext cx="5038054" cy="97743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文本占位符 6">
                <a:extLst>
                  <a:ext uri="{FF2B5EF4-FFF2-40B4-BE49-F238E27FC236}">
                    <a16:creationId xmlns:a16="http://schemas.microsoft.com/office/drawing/2014/main" id="{56F80F14-3C89-92D8-B5F4-97DC3CD7D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842" y="1912850"/>
                <a:ext cx="5038054" cy="977439"/>
              </a:xfrm>
              <a:prstGeom prst="rect">
                <a:avLst/>
              </a:prstGeom>
              <a:blipFill>
                <a:blip r:embed="rId4"/>
                <a:stretch>
                  <a:fillRect t="-3846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6">
                <a:extLst>
                  <a:ext uri="{FF2B5EF4-FFF2-40B4-BE49-F238E27FC236}">
                    <a16:creationId xmlns:a16="http://schemas.microsoft.com/office/drawing/2014/main" id="{891EE49A-B503-6300-7458-DB7A51B9F2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6949" y="2987853"/>
                <a:ext cx="2256218" cy="158838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 </a:t>
                </a:r>
              </a:p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 </a:t>
                </a:r>
              </a:p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 </a:t>
                </a:r>
              </a:p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占位符 6">
                <a:extLst>
                  <a:ext uri="{FF2B5EF4-FFF2-40B4-BE49-F238E27FC236}">
                    <a16:creationId xmlns:a16="http://schemas.microsoft.com/office/drawing/2014/main" id="{891EE49A-B503-6300-7458-DB7A51B9F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949" y="2987853"/>
                <a:ext cx="2256218" cy="15883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2ADABF7-6565-BB83-C30B-443781C62B22}"/>
                  </a:ext>
                </a:extLst>
              </p:cNvPr>
              <p:cNvSpPr txBox="1"/>
              <p:nvPr/>
            </p:nvSpPr>
            <p:spPr>
              <a:xfrm>
                <a:off x="986874" y="3597380"/>
                <a:ext cx="510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2ADABF7-6565-BB83-C30B-443781C62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74" y="3597380"/>
                <a:ext cx="5100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右大括号 8">
            <a:extLst>
              <a:ext uri="{FF2B5EF4-FFF2-40B4-BE49-F238E27FC236}">
                <a16:creationId xmlns:a16="http://schemas.microsoft.com/office/drawing/2014/main" id="{CC3030DE-BD02-0D02-6DD9-3B1CFD261102}"/>
              </a:ext>
            </a:extLst>
          </p:cNvPr>
          <p:cNvSpPr/>
          <p:nvPr/>
        </p:nvSpPr>
        <p:spPr>
          <a:xfrm>
            <a:off x="2573542" y="3101728"/>
            <a:ext cx="103031" cy="565760"/>
          </a:xfrm>
          <a:prstGeom prst="rightBrace">
            <a:avLst>
              <a:gd name="adj1" fmla="val 79210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77ABF6-852C-1A64-517D-0EFE807630F9}"/>
                  </a:ext>
                </a:extLst>
              </p:cNvPr>
              <p:cNvSpPr txBox="1"/>
              <p:nvPr/>
            </p:nvSpPr>
            <p:spPr>
              <a:xfrm>
                <a:off x="2724328" y="3112989"/>
                <a:ext cx="33277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1600" b="0" dirty="0">
                    <a:solidFill>
                      <a:schemeClr val="tx1"/>
                    </a:solidFill>
                  </a:rPr>
                  <a:t>The two equations </a:t>
                </a:r>
                <a:r>
                  <a:rPr kumimoji="1" lang="en-GB" altLang="zh-CN" sz="1600" dirty="0"/>
                  <a:t>express</a:t>
                </a:r>
                <a:r>
                  <a:rPr lang="en-GB" altLang="zh-CN" sz="1600" b="0" dirty="0">
                    <a:solidFill>
                      <a:schemeClr val="tx1"/>
                    </a:solidFill>
                  </a:rPr>
                  <a:t> the same constrain: </a:t>
                </a:r>
                <a14:m>
                  <m:oMath xmlns:m="http://schemas.openxmlformats.org/officeDocument/2006/math">
                    <m:r>
                      <a:rPr lang="en-GB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sz="1600" dirty="0">
                    <a:solidFill>
                      <a:schemeClr val="tx1"/>
                    </a:solidFill>
                  </a:rPr>
                  <a:t>+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600" dirty="0">
                    <a:solidFill>
                      <a:schemeClr val="tx1"/>
                    </a:solidFill>
                  </a:rPr>
                  <a:t>+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GB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77ABF6-852C-1A64-517D-0EFE80763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328" y="3112989"/>
                <a:ext cx="3327717" cy="584775"/>
              </a:xfrm>
              <a:prstGeom prst="rect">
                <a:avLst/>
              </a:prstGeom>
              <a:blipFill>
                <a:blip r:embed="rId7"/>
                <a:stretch>
                  <a:fillRect l="-760" t="-4255" b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大括号 12">
            <a:extLst>
              <a:ext uri="{FF2B5EF4-FFF2-40B4-BE49-F238E27FC236}">
                <a16:creationId xmlns:a16="http://schemas.microsoft.com/office/drawing/2014/main" id="{17612F3A-FBDA-2048-B410-A97183DB67E5}"/>
              </a:ext>
            </a:extLst>
          </p:cNvPr>
          <p:cNvSpPr/>
          <p:nvPr/>
        </p:nvSpPr>
        <p:spPr>
          <a:xfrm>
            <a:off x="3099525" y="3886655"/>
            <a:ext cx="103031" cy="565760"/>
          </a:xfrm>
          <a:prstGeom prst="rightBrace">
            <a:avLst>
              <a:gd name="adj1" fmla="val 79210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AE49C1-31CB-BC8E-B692-E59E3E8BE673}"/>
                  </a:ext>
                </a:extLst>
              </p:cNvPr>
              <p:cNvSpPr txBox="1"/>
              <p:nvPr/>
            </p:nvSpPr>
            <p:spPr>
              <a:xfrm>
                <a:off x="3250311" y="4000258"/>
                <a:ext cx="36764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1600" b="0" dirty="0">
                    <a:solidFill>
                      <a:schemeClr val="tx1"/>
                    </a:solidFill>
                  </a:rPr>
                  <a:t>The two equations </a:t>
                </a:r>
                <a:r>
                  <a:rPr kumimoji="1" lang="en-GB" altLang="zh-CN" sz="1600" dirty="0"/>
                  <a:t>two unknows: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sz="1600" dirty="0">
                    <a:solidFill>
                      <a:schemeClr val="tx1"/>
                    </a:solidFill>
                  </a:rPr>
                  <a:t>,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altLang="zh-C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AE49C1-31CB-BC8E-B692-E59E3E8BE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311" y="4000258"/>
                <a:ext cx="3676471" cy="338554"/>
              </a:xfrm>
              <a:prstGeom prst="rect">
                <a:avLst/>
              </a:prstGeom>
              <a:blipFill>
                <a:blip r:embed="rId8"/>
                <a:stretch>
                  <a:fillRect l="-687" t="-357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40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10" grpId="0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F4DF346-897A-7067-9711-80B25B2D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(algebraic solution)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6">
                <a:extLst>
                  <a:ext uri="{FF2B5EF4-FFF2-40B4-BE49-F238E27FC236}">
                    <a16:creationId xmlns:a16="http://schemas.microsoft.com/office/drawing/2014/main" id="{891EE49A-B503-6300-7458-DB7A51B9F2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904" y="1505345"/>
                <a:ext cx="2256218" cy="791128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 </a:t>
                </a:r>
              </a:p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占位符 6">
                <a:extLst>
                  <a:ext uri="{FF2B5EF4-FFF2-40B4-BE49-F238E27FC236}">
                    <a16:creationId xmlns:a16="http://schemas.microsoft.com/office/drawing/2014/main" id="{891EE49A-B503-6300-7458-DB7A51B9F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04" y="1505345"/>
                <a:ext cx="2256218" cy="791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B59CA7C-8710-B857-31F0-59134CFCD652}"/>
                  </a:ext>
                </a:extLst>
              </p:cNvPr>
              <p:cNvSpPr txBox="1"/>
              <p:nvPr/>
            </p:nvSpPr>
            <p:spPr>
              <a:xfrm rot="5400000">
                <a:off x="3288564" y="2130597"/>
                <a:ext cx="510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kumimoji="1" lang="zh-CN" alt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B59CA7C-8710-B857-31F0-59134CFCD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288564" y="2130597"/>
                <a:ext cx="5100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大括号 10">
            <a:extLst>
              <a:ext uri="{FF2B5EF4-FFF2-40B4-BE49-F238E27FC236}">
                <a16:creationId xmlns:a16="http://schemas.microsoft.com/office/drawing/2014/main" id="{8EA97800-0E51-235E-A129-B6E15647EA33}"/>
              </a:ext>
            </a:extLst>
          </p:cNvPr>
          <p:cNvSpPr/>
          <p:nvPr/>
        </p:nvSpPr>
        <p:spPr>
          <a:xfrm>
            <a:off x="2071836" y="1618029"/>
            <a:ext cx="103031" cy="565760"/>
          </a:xfrm>
          <a:prstGeom prst="rightBrace">
            <a:avLst>
              <a:gd name="adj1" fmla="val 79210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4D6AAB-16BF-0896-01C2-56859A34F58B}"/>
                  </a:ext>
                </a:extLst>
              </p:cNvPr>
              <p:cNvSpPr txBox="1"/>
              <p:nvPr/>
            </p:nvSpPr>
            <p:spPr>
              <a:xfrm>
                <a:off x="2214582" y="1741820"/>
                <a:ext cx="6678565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GB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GB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GB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GB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E4D6AAB-16BF-0896-01C2-56859A34F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582" y="1741820"/>
                <a:ext cx="6678565" cy="373051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9A05E67-3212-E2D1-5633-A9067E91EC08}"/>
                  </a:ext>
                </a:extLst>
              </p:cNvPr>
              <p:cNvSpPr txBox="1"/>
              <p:nvPr/>
            </p:nvSpPr>
            <p:spPr>
              <a:xfrm>
                <a:off x="3543601" y="2145986"/>
                <a:ext cx="19125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altLang="zh-CN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altLang="zh-CN" sz="1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altLang="zh-CN" sz="16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altLang="zh-CN" sz="1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altLang="zh-CN" sz="1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altLang="zh-CN" sz="1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altLang="zh-CN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altLang="zh-CN" sz="1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altLang="zh-CN" sz="16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altLang="zh-CN" sz="16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altLang="zh-CN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altLang="zh-CN" sz="1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1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9A05E67-3212-E2D1-5633-A9067E91E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601" y="2145986"/>
                <a:ext cx="191251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5BCFB6C-F12F-EFD7-6BF1-5394182BC447}"/>
                  </a:ext>
                </a:extLst>
              </p:cNvPr>
              <p:cNvSpPr txBox="1"/>
              <p:nvPr/>
            </p:nvSpPr>
            <p:spPr>
              <a:xfrm>
                <a:off x="2214582" y="2515654"/>
                <a:ext cx="5173446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altLang="zh-CN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5BCFB6C-F12F-EFD7-6BF1-5394182BC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582" y="2515654"/>
                <a:ext cx="5173446" cy="373051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64153B4-AC96-F460-32A5-5D4AD4AF0878}"/>
                  </a:ext>
                </a:extLst>
              </p:cNvPr>
              <p:cNvSpPr txBox="1"/>
              <p:nvPr/>
            </p:nvSpPr>
            <p:spPr>
              <a:xfrm>
                <a:off x="3529918" y="2919820"/>
                <a:ext cx="40715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1600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1600" i="1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GB" altLang="zh-CN" sz="1600" i="1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altLang="zh-CN" sz="1600" i="1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en-GB" altLang="zh-CN" sz="1600" b="0" i="1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1600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1600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1600" i="1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1600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n-GB" altLang="zh-CN" sz="1600" b="0" i="1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1600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1600" i="1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GB" altLang="zh-CN" sz="1600" b="0" i="0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GB" altLang="zh-CN" sz="1600" i="1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altLang="zh-CN" sz="1600" i="1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altLang="zh-CN" sz="1600" i="1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600" dirty="0">
                  <a:solidFill>
                    <a:srgbClr val="003399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64153B4-AC96-F460-32A5-5D4AD4AF0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918" y="2919820"/>
                <a:ext cx="4071564" cy="33855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F6A356-7A07-3807-11AB-2A5DD2B7044B}"/>
                  </a:ext>
                </a:extLst>
              </p:cNvPr>
              <p:cNvSpPr txBox="1"/>
              <p:nvPr/>
            </p:nvSpPr>
            <p:spPr>
              <a:xfrm rot="5400000">
                <a:off x="3288564" y="2904431"/>
                <a:ext cx="510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kumimoji="1" lang="zh-CN" altLang="en-US" dirty="0">
                  <a:solidFill>
                    <a:srgbClr val="003399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CF6A356-7A07-3807-11AB-2A5DD2B70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288564" y="2904431"/>
                <a:ext cx="5100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5CDB8A2-B0F0-81D8-9724-F32F1B2BC83F}"/>
                  </a:ext>
                </a:extLst>
              </p:cNvPr>
              <p:cNvSpPr txBox="1"/>
              <p:nvPr/>
            </p:nvSpPr>
            <p:spPr>
              <a:xfrm>
                <a:off x="2214582" y="3288731"/>
                <a:ext cx="3579315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5CDB8A2-B0F0-81D8-9724-F32F1B2BC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582" y="3288731"/>
                <a:ext cx="3579315" cy="373051"/>
              </a:xfrm>
              <a:prstGeom prst="rect">
                <a:avLst/>
              </a:prstGeom>
              <a:blipFill>
                <a:blip r:embed="rId10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04778DB-69FA-F6E3-9166-2AC30A6A01E8}"/>
                  </a:ext>
                </a:extLst>
              </p:cNvPr>
              <p:cNvSpPr txBox="1"/>
              <p:nvPr/>
            </p:nvSpPr>
            <p:spPr>
              <a:xfrm>
                <a:off x="2214582" y="3800174"/>
                <a:ext cx="6146992" cy="69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GB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kumimoji="1" lang="en-GB" altLang="zh-CN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GB" altLang="zh-CN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GB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04778DB-69FA-F6E3-9166-2AC30A6A0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582" y="3800174"/>
                <a:ext cx="6146992" cy="6978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19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  <p:bldP spid="18" grpId="0"/>
      <p:bldP spid="19" grpId="0"/>
      <p:bldP spid="21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F4DF346-897A-7067-9711-80B25B2D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(algebraic solution)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占位符 7">
                <a:extLst>
                  <a:ext uri="{FF2B5EF4-FFF2-40B4-BE49-F238E27FC236}">
                    <a16:creationId xmlns:a16="http://schemas.microsoft.com/office/drawing/2014/main" id="{64D67658-85B9-0785-21EB-1D3BC56F5DD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7732924" cy="824317"/>
              </a:xfrm>
            </p:spPr>
            <p:txBody>
              <a:bodyPr/>
              <a:lstStyle/>
              <a:p>
                <a:r>
                  <a:rPr lang="en-GB" altLang="zh-CN" dirty="0"/>
                  <a:t>Then, we are going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altLang="zh-CN" dirty="0"/>
              </a:p>
              <a:p>
                <a:r>
                  <a:rPr lang="en-GB" altLang="zh-C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/>
                  <a:t> </a:t>
                </a:r>
                <a:r>
                  <a:rPr lang="en-GB" altLang="zh-CN" dirty="0">
                    <a:solidFill>
                      <a:schemeClr val="bg1">
                        <a:lumMod val="65000"/>
                      </a:schemeClr>
                    </a:solidFill>
                  </a:rPr>
                  <a:t>(given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bg1">
                        <a:lumMod val="6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GB" altLang="zh-CN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altLang="zh-CN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GB" altLang="zh-CN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altLang="zh-CN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GB" altLang="zh-CN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GB" altLang="zh-CN" dirty="0">
                    <a:solidFill>
                      <a:schemeClr val="bg1">
                        <a:lumMod val="65000"/>
                      </a:schemeClr>
                    </a:solidFill>
                  </a:rPr>
                  <a:t>, 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bg1">
                        <a:lumMod val="6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</a:rPr>
                  <a:t> are known)</a:t>
                </a:r>
                <a:r>
                  <a:rPr lang="en-US" altLang="zh-CN" dirty="0"/>
                  <a:t>. then</a:t>
                </a:r>
              </a:p>
            </p:txBody>
          </p:sp>
        </mc:Choice>
        <mc:Fallback xmlns="">
          <p:sp>
            <p:nvSpPr>
              <p:cNvPr id="8" name="文本占位符 7">
                <a:extLst>
                  <a:ext uri="{FF2B5EF4-FFF2-40B4-BE49-F238E27FC236}">
                    <a16:creationId xmlns:a16="http://schemas.microsoft.com/office/drawing/2014/main" id="{64D67658-85B9-0785-21EB-1D3BC56F5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7732924" cy="824317"/>
              </a:xfrm>
              <a:blipFill>
                <a:blip r:embed="rId3"/>
                <a:stretch>
                  <a:fillRect l="-328" t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1B2F780-D2C7-8312-9F58-F2F456130FFD}"/>
                  </a:ext>
                </a:extLst>
              </p:cNvPr>
              <p:cNvSpPr txBox="1"/>
              <p:nvPr/>
            </p:nvSpPr>
            <p:spPr>
              <a:xfrm>
                <a:off x="2646095" y="2207124"/>
                <a:ext cx="291099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altLang="zh-CN" sz="16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b="0" i="0" dirty="0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altLang="zh-CN" sz="1600" dirty="0">
                  <a:solidFill>
                    <a:schemeClr val="tx1"/>
                  </a:solidFill>
                </a:endParaRPr>
              </a:p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altLang="zh-CN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b="0" i="0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1B2F780-D2C7-8312-9F58-F2F456130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095" y="2207124"/>
                <a:ext cx="2910990" cy="584775"/>
              </a:xfrm>
              <a:prstGeom prst="rect">
                <a:avLst/>
              </a:prstGeom>
              <a:blipFill>
                <a:blip r:embed="rId4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占位符 7">
                <a:extLst>
                  <a:ext uri="{FF2B5EF4-FFF2-40B4-BE49-F238E27FC236}">
                    <a16:creationId xmlns:a16="http://schemas.microsoft.com/office/drawing/2014/main" id="{FA62CAD5-754F-A973-8587-BE409B02EE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881836"/>
                <a:ext cx="7732924" cy="82431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GB" altLang="zh-CN" dirty="0"/>
                  <a:t>Let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ad>
                      <m:radPr>
                        <m:degHide m:val="on"/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zh-CN" dirty="0"/>
                  <a:t>, and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𝐴𝑡𝑎𝑛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 then,</a:t>
                </a:r>
                <a:r>
                  <a:rPr lang="en-GB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func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func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 xmlns="">
          <p:sp>
            <p:nvSpPr>
              <p:cNvPr id="10" name="文本占位符 7">
                <a:extLst>
                  <a:ext uri="{FF2B5EF4-FFF2-40B4-BE49-F238E27FC236}">
                    <a16:creationId xmlns:a16="http://schemas.microsoft.com/office/drawing/2014/main" id="{FA62CAD5-754F-A973-8587-BE409B02E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881836"/>
                <a:ext cx="7732924" cy="824317"/>
              </a:xfrm>
              <a:prstGeom prst="rect">
                <a:avLst/>
              </a:prstGeom>
              <a:blipFill>
                <a:blip r:embed="rId5"/>
                <a:stretch>
                  <a:fillRect l="-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585583E-94C2-5564-152E-30A611339FF1}"/>
                  </a:ext>
                </a:extLst>
              </p:cNvPr>
              <p:cNvSpPr txBox="1"/>
              <p:nvPr/>
            </p:nvSpPr>
            <p:spPr>
              <a:xfrm>
                <a:off x="1764063" y="3293994"/>
                <a:ext cx="6007863" cy="932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b="0" i="0" dirty="0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GB" altLang="zh-CN" sz="1600" b="0" i="0" dirty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⟹  </m:t>
                      </m:r>
                      <m:f>
                        <m:fPr>
                          <m:ctrlP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func>
                        <m:funcPr>
                          <m:ctrlP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func>
                        <m:funcPr>
                          <m:ctrlP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altLang="zh-CN" sz="1600" dirty="0">
                  <a:solidFill>
                    <a:schemeClr val="tx1"/>
                  </a:solidFill>
                </a:endParaRPr>
              </a:p>
              <a:p>
                <a:pPr fontAlgn="auto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b="0" i="0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altLang="zh-CN" sz="1600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GB" altLang="zh-CN" sz="1600" b="0" i="0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GB" altLang="zh-CN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func>
                        <m:funcPr>
                          <m:ctrlP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func>
                        <m:funcPr>
                          <m:ctrlPr>
                            <a:rPr lang="en-GB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altLang="zh-CN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GB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GB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585583E-94C2-5564-152E-30A611339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063" y="3293994"/>
                <a:ext cx="6007863" cy="9324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A5AA0EF-2823-85E8-CD2C-0DDF48B1A969}"/>
                  </a:ext>
                </a:extLst>
              </p:cNvPr>
              <p:cNvSpPr txBox="1"/>
              <p:nvPr/>
            </p:nvSpPr>
            <p:spPr>
              <a:xfrm>
                <a:off x="1500977" y="4400034"/>
                <a:ext cx="6410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GB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𝐴𝑡𝑎𝑛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𝐴𝑡𝑎𝑛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𝐴𝑡𝑎𝑛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A5AA0EF-2823-85E8-CD2C-0DDF48B1A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977" y="4400034"/>
                <a:ext cx="6410473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90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F4DF346-897A-7067-9711-80B25B2D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/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(algebraic solution)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占位符 7">
                <a:extLst>
                  <a:ext uri="{FF2B5EF4-FFF2-40B4-BE49-F238E27FC236}">
                    <a16:creationId xmlns:a16="http://schemas.microsoft.com/office/drawing/2014/main" id="{64D67658-85B9-0785-21EB-1D3BC56F5DD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7732924" cy="3041535"/>
              </a:xfrm>
            </p:spPr>
            <p:txBody>
              <a:bodyPr/>
              <a:lstStyle/>
              <a:p>
                <a:r>
                  <a:rPr lang="en-GB" altLang="zh-CN" dirty="0"/>
                  <a:t>Finally, because </a:t>
                </a:r>
                <a14:m>
                  <m:oMath xmlns:m="http://schemas.openxmlformats.org/officeDocument/2006/math">
                    <m:r>
                      <a:rPr lang="en-GB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sz="1600" dirty="0">
                    <a:solidFill>
                      <a:schemeClr val="tx1"/>
                    </a:solidFill>
                  </a:rPr>
                  <a:t>+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600" dirty="0">
                    <a:solidFill>
                      <a:schemeClr val="tx1"/>
                    </a:solidFill>
                  </a:rPr>
                  <a:t>+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GB" altLang="zh-CN" b="0" i="0" dirty="0" smtClean="0"/>
                      <m:t>−</m:t>
                    </m:r>
                    <m:r>
                      <m:rPr>
                        <m:nor/>
                      </m:rPr>
                      <a:rPr lang="en-GB" altLang="zh-CN" dirty="0"/>
                      <m:t> 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In summary, an </a:t>
                </a:r>
                <a:r>
                  <a:rPr lang="en-US" altLang="zh-CN" dirty="0">
                    <a:solidFill>
                      <a:srgbClr val="003399"/>
                    </a:solidFill>
                  </a:rPr>
                  <a:t>algebraic approach </a:t>
                </a:r>
                <a:r>
                  <a:rPr lang="en-US" altLang="zh-CN" dirty="0"/>
                  <a:t>to solving kinematic equations is basically one of manipulating the given equations into a form for which a solution is known. It turns out that, for many common geometries, several forms of </a:t>
                </a:r>
                <a:r>
                  <a:rPr lang="en-US" altLang="zh-CN" dirty="0">
                    <a:solidFill>
                      <a:srgbClr val="003399"/>
                    </a:solidFill>
                  </a:rPr>
                  <a:t>transcendental equations commonly arise</a:t>
                </a:r>
                <a:r>
                  <a:rPr lang="en-US" altLang="zh-CN" dirty="0"/>
                  <a:t>. </a:t>
                </a:r>
              </a:p>
            </p:txBody>
          </p:sp>
        </mc:Choice>
        <mc:Fallback xmlns="">
          <p:sp>
            <p:nvSpPr>
              <p:cNvPr id="8" name="文本占位符 7">
                <a:extLst>
                  <a:ext uri="{FF2B5EF4-FFF2-40B4-BE49-F238E27FC236}">
                    <a16:creationId xmlns:a16="http://schemas.microsoft.com/office/drawing/2014/main" id="{64D67658-85B9-0785-21EB-1D3BC56F5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7732924" cy="3041535"/>
              </a:xfrm>
              <a:blipFill>
                <a:blip r:embed="rId3"/>
                <a:stretch>
                  <a:fillRect l="-328" t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482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>
            <a:extLst>
              <a:ext uri="{FF2B5EF4-FFF2-40B4-BE49-F238E27FC236}">
                <a16:creationId xmlns:a16="http://schemas.microsoft.com/office/drawing/2014/main" id="{D3EFCB2F-B0A6-3EB5-B865-0853A265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solidFill>
                  <a:srgbClr val="003399"/>
                </a:solidFill>
              </a:rPr>
              <a:t>Closed-form Solutions </a:t>
            </a:r>
            <a:r>
              <a:rPr lang="en-GB" altLang="zh-CN" b="0">
                <a:solidFill>
                  <a:srgbClr val="003399"/>
                </a:solidFill>
              </a:rPr>
              <a:t>(geometric solution)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GB" altLang="zh-CN" dirty="0"/>
                  <a:t>In a geometric approach to finding a manipulator's solution, we try to decompose the spatial geometry of the arm into several plane-geometry problems. </a:t>
                </a:r>
              </a:p>
              <a:p>
                <a:r>
                  <a:rPr lang="en-GB" altLang="zh-CN" dirty="0"/>
                  <a:t>For many manipulators (particularly when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altLang="zh-CN" dirty="0"/>
                  <a:t> or 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GB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altLang="zh-CN" dirty="0"/>
                  <a:t>) this can be done quite easily. </a:t>
                </a:r>
              </a:p>
              <a:p>
                <a:r>
                  <a:rPr lang="en-GB" altLang="zh-CN" dirty="0"/>
                  <a:t>Joint angles can then be solved for by using the tools of plane geometry.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328" t="-1778" r="-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43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>
            <a:extLst>
              <a:ext uri="{FF2B5EF4-FFF2-40B4-BE49-F238E27FC236}">
                <a16:creationId xmlns:a16="http://schemas.microsoft.com/office/drawing/2014/main" id="{D3EFCB2F-B0A6-3EB5-B865-0853A265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105246" cy="630335"/>
          </a:xfrm>
        </p:spPr>
        <p:txBody>
          <a:bodyPr>
            <a:normAutofit fontScale="90000"/>
          </a:bodyPr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(geometric solution)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76288" cy="2841951"/>
              </a:xfrm>
            </p:spPr>
            <p:txBody>
              <a:bodyPr/>
              <a:lstStyle/>
              <a:p>
                <a:r>
                  <a:rPr lang="en-GB" altLang="zh-CN" sz="1800" dirty="0"/>
                  <a:t>Consider </a:t>
                </a:r>
                <a14:m>
                  <m:oMath xmlns:m="http://schemas.openxmlformats.org/officeDocument/2006/math">
                    <m:r>
                      <a:rPr lang="en-GB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GB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GB" altLang="zh-CN" sz="1800" dirty="0"/>
                  <a:t> we can apply the</a:t>
                </a:r>
                <a:r>
                  <a:rPr lang="zh-CN" altLang="en-US" sz="1800" dirty="0"/>
                  <a:t> </a:t>
                </a:r>
                <a:r>
                  <a:rPr lang="en-GB" altLang="zh-CN" sz="1800" dirty="0"/>
                  <a:t>"law of cosines"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zh-CN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altLang="zh-CN" sz="18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GB" altLang="zh-CN" sz="18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⁡(180−</m:t>
                      </m:r>
                      <m:sSub>
                        <m:sSub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76288" cy="2841951"/>
              </a:xfrm>
              <a:blipFill>
                <a:blip r:embed="rId3"/>
                <a:stretch>
                  <a:fillRect l="-1183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>
            <a:extLst>
              <a:ext uri="{FF2B5EF4-FFF2-40B4-BE49-F238E27FC236}">
                <a16:creationId xmlns:a16="http://schemas.microsoft.com/office/drawing/2014/main" id="{DFAC0FEE-3C4B-55D2-CDDC-08B3B992F813}"/>
              </a:ext>
            </a:extLst>
          </p:cNvPr>
          <p:cNvGrpSpPr/>
          <p:nvPr/>
        </p:nvGrpSpPr>
        <p:grpSpPr>
          <a:xfrm>
            <a:off x="5224484" y="1032659"/>
            <a:ext cx="3758948" cy="3708089"/>
            <a:chOff x="4957447" y="599591"/>
            <a:chExt cx="3758948" cy="3708089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40E6C47-B33A-AA74-FD7C-C462503B35CB}"/>
                </a:ext>
              </a:extLst>
            </p:cNvPr>
            <p:cNvGrpSpPr/>
            <p:nvPr/>
          </p:nvGrpSpPr>
          <p:grpSpPr>
            <a:xfrm>
              <a:off x="4957447" y="3202070"/>
              <a:ext cx="810911" cy="1105610"/>
              <a:chOff x="3097129" y="3967281"/>
              <a:chExt cx="506285" cy="690277"/>
            </a:xfrm>
          </p:grpSpPr>
          <p:sp>
            <p:nvSpPr>
              <p:cNvPr id="3" name="任意形状 2">
                <a:extLst>
                  <a:ext uri="{FF2B5EF4-FFF2-40B4-BE49-F238E27FC236}">
                    <a16:creationId xmlns:a16="http://schemas.microsoft.com/office/drawing/2014/main" id="{DDB66E6A-67E5-AD82-EF35-9FE67561768A}"/>
                  </a:ext>
                </a:extLst>
              </p:cNvPr>
              <p:cNvSpPr/>
              <p:nvPr/>
            </p:nvSpPr>
            <p:spPr>
              <a:xfrm>
                <a:off x="3142826" y="3967281"/>
                <a:ext cx="460588" cy="616373"/>
              </a:xfrm>
              <a:custGeom>
                <a:avLst/>
                <a:gdLst>
                  <a:gd name="connsiteX0" fmla="*/ 230294 w 460588"/>
                  <a:gd name="connsiteY0" fmla="*/ 0 h 616373"/>
                  <a:gd name="connsiteX1" fmla="*/ 460588 w 460588"/>
                  <a:gd name="connsiteY1" fmla="*/ 230294 h 616373"/>
                  <a:gd name="connsiteX2" fmla="*/ 460586 w 460588"/>
                  <a:gd name="connsiteY2" fmla="*/ 230314 h 616373"/>
                  <a:gd name="connsiteX3" fmla="*/ 460586 w 460588"/>
                  <a:gd name="connsiteY3" fmla="*/ 616373 h 616373"/>
                  <a:gd name="connsiteX4" fmla="*/ 0 w 460588"/>
                  <a:gd name="connsiteY4" fmla="*/ 616373 h 616373"/>
                  <a:gd name="connsiteX5" fmla="*/ 0 w 460588"/>
                  <a:gd name="connsiteY5" fmla="*/ 230294 h 616373"/>
                  <a:gd name="connsiteX6" fmla="*/ 0 w 460588"/>
                  <a:gd name="connsiteY6" fmla="*/ 230293 h 616373"/>
                  <a:gd name="connsiteX7" fmla="*/ 0 w 460588"/>
                  <a:gd name="connsiteY7" fmla="*/ 230293 h 616373"/>
                  <a:gd name="connsiteX8" fmla="*/ 4679 w 460588"/>
                  <a:gd name="connsiteY8" fmla="*/ 183882 h 616373"/>
                  <a:gd name="connsiteX9" fmla="*/ 230294 w 460588"/>
                  <a:gd name="connsiteY9" fmla="*/ 0 h 616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0588" h="616373">
                    <a:moveTo>
                      <a:pt x="230294" y="0"/>
                    </a:moveTo>
                    <a:cubicBezTo>
                      <a:pt x="357482" y="0"/>
                      <a:pt x="460588" y="103106"/>
                      <a:pt x="460588" y="230294"/>
                    </a:cubicBezTo>
                    <a:lnTo>
                      <a:pt x="460586" y="230314"/>
                    </a:lnTo>
                    <a:lnTo>
                      <a:pt x="460586" y="616373"/>
                    </a:lnTo>
                    <a:lnTo>
                      <a:pt x="0" y="616373"/>
                    </a:lnTo>
                    <a:lnTo>
                      <a:pt x="0" y="230294"/>
                    </a:lnTo>
                    <a:lnTo>
                      <a:pt x="0" y="230293"/>
                    </a:lnTo>
                    <a:lnTo>
                      <a:pt x="0" y="230293"/>
                    </a:lnTo>
                    <a:lnTo>
                      <a:pt x="4679" y="183882"/>
                    </a:lnTo>
                    <a:cubicBezTo>
                      <a:pt x="26153" y="78941"/>
                      <a:pt x="119005" y="0"/>
                      <a:pt x="230294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4" name="直线连接符 3">
                <a:extLst>
                  <a:ext uri="{FF2B5EF4-FFF2-40B4-BE49-F238E27FC236}">
                    <a16:creationId xmlns:a16="http://schemas.microsoft.com/office/drawing/2014/main" id="{9B1FE8BC-8ACD-052D-944D-376CCC6B36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7129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线连接符 4">
                <a:extLst>
                  <a:ext uri="{FF2B5EF4-FFF2-40B4-BE49-F238E27FC236}">
                    <a16:creationId xmlns:a16="http://schemas.microsoft.com/office/drawing/2014/main" id="{0656CB75-BAA6-BA20-A3D3-D4E57C8CB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49176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线连接符 5">
                <a:extLst>
                  <a:ext uri="{FF2B5EF4-FFF2-40B4-BE49-F238E27FC236}">
                    <a16:creationId xmlns:a16="http://schemas.microsoft.com/office/drawing/2014/main" id="{F8918E7F-3B9F-4E2F-916C-4D56DBBEC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9312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线连接符 6">
                <a:extLst>
                  <a:ext uri="{FF2B5EF4-FFF2-40B4-BE49-F238E27FC236}">
                    <a16:creationId xmlns:a16="http://schemas.microsoft.com/office/drawing/2014/main" id="{72D0F4FE-00D5-972E-1896-7CF867E64E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9448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4E1C3C36-DA9A-C66D-89D5-22EEE55489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99584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F709D122-0406-F6DC-C056-3A647D8B58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49720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DEAFB400-50BF-2C03-44D5-1FDA082191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9856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9254FF-089D-2F41-8661-3F6FCFFA89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9992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B1AD62F0-123A-FFE7-EF53-B671E8882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00128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EED215B7-32D0-F3C6-61F3-97452E526A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50261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6D4B6798-D690-2B57-8E36-4B5C06038E75}"/>
                </a:ext>
              </a:extLst>
            </p:cNvPr>
            <p:cNvGrpSpPr/>
            <p:nvPr/>
          </p:nvGrpSpPr>
          <p:grpSpPr>
            <a:xfrm rot="19283720">
              <a:off x="5130972" y="2256036"/>
              <a:ext cx="3506163" cy="715722"/>
              <a:chOff x="3321351" y="4067212"/>
              <a:chExt cx="2189041" cy="446854"/>
            </a:xfrm>
          </p:grpSpPr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379794F4-03DE-B050-115E-B6E443C517D9}"/>
                  </a:ext>
                </a:extLst>
              </p:cNvPr>
              <p:cNvSpPr/>
              <p:nvPr/>
            </p:nvSpPr>
            <p:spPr>
              <a:xfrm rot="20119190">
                <a:off x="4250552" y="4129389"/>
                <a:ext cx="1259840" cy="20320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74611E34-7B4C-1983-6588-B0DCA0701C40}"/>
                  </a:ext>
                </a:extLst>
              </p:cNvPr>
              <p:cNvSpPr/>
              <p:nvPr/>
            </p:nvSpPr>
            <p:spPr>
              <a:xfrm rot="20119190">
                <a:off x="3321351" y="4067212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BA78EA94-C817-ED91-BE4F-1A0CC89A184A}"/>
                  </a:ext>
                </a:extLst>
              </p:cNvPr>
              <p:cNvSpPr/>
              <p:nvPr/>
            </p:nvSpPr>
            <p:spPr>
              <a:xfrm rot="20119190">
                <a:off x="4339835" y="4412466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11DB52D-7465-1324-40B1-99B180A88E63}"/>
                </a:ext>
              </a:extLst>
            </p:cNvPr>
            <p:cNvGrpSpPr/>
            <p:nvPr/>
          </p:nvGrpSpPr>
          <p:grpSpPr>
            <a:xfrm rot="19009840">
              <a:off x="7543094" y="599591"/>
              <a:ext cx="1173301" cy="807675"/>
              <a:chOff x="2078991" y="2260878"/>
              <a:chExt cx="732539" cy="504265"/>
            </a:xfrm>
          </p:grpSpPr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7683CA85-5987-1824-A66E-CBD23E27F07D}"/>
                  </a:ext>
                </a:extLst>
              </p:cNvPr>
              <p:cNvSpPr/>
              <p:nvPr/>
            </p:nvSpPr>
            <p:spPr>
              <a:xfrm>
                <a:off x="2078991" y="2411705"/>
                <a:ext cx="553157" cy="203200"/>
              </a:xfrm>
              <a:custGeom>
                <a:avLst/>
                <a:gdLst>
                  <a:gd name="connsiteX0" fmla="*/ 101600 w 553157"/>
                  <a:gd name="connsiteY0" fmla="*/ 0 h 203200"/>
                  <a:gd name="connsiteX1" fmla="*/ 553157 w 553157"/>
                  <a:gd name="connsiteY1" fmla="*/ 0 h 203200"/>
                  <a:gd name="connsiteX2" fmla="*/ 553157 w 553157"/>
                  <a:gd name="connsiteY2" fmla="*/ 203200 h 203200"/>
                  <a:gd name="connsiteX3" fmla="*/ 101600 w 553157"/>
                  <a:gd name="connsiteY3" fmla="*/ 203200 h 203200"/>
                  <a:gd name="connsiteX4" fmla="*/ 0 w 553157"/>
                  <a:gd name="connsiteY4" fmla="*/ 101600 h 203200"/>
                  <a:gd name="connsiteX5" fmla="*/ 101600 w 553157"/>
                  <a:gd name="connsiteY5" fmla="*/ 0 h 2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157" h="203200">
                    <a:moveTo>
                      <a:pt x="101600" y="0"/>
                    </a:moveTo>
                    <a:lnTo>
                      <a:pt x="553157" y="0"/>
                    </a:lnTo>
                    <a:lnTo>
                      <a:pt x="553157" y="203200"/>
                    </a:lnTo>
                    <a:lnTo>
                      <a:pt x="101600" y="203200"/>
                    </a:lnTo>
                    <a:cubicBezTo>
                      <a:pt x="45488" y="203200"/>
                      <a:pt x="0" y="157712"/>
                      <a:pt x="0" y="101600"/>
                    </a:cubicBez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>
                    <a:alpha val="14788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8657FFE9-D86A-02E5-CD47-874465293F54}"/>
                  </a:ext>
                </a:extLst>
              </p:cNvPr>
              <p:cNvSpPr/>
              <p:nvPr/>
            </p:nvSpPr>
            <p:spPr>
              <a:xfrm>
                <a:off x="2116243" y="2462505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4989608-EAB4-1D36-B7AE-443EF72179E5}"/>
                  </a:ext>
                </a:extLst>
              </p:cNvPr>
              <p:cNvSpPr/>
              <p:nvPr/>
            </p:nvSpPr>
            <p:spPr>
              <a:xfrm>
                <a:off x="2600723" y="2260878"/>
                <a:ext cx="45719" cy="50426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3E7FF63B-1D02-0549-F990-CAC50C001141}"/>
                  </a:ext>
                </a:extLst>
              </p:cNvPr>
              <p:cNvSpPr/>
              <p:nvPr/>
            </p:nvSpPr>
            <p:spPr>
              <a:xfrm rot="5400000">
                <a:off x="2666974" y="2246827"/>
                <a:ext cx="102534" cy="18657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0DA7CBE3-3238-89BD-09D7-B5FB8CC14ECF}"/>
                  </a:ext>
                </a:extLst>
              </p:cNvPr>
              <p:cNvSpPr/>
              <p:nvPr/>
            </p:nvSpPr>
            <p:spPr>
              <a:xfrm rot="5400000">
                <a:off x="2666974" y="2598583"/>
                <a:ext cx="102534" cy="18657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F831E8E0-365F-90B5-9F65-3870CADD4E8B}"/>
                </a:ext>
              </a:extLst>
            </p:cNvPr>
            <p:cNvSpPr/>
            <p:nvPr/>
          </p:nvSpPr>
          <p:spPr>
            <a:xfrm rot="20401535">
              <a:off x="5196406" y="2982774"/>
              <a:ext cx="2017872" cy="32546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0E0156-F05D-560D-368E-820555E790BA}"/>
                  </a:ext>
                </a:extLst>
              </p:cNvPr>
              <p:cNvSpPr txBox="1"/>
              <p:nvPr/>
            </p:nvSpPr>
            <p:spPr>
              <a:xfrm>
                <a:off x="8419940" y="3859760"/>
                <a:ext cx="392287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0E0156-F05D-560D-368E-820555E7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940" y="3859760"/>
                <a:ext cx="392287" cy="376770"/>
              </a:xfrm>
              <a:prstGeom prst="rect">
                <a:avLst/>
              </a:prstGeom>
              <a:blipFill>
                <a:blip r:embed="rId4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2DAF116D-12D6-BB5F-5C1C-77FE5EBE9A2B}"/>
              </a:ext>
            </a:extLst>
          </p:cNvPr>
          <p:cNvCxnSpPr>
            <a:cxnSpLocks/>
          </p:cNvCxnSpPr>
          <p:nvPr/>
        </p:nvCxnSpPr>
        <p:spPr>
          <a:xfrm>
            <a:off x="5666535" y="3872190"/>
            <a:ext cx="3145692" cy="0"/>
          </a:xfrm>
          <a:prstGeom prst="line">
            <a:avLst/>
          </a:prstGeom>
          <a:ln w="22225">
            <a:solidFill>
              <a:srgbClr val="00339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5665896-68B5-0F90-A2A0-F68524FAA6D7}"/>
              </a:ext>
            </a:extLst>
          </p:cNvPr>
          <p:cNvCxnSpPr>
            <a:cxnSpLocks/>
          </p:cNvCxnSpPr>
          <p:nvPr/>
        </p:nvCxnSpPr>
        <p:spPr>
          <a:xfrm flipV="1">
            <a:off x="5666535" y="1113362"/>
            <a:ext cx="0" cy="2758828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9464899-A867-9A04-9E5E-8D0EA2CFF837}"/>
                  </a:ext>
                </a:extLst>
              </p:cNvPr>
              <p:cNvSpPr txBox="1"/>
              <p:nvPr/>
            </p:nvSpPr>
            <p:spPr>
              <a:xfrm>
                <a:off x="5272308" y="1090905"/>
                <a:ext cx="382669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altLang="zh-CN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9464899-A867-9A04-9E5E-8D0EA2CFF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308" y="1090905"/>
                <a:ext cx="382669" cy="376770"/>
              </a:xfrm>
              <a:prstGeom prst="rect">
                <a:avLst/>
              </a:prstGeom>
              <a:blipFill>
                <a:blip r:embed="rId5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5DAB3475-35F7-9988-8CBD-835E09EF1DC7}"/>
              </a:ext>
            </a:extLst>
          </p:cNvPr>
          <p:cNvCxnSpPr>
            <a:cxnSpLocks/>
          </p:cNvCxnSpPr>
          <p:nvPr/>
        </p:nvCxnSpPr>
        <p:spPr>
          <a:xfrm>
            <a:off x="5666535" y="1735893"/>
            <a:ext cx="2401224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061338AE-5F93-D21E-FAE8-55D155C09044}"/>
              </a:ext>
            </a:extLst>
          </p:cNvPr>
          <p:cNvCxnSpPr>
            <a:cxnSpLocks/>
          </p:cNvCxnSpPr>
          <p:nvPr/>
        </p:nvCxnSpPr>
        <p:spPr>
          <a:xfrm flipV="1">
            <a:off x="8070124" y="1735893"/>
            <a:ext cx="0" cy="2136297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C29C8C7-7EA8-E0E6-199A-A38EAE0FA30A}"/>
                  </a:ext>
                </a:extLst>
              </p:cNvPr>
              <p:cNvSpPr txBox="1"/>
              <p:nvPr/>
            </p:nvSpPr>
            <p:spPr>
              <a:xfrm>
                <a:off x="7877047" y="3845472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C29C8C7-7EA8-E0E6-199A-A38EAE0FA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047" y="3845472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19808C3-A619-B7B5-E5C2-B8FE8287A378}"/>
                  </a:ext>
                </a:extLst>
              </p:cNvPr>
              <p:cNvSpPr txBox="1"/>
              <p:nvPr/>
            </p:nvSpPr>
            <p:spPr>
              <a:xfrm>
                <a:off x="5326140" y="1548914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19808C3-A619-B7B5-E5C2-B8FE8287A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140" y="1548914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265D786D-24F1-E443-D932-9A32CF325963}"/>
              </a:ext>
            </a:extLst>
          </p:cNvPr>
          <p:cNvCxnSpPr>
            <a:cxnSpLocks/>
          </p:cNvCxnSpPr>
          <p:nvPr/>
        </p:nvCxnSpPr>
        <p:spPr>
          <a:xfrm flipV="1">
            <a:off x="5675691" y="3292477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77251DA9-DE1F-49B2-7E96-086EB972D599}"/>
              </a:ext>
            </a:extLst>
          </p:cNvPr>
          <p:cNvCxnSpPr>
            <a:cxnSpLocks/>
          </p:cNvCxnSpPr>
          <p:nvPr/>
        </p:nvCxnSpPr>
        <p:spPr>
          <a:xfrm flipV="1">
            <a:off x="7289780" y="1741713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2BA342AD-EF36-F0D8-A28F-D8D07FDD2725}"/>
              </a:ext>
            </a:extLst>
          </p:cNvPr>
          <p:cNvCxnSpPr>
            <a:cxnSpLocks/>
          </p:cNvCxnSpPr>
          <p:nvPr/>
        </p:nvCxnSpPr>
        <p:spPr>
          <a:xfrm flipV="1">
            <a:off x="5670737" y="1748324"/>
            <a:ext cx="2390303" cy="2121309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弧 86">
            <a:extLst>
              <a:ext uri="{FF2B5EF4-FFF2-40B4-BE49-F238E27FC236}">
                <a16:creationId xmlns:a16="http://schemas.microsoft.com/office/drawing/2014/main" id="{35C9B353-7C03-E2DA-95DE-0E8A00AF3F2A}"/>
              </a:ext>
            </a:extLst>
          </p:cNvPr>
          <p:cNvSpPr/>
          <p:nvPr/>
        </p:nvSpPr>
        <p:spPr>
          <a:xfrm rot="941746">
            <a:off x="6021409" y="3645096"/>
            <a:ext cx="371698" cy="371698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8CBE1CF-C148-0490-96C1-F107BBB9D53C}"/>
                  </a:ext>
                </a:extLst>
              </p:cNvPr>
              <p:cNvSpPr txBox="1"/>
              <p:nvPr/>
            </p:nvSpPr>
            <p:spPr>
              <a:xfrm>
                <a:off x="6317613" y="3525829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8CBE1CF-C148-0490-96C1-F107BBB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13" y="3525829"/>
                <a:ext cx="4612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C3419BED-258E-851D-363D-EAA01F141996}"/>
              </a:ext>
            </a:extLst>
          </p:cNvPr>
          <p:cNvCxnSpPr>
            <a:cxnSpLocks/>
          </p:cNvCxnSpPr>
          <p:nvPr/>
        </p:nvCxnSpPr>
        <p:spPr>
          <a:xfrm flipV="1">
            <a:off x="7296123" y="3089337"/>
            <a:ext cx="558207" cy="20632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弧 92">
            <a:extLst>
              <a:ext uri="{FF2B5EF4-FFF2-40B4-BE49-F238E27FC236}">
                <a16:creationId xmlns:a16="http://schemas.microsoft.com/office/drawing/2014/main" id="{0E36D0C8-395D-C3AA-BD1A-0127E936AF1B}"/>
              </a:ext>
            </a:extLst>
          </p:cNvPr>
          <p:cNvSpPr/>
          <p:nvPr/>
        </p:nvSpPr>
        <p:spPr>
          <a:xfrm>
            <a:off x="7251329" y="2990593"/>
            <a:ext cx="371698" cy="371698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DC81299-E1AA-6C2A-05BA-BE280178B80E}"/>
                  </a:ext>
                </a:extLst>
              </p:cNvPr>
              <p:cNvSpPr txBox="1"/>
              <p:nvPr/>
            </p:nvSpPr>
            <p:spPr>
              <a:xfrm>
                <a:off x="7477180" y="2740947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DC81299-E1AA-6C2A-05BA-BE280178B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80" y="2740947"/>
                <a:ext cx="46660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E62BCFB-6FC2-DD7D-8425-74A83E349F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17479" y="4133889"/>
            <a:ext cx="792947" cy="28643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B709F530-9EF8-57C9-444E-1DD82AA1365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27575" y="3541441"/>
            <a:ext cx="792947" cy="28643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73D04183-CA9F-867D-474F-87537D52E4B1}"/>
              </a:ext>
            </a:extLst>
          </p:cNvPr>
          <p:cNvCxnSpPr>
            <a:cxnSpLocks/>
          </p:cNvCxnSpPr>
          <p:nvPr/>
        </p:nvCxnSpPr>
        <p:spPr>
          <a:xfrm flipV="1">
            <a:off x="5914955" y="3974156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A7EB527-704E-5BE2-680B-B014D6D6C7B3}"/>
                  </a:ext>
                </a:extLst>
              </p:cNvPr>
              <p:cNvSpPr txBox="1"/>
              <p:nvPr/>
            </p:nvSpPr>
            <p:spPr>
              <a:xfrm>
                <a:off x="6540301" y="4108011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A7EB527-704E-5BE2-680B-B014D6D6C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01" y="4108011"/>
                <a:ext cx="360996" cy="3702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FEC0F814-0F04-B929-5F51-14FF4661196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11500" y="3071705"/>
            <a:ext cx="454869" cy="91314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EFE7F511-D33C-25F4-059A-D3F14C4E050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80132" y="1506926"/>
            <a:ext cx="454869" cy="91314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5F30F774-0591-0E3F-0C57-58274EEE0B8F}"/>
              </a:ext>
            </a:extLst>
          </p:cNvPr>
          <p:cNvCxnSpPr>
            <a:cxnSpLocks/>
          </p:cNvCxnSpPr>
          <p:nvPr/>
        </p:nvCxnSpPr>
        <p:spPr>
          <a:xfrm flipV="1">
            <a:off x="8149445" y="2176060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1B4B40B-404B-D4F7-6243-47913C00D0A8}"/>
                  </a:ext>
                </a:extLst>
              </p:cNvPr>
              <p:cNvSpPr txBox="1"/>
              <p:nvPr/>
            </p:nvSpPr>
            <p:spPr>
              <a:xfrm>
                <a:off x="8382207" y="2765061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1B4B40B-404B-D4F7-6243-47913C00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207" y="2765061"/>
                <a:ext cx="360996" cy="370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736AED-C615-8F70-C6DD-616D46A07A64}"/>
                  </a:ext>
                </a:extLst>
              </p:cNvPr>
              <p:cNvSpPr txBox="1"/>
              <p:nvPr/>
            </p:nvSpPr>
            <p:spPr>
              <a:xfrm>
                <a:off x="5288446" y="3766023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736AED-C615-8F70-C6DD-616D46A07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446" y="3766023"/>
                <a:ext cx="39869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401867D-EE57-E946-A0EB-857E79D01AB0}"/>
                  </a:ext>
                </a:extLst>
              </p:cNvPr>
              <p:cNvSpPr txBox="1"/>
              <p:nvPr/>
            </p:nvSpPr>
            <p:spPr>
              <a:xfrm>
                <a:off x="7335196" y="3210355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401867D-EE57-E946-A0EB-857E79D0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96" y="3210355"/>
                <a:ext cx="39869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F1028AF-97E0-6574-5181-200D4312BFF1}"/>
                  </a:ext>
                </a:extLst>
              </p:cNvPr>
              <p:cNvSpPr txBox="1"/>
              <p:nvPr/>
            </p:nvSpPr>
            <p:spPr>
              <a:xfrm>
                <a:off x="7979977" y="1395506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F1028AF-97E0-6574-5181-200D4312B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977" y="1395506"/>
                <a:ext cx="39869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56C150C9-DF54-3387-A685-CECD3FF191F3}"/>
                  </a:ext>
                </a:extLst>
              </p:cNvPr>
              <p:cNvSpPr txBox="1"/>
              <p:nvPr/>
            </p:nvSpPr>
            <p:spPr>
              <a:xfrm>
                <a:off x="597210" y="2515861"/>
                <a:ext cx="3739603" cy="1303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>
                          <a:latin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GB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GB" altLang="zh-C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kumimoji="1" lang="en-GB" altLang="zh-CN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GB" altLang="zh-CN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en-GB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56C150C9-DF54-3387-A685-CECD3FF1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10" y="2515861"/>
                <a:ext cx="3739603" cy="130330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B1812AAF-F8D6-FB80-3820-E5FBAEBF73CE}"/>
              </a:ext>
            </a:extLst>
          </p:cNvPr>
          <p:cNvCxnSpPr>
            <a:cxnSpLocks/>
          </p:cNvCxnSpPr>
          <p:nvPr/>
        </p:nvCxnSpPr>
        <p:spPr>
          <a:xfrm flipV="1">
            <a:off x="6446992" y="1732801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D6572C14-0EB4-E5AA-69A7-DA6B11BD2DA1}"/>
              </a:ext>
            </a:extLst>
          </p:cNvPr>
          <p:cNvCxnSpPr>
            <a:cxnSpLocks/>
          </p:cNvCxnSpPr>
          <p:nvPr/>
        </p:nvCxnSpPr>
        <p:spPr>
          <a:xfrm flipV="1">
            <a:off x="5679000" y="2315454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38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  <p:bldP spid="1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>
            <a:extLst>
              <a:ext uri="{FF2B5EF4-FFF2-40B4-BE49-F238E27FC236}">
                <a16:creationId xmlns:a16="http://schemas.microsoft.com/office/drawing/2014/main" id="{D3EFCB2F-B0A6-3EB5-B865-0853A265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6743195" cy="630335"/>
          </a:xfrm>
        </p:spPr>
        <p:txBody>
          <a:bodyPr>
            <a:normAutofit fontScale="90000"/>
          </a:bodyPr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(geometric solution)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76288" cy="2841951"/>
              </a:xfrm>
            </p:spPr>
            <p:txBody>
              <a:bodyPr/>
              <a:lstStyle/>
              <a:p>
                <a:r>
                  <a:rPr lang="en-GB" altLang="zh-CN" sz="1800" dirty="0"/>
                  <a:t>After we find the solutions, we need to verify them according to the implied conditions.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8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altLang="zh-CN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altLang="zh-CN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altLang="zh-CN" sz="18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altLang="zh-CN" sz="1800" dirty="0"/>
              </a:p>
              <a:p>
                <a:pPr>
                  <a:lnSpc>
                    <a:spcPct val="100000"/>
                  </a:lnSpc>
                </a:pPr>
                <a:r>
                  <a:rPr lang="en-GB" altLang="zh-CN" sz="1800" dirty="0"/>
                  <a:t>The other possible solution (the one indicated by the dashed-line triangle) is found by symmetry to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GB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altLang="zh-CN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GB" altLang="zh-CN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8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800" dirty="0"/>
                  <a:t>.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76288" cy="2841951"/>
              </a:xfrm>
              <a:blipFill>
                <a:blip r:embed="rId3"/>
                <a:stretch>
                  <a:fillRect l="-1183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>
            <a:extLst>
              <a:ext uri="{FF2B5EF4-FFF2-40B4-BE49-F238E27FC236}">
                <a16:creationId xmlns:a16="http://schemas.microsoft.com/office/drawing/2014/main" id="{DFAC0FEE-3C4B-55D2-CDDC-08B3B992F813}"/>
              </a:ext>
            </a:extLst>
          </p:cNvPr>
          <p:cNvGrpSpPr/>
          <p:nvPr/>
        </p:nvGrpSpPr>
        <p:grpSpPr>
          <a:xfrm>
            <a:off x="5224484" y="1032659"/>
            <a:ext cx="3758948" cy="3708089"/>
            <a:chOff x="4957447" y="599591"/>
            <a:chExt cx="3758948" cy="3708089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40E6C47-B33A-AA74-FD7C-C462503B35CB}"/>
                </a:ext>
              </a:extLst>
            </p:cNvPr>
            <p:cNvGrpSpPr/>
            <p:nvPr/>
          </p:nvGrpSpPr>
          <p:grpSpPr>
            <a:xfrm>
              <a:off x="4957447" y="3202070"/>
              <a:ext cx="810911" cy="1105610"/>
              <a:chOff x="3097129" y="3967281"/>
              <a:chExt cx="506285" cy="690277"/>
            </a:xfrm>
          </p:grpSpPr>
          <p:sp>
            <p:nvSpPr>
              <p:cNvPr id="3" name="任意形状 2">
                <a:extLst>
                  <a:ext uri="{FF2B5EF4-FFF2-40B4-BE49-F238E27FC236}">
                    <a16:creationId xmlns:a16="http://schemas.microsoft.com/office/drawing/2014/main" id="{DDB66E6A-67E5-AD82-EF35-9FE67561768A}"/>
                  </a:ext>
                </a:extLst>
              </p:cNvPr>
              <p:cNvSpPr/>
              <p:nvPr/>
            </p:nvSpPr>
            <p:spPr>
              <a:xfrm>
                <a:off x="3142826" y="3967281"/>
                <a:ext cx="460588" cy="616373"/>
              </a:xfrm>
              <a:custGeom>
                <a:avLst/>
                <a:gdLst>
                  <a:gd name="connsiteX0" fmla="*/ 230294 w 460588"/>
                  <a:gd name="connsiteY0" fmla="*/ 0 h 616373"/>
                  <a:gd name="connsiteX1" fmla="*/ 460588 w 460588"/>
                  <a:gd name="connsiteY1" fmla="*/ 230294 h 616373"/>
                  <a:gd name="connsiteX2" fmla="*/ 460586 w 460588"/>
                  <a:gd name="connsiteY2" fmla="*/ 230314 h 616373"/>
                  <a:gd name="connsiteX3" fmla="*/ 460586 w 460588"/>
                  <a:gd name="connsiteY3" fmla="*/ 616373 h 616373"/>
                  <a:gd name="connsiteX4" fmla="*/ 0 w 460588"/>
                  <a:gd name="connsiteY4" fmla="*/ 616373 h 616373"/>
                  <a:gd name="connsiteX5" fmla="*/ 0 w 460588"/>
                  <a:gd name="connsiteY5" fmla="*/ 230294 h 616373"/>
                  <a:gd name="connsiteX6" fmla="*/ 0 w 460588"/>
                  <a:gd name="connsiteY6" fmla="*/ 230293 h 616373"/>
                  <a:gd name="connsiteX7" fmla="*/ 0 w 460588"/>
                  <a:gd name="connsiteY7" fmla="*/ 230293 h 616373"/>
                  <a:gd name="connsiteX8" fmla="*/ 4679 w 460588"/>
                  <a:gd name="connsiteY8" fmla="*/ 183882 h 616373"/>
                  <a:gd name="connsiteX9" fmla="*/ 230294 w 460588"/>
                  <a:gd name="connsiteY9" fmla="*/ 0 h 616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0588" h="616373">
                    <a:moveTo>
                      <a:pt x="230294" y="0"/>
                    </a:moveTo>
                    <a:cubicBezTo>
                      <a:pt x="357482" y="0"/>
                      <a:pt x="460588" y="103106"/>
                      <a:pt x="460588" y="230294"/>
                    </a:cubicBezTo>
                    <a:lnTo>
                      <a:pt x="460586" y="230314"/>
                    </a:lnTo>
                    <a:lnTo>
                      <a:pt x="460586" y="616373"/>
                    </a:lnTo>
                    <a:lnTo>
                      <a:pt x="0" y="616373"/>
                    </a:lnTo>
                    <a:lnTo>
                      <a:pt x="0" y="230294"/>
                    </a:lnTo>
                    <a:lnTo>
                      <a:pt x="0" y="230293"/>
                    </a:lnTo>
                    <a:lnTo>
                      <a:pt x="0" y="230293"/>
                    </a:lnTo>
                    <a:lnTo>
                      <a:pt x="4679" y="183882"/>
                    </a:lnTo>
                    <a:cubicBezTo>
                      <a:pt x="26153" y="78941"/>
                      <a:pt x="119005" y="0"/>
                      <a:pt x="230294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4" name="直线连接符 3">
                <a:extLst>
                  <a:ext uri="{FF2B5EF4-FFF2-40B4-BE49-F238E27FC236}">
                    <a16:creationId xmlns:a16="http://schemas.microsoft.com/office/drawing/2014/main" id="{9B1FE8BC-8ACD-052D-944D-376CCC6B36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7129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线连接符 4">
                <a:extLst>
                  <a:ext uri="{FF2B5EF4-FFF2-40B4-BE49-F238E27FC236}">
                    <a16:creationId xmlns:a16="http://schemas.microsoft.com/office/drawing/2014/main" id="{0656CB75-BAA6-BA20-A3D3-D4E57C8CB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49176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线连接符 5">
                <a:extLst>
                  <a:ext uri="{FF2B5EF4-FFF2-40B4-BE49-F238E27FC236}">
                    <a16:creationId xmlns:a16="http://schemas.microsoft.com/office/drawing/2014/main" id="{F8918E7F-3B9F-4E2F-916C-4D56DBBEC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9312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线连接符 6">
                <a:extLst>
                  <a:ext uri="{FF2B5EF4-FFF2-40B4-BE49-F238E27FC236}">
                    <a16:creationId xmlns:a16="http://schemas.microsoft.com/office/drawing/2014/main" id="{72D0F4FE-00D5-972E-1896-7CF867E64E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9448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4E1C3C36-DA9A-C66D-89D5-22EEE55489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99584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F709D122-0406-F6DC-C056-3A647D8B58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49720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DEAFB400-50BF-2C03-44D5-1FDA082191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9856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9254FF-089D-2F41-8661-3F6FCFFA89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9992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B1AD62F0-123A-FFE7-EF53-B671E8882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00128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EED215B7-32D0-F3C6-61F3-97452E526A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50261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6D4B6798-D690-2B57-8E36-4B5C06038E75}"/>
                </a:ext>
              </a:extLst>
            </p:cNvPr>
            <p:cNvGrpSpPr/>
            <p:nvPr/>
          </p:nvGrpSpPr>
          <p:grpSpPr>
            <a:xfrm rot="19283720">
              <a:off x="5130972" y="2256036"/>
              <a:ext cx="3506163" cy="715722"/>
              <a:chOff x="3321351" y="4067212"/>
              <a:chExt cx="2189041" cy="446854"/>
            </a:xfrm>
          </p:grpSpPr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379794F4-03DE-B050-115E-B6E443C517D9}"/>
                  </a:ext>
                </a:extLst>
              </p:cNvPr>
              <p:cNvSpPr/>
              <p:nvPr/>
            </p:nvSpPr>
            <p:spPr>
              <a:xfrm rot="20119190">
                <a:off x="4250552" y="4129389"/>
                <a:ext cx="1259840" cy="20320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74611E34-7B4C-1983-6588-B0DCA0701C40}"/>
                  </a:ext>
                </a:extLst>
              </p:cNvPr>
              <p:cNvSpPr/>
              <p:nvPr/>
            </p:nvSpPr>
            <p:spPr>
              <a:xfrm rot="20119190">
                <a:off x="3321351" y="4067212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BA78EA94-C817-ED91-BE4F-1A0CC89A184A}"/>
                  </a:ext>
                </a:extLst>
              </p:cNvPr>
              <p:cNvSpPr/>
              <p:nvPr/>
            </p:nvSpPr>
            <p:spPr>
              <a:xfrm rot="20119190">
                <a:off x="4339835" y="4412466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11DB52D-7465-1324-40B1-99B180A88E63}"/>
                </a:ext>
              </a:extLst>
            </p:cNvPr>
            <p:cNvGrpSpPr/>
            <p:nvPr/>
          </p:nvGrpSpPr>
          <p:grpSpPr>
            <a:xfrm rot="19009840">
              <a:off x="7543094" y="599591"/>
              <a:ext cx="1173301" cy="807675"/>
              <a:chOff x="2078991" y="2260878"/>
              <a:chExt cx="732539" cy="504265"/>
            </a:xfrm>
          </p:grpSpPr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7683CA85-5987-1824-A66E-CBD23E27F07D}"/>
                  </a:ext>
                </a:extLst>
              </p:cNvPr>
              <p:cNvSpPr/>
              <p:nvPr/>
            </p:nvSpPr>
            <p:spPr>
              <a:xfrm>
                <a:off x="2078991" y="2411705"/>
                <a:ext cx="553157" cy="203200"/>
              </a:xfrm>
              <a:custGeom>
                <a:avLst/>
                <a:gdLst>
                  <a:gd name="connsiteX0" fmla="*/ 101600 w 553157"/>
                  <a:gd name="connsiteY0" fmla="*/ 0 h 203200"/>
                  <a:gd name="connsiteX1" fmla="*/ 553157 w 553157"/>
                  <a:gd name="connsiteY1" fmla="*/ 0 h 203200"/>
                  <a:gd name="connsiteX2" fmla="*/ 553157 w 553157"/>
                  <a:gd name="connsiteY2" fmla="*/ 203200 h 203200"/>
                  <a:gd name="connsiteX3" fmla="*/ 101600 w 553157"/>
                  <a:gd name="connsiteY3" fmla="*/ 203200 h 203200"/>
                  <a:gd name="connsiteX4" fmla="*/ 0 w 553157"/>
                  <a:gd name="connsiteY4" fmla="*/ 101600 h 203200"/>
                  <a:gd name="connsiteX5" fmla="*/ 101600 w 553157"/>
                  <a:gd name="connsiteY5" fmla="*/ 0 h 2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157" h="203200">
                    <a:moveTo>
                      <a:pt x="101600" y="0"/>
                    </a:moveTo>
                    <a:lnTo>
                      <a:pt x="553157" y="0"/>
                    </a:lnTo>
                    <a:lnTo>
                      <a:pt x="553157" y="203200"/>
                    </a:lnTo>
                    <a:lnTo>
                      <a:pt x="101600" y="203200"/>
                    </a:lnTo>
                    <a:cubicBezTo>
                      <a:pt x="45488" y="203200"/>
                      <a:pt x="0" y="157712"/>
                      <a:pt x="0" y="101600"/>
                    </a:cubicBez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>
                    <a:alpha val="14788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8657FFE9-D86A-02E5-CD47-874465293F54}"/>
                  </a:ext>
                </a:extLst>
              </p:cNvPr>
              <p:cNvSpPr/>
              <p:nvPr/>
            </p:nvSpPr>
            <p:spPr>
              <a:xfrm>
                <a:off x="2116243" y="2462505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4989608-EAB4-1D36-B7AE-443EF72179E5}"/>
                  </a:ext>
                </a:extLst>
              </p:cNvPr>
              <p:cNvSpPr/>
              <p:nvPr/>
            </p:nvSpPr>
            <p:spPr>
              <a:xfrm>
                <a:off x="2600723" y="2260878"/>
                <a:ext cx="45719" cy="50426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3E7FF63B-1D02-0549-F990-CAC50C001141}"/>
                  </a:ext>
                </a:extLst>
              </p:cNvPr>
              <p:cNvSpPr/>
              <p:nvPr/>
            </p:nvSpPr>
            <p:spPr>
              <a:xfrm rot="5400000">
                <a:off x="2666974" y="2246827"/>
                <a:ext cx="102534" cy="18657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0DA7CBE3-3238-89BD-09D7-B5FB8CC14ECF}"/>
                  </a:ext>
                </a:extLst>
              </p:cNvPr>
              <p:cNvSpPr/>
              <p:nvPr/>
            </p:nvSpPr>
            <p:spPr>
              <a:xfrm rot="5400000">
                <a:off x="2666974" y="2598583"/>
                <a:ext cx="102534" cy="18657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F831E8E0-365F-90B5-9F65-3870CADD4E8B}"/>
                </a:ext>
              </a:extLst>
            </p:cNvPr>
            <p:cNvSpPr/>
            <p:nvPr/>
          </p:nvSpPr>
          <p:spPr>
            <a:xfrm rot="20401535">
              <a:off x="5196406" y="2982774"/>
              <a:ext cx="2017872" cy="32546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0E0156-F05D-560D-368E-820555E790BA}"/>
                  </a:ext>
                </a:extLst>
              </p:cNvPr>
              <p:cNvSpPr txBox="1"/>
              <p:nvPr/>
            </p:nvSpPr>
            <p:spPr>
              <a:xfrm>
                <a:off x="8419940" y="3859760"/>
                <a:ext cx="392287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0E0156-F05D-560D-368E-820555E7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940" y="3859760"/>
                <a:ext cx="392287" cy="376770"/>
              </a:xfrm>
              <a:prstGeom prst="rect">
                <a:avLst/>
              </a:prstGeom>
              <a:blipFill>
                <a:blip r:embed="rId4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2DAF116D-12D6-BB5F-5C1C-77FE5EBE9A2B}"/>
              </a:ext>
            </a:extLst>
          </p:cNvPr>
          <p:cNvCxnSpPr>
            <a:cxnSpLocks/>
          </p:cNvCxnSpPr>
          <p:nvPr/>
        </p:nvCxnSpPr>
        <p:spPr>
          <a:xfrm>
            <a:off x="5666535" y="3872190"/>
            <a:ext cx="3145692" cy="0"/>
          </a:xfrm>
          <a:prstGeom prst="line">
            <a:avLst/>
          </a:prstGeom>
          <a:ln w="22225">
            <a:solidFill>
              <a:srgbClr val="00339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5665896-68B5-0F90-A2A0-F68524FAA6D7}"/>
              </a:ext>
            </a:extLst>
          </p:cNvPr>
          <p:cNvCxnSpPr>
            <a:cxnSpLocks/>
          </p:cNvCxnSpPr>
          <p:nvPr/>
        </p:nvCxnSpPr>
        <p:spPr>
          <a:xfrm flipV="1">
            <a:off x="5666535" y="1113362"/>
            <a:ext cx="0" cy="2758828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9464899-A867-9A04-9E5E-8D0EA2CFF837}"/>
                  </a:ext>
                </a:extLst>
              </p:cNvPr>
              <p:cNvSpPr txBox="1"/>
              <p:nvPr/>
            </p:nvSpPr>
            <p:spPr>
              <a:xfrm>
                <a:off x="5272308" y="1090905"/>
                <a:ext cx="382669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altLang="zh-CN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9464899-A867-9A04-9E5E-8D0EA2CFF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308" y="1090905"/>
                <a:ext cx="382669" cy="376770"/>
              </a:xfrm>
              <a:prstGeom prst="rect">
                <a:avLst/>
              </a:prstGeom>
              <a:blipFill>
                <a:blip r:embed="rId5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5DAB3475-35F7-9988-8CBD-835E09EF1DC7}"/>
              </a:ext>
            </a:extLst>
          </p:cNvPr>
          <p:cNvCxnSpPr>
            <a:cxnSpLocks/>
          </p:cNvCxnSpPr>
          <p:nvPr/>
        </p:nvCxnSpPr>
        <p:spPr>
          <a:xfrm>
            <a:off x="5666535" y="1735893"/>
            <a:ext cx="2401224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061338AE-5F93-D21E-FAE8-55D155C09044}"/>
              </a:ext>
            </a:extLst>
          </p:cNvPr>
          <p:cNvCxnSpPr>
            <a:cxnSpLocks/>
          </p:cNvCxnSpPr>
          <p:nvPr/>
        </p:nvCxnSpPr>
        <p:spPr>
          <a:xfrm flipV="1">
            <a:off x="8070124" y="1735893"/>
            <a:ext cx="0" cy="2136297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C29C8C7-7EA8-E0E6-199A-A38EAE0FA30A}"/>
                  </a:ext>
                </a:extLst>
              </p:cNvPr>
              <p:cNvSpPr txBox="1"/>
              <p:nvPr/>
            </p:nvSpPr>
            <p:spPr>
              <a:xfrm>
                <a:off x="7877047" y="3845472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C29C8C7-7EA8-E0E6-199A-A38EAE0FA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047" y="3845472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19808C3-A619-B7B5-E5C2-B8FE8287A378}"/>
                  </a:ext>
                </a:extLst>
              </p:cNvPr>
              <p:cNvSpPr txBox="1"/>
              <p:nvPr/>
            </p:nvSpPr>
            <p:spPr>
              <a:xfrm>
                <a:off x="5326140" y="1548914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19808C3-A619-B7B5-E5C2-B8FE8287A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140" y="1548914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265D786D-24F1-E443-D932-9A32CF325963}"/>
              </a:ext>
            </a:extLst>
          </p:cNvPr>
          <p:cNvCxnSpPr>
            <a:cxnSpLocks/>
          </p:cNvCxnSpPr>
          <p:nvPr/>
        </p:nvCxnSpPr>
        <p:spPr>
          <a:xfrm flipV="1">
            <a:off x="5675691" y="3292477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77251DA9-DE1F-49B2-7E96-086EB972D599}"/>
              </a:ext>
            </a:extLst>
          </p:cNvPr>
          <p:cNvCxnSpPr>
            <a:cxnSpLocks/>
          </p:cNvCxnSpPr>
          <p:nvPr/>
        </p:nvCxnSpPr>
        <p:spPr>
          <a:xfrm flipV="1">
            <a:off x="7289780" y="1741713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2BA342AD-EF36-F0D8-A28F-D8D07FDD2725}"/>
              </a:ext>
            </a:extLst>
          </p:cNvPr>
          <p:cNvCxnSpPr>
            <a:cxnSpLocks/>
          </p:cNvCxnSpPr>
          <p:nvPr/>
        </p:nvCxnSpPr>
        <p:spPr>
          <a:xfrm flipV="1">
            <a:off x="5670737" y="1748324"/>
            <a:ext cx="2390303" cy="2121309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弧 86">
            <a:extLst>
              <a:ext uri="{FF2B5EF4-FFF2-40B4-BE49-F238E27FC236}">
                <a16:creationId xmlns:a16="http://schemas.microsoft.com/office/drawing/2014/main" id="{35C9B353-7C03-E2DA-95DE-0E8A00AF3F2A}"/>
              </a:ext>
            </a:extLst>
          </p:cNvPr>
          <p:cNvSpPr/>
          <p:nvPr/>
        </p:nvSpPr>
        <p:spPr>
          <a:xfrm rot="941746">
            <a:off x="6021409" y="3645096"/>
            <a:ext cx="371698" cy="371698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8CBE1CF-C148-0490-96C1-F107BBB9D53C}"/>
                  </a:ext>
                </a:extLst>
              </p:cNvPr>
              <p:cNvSpPr txBox="1"/>
              <p:nvPr/>
            </p:nvSpPr>
            <p:spPr>
              <a:xfrm>
                <a:off x="6317613" y="3525829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8CBE1CF-C148-0490-96C1-F107BBB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7613" y="3525829"/>
                <a:ext cx="4612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051FF6A1-A461-6618-EA88-6D5DD24EE92B}"/>
              </a:ext>
            </a:extLst>
          </p:cNvPr>
          <p:cNvCxnSpPr>
            <a:cxnSpLocks/>
          </p:cNvCxnSpPr>
          <p:nvPr/>
        </p:nvCxnSpPr>
        <p:spPr>
          <a:xfrm flipV="1">
            <a:off x="5679000" y="1804946"/>
            <a:ext cx="1008047" cy="205880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C3419BED-258E-851D-363D-EAA01F141996}"/>
              </a:ext>
            </a:extLst>
          </p:cNvPr>
          <p:cNvCxnSpPr>
            <a:cxnSpLocks/>
          </p:cNvCxnSpPr>
          <p:nvPr/>
        </p:nvCxnSpPr>
        <p:spPr>
          <a:xfrm flipV="1">
            <a:off x="7296123" y="3089337"/>
            <a:ext cx="558207" cy="20632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弧 92">
            <a:extLst>
              <a:ext uri="{FF2B5EF4-FFF2-40B4-BE49-F238E27FC236}">
                <a16:creationId xmlns:a16="http://schemas.microsoft.com/office/drawing/2014/main" id="{0E36D0C8-395D-C3AA-BD1A-0127E936AF1B}"/>
              </a:ext>
            </a:extLst>
          </p:cNvPr>
          <p:cNvSpPr/>
          <p:nvPr/>
        </p:nvSpPr>
        <p:spPr>
          <a:xfrm>
            <a:off x="7251329" y="2990593"/>
            <a:ext cx="371698" cy="371698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DC81299-E1AA-6C2A-05BA-BE280178B80E}"/>
                  </a:ext>
                </a:extLst>
              </p:cNvPr>
              <p:cNvSpPr txBox="1"/>
              <p:nvPr/>
            </p:nvSpPr>
            <p:spPr>
              <a:xfrm>
                <a:off x="7477180" y="2740947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DC81299-E1AA-6C2A-05BA-BE280178B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80" y="2740947"/>
                <a:ext cx="46660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E62BCFB-6FC2-DD7D-8425-74A83E349F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17479" y="4133889"/>
            <a:ext cx="792947" cy="28643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B709F530-9EF8-57C9-444E-1DD82AA1365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27575" y="3541441"/>
            <a:ext cx="792947" cy="28643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73D04183-CA9F-867D-474F-87537D52E4B1}"/>
              </a:ext>
            </a:extLst>
          </p:cNvPr>
          <p:cNvCxnSpPr>
            <a:cxnSpLocks/>
          </p:cNvCxnSpPr>
          <p:nvPr/>
        </p:nvCxnSpPr>
        <p:spPr>
          <a:xfrm flipV="1">
            <a:off x="5914955" y="3974156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A7EB527-704E-5BE2-680B-B014D6D6C7B3}"/>
                  </a:ext>
                </a:extLst>
              </p:cNvPr>
              <p:cNvSpPr txBox="1"/>
              <p:nvPr/>
            </p:nvSpPr>
            <p:spPr>
              <a:xfrm>
                <a:off x="6540301" y="4108011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A7EB527-704E-5BE2-680B-B014D6D6C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01" y="4108011"/>
                <a:ext cx="360996" cy="3702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FEC0F814-0F04-B929-5F51-14FF4661196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11500" y="3071705"/>
            <a:ext cx="454869" cy="91314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EFE7F511-D33C-25F4-059A-D3F14C4E050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80132" y="1506926"/>
            <a:ext cx="454869" cy="91314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5F30F774-0591-0E3F-0C57-58274EEE0B8F}"/>
              </a:ext>
            </a:extLst>
          </p:cNvPr>
          <p:cNvCxnSpPr>
            <a:cxnSpLocks/>
          </p:cNvCxnSpPr>
          <p:nvPr/>
        </p:nvCxnSpPr>
        <p:spPr>
          <a:xfrm flipV="1">
            <a:off x="8149445" y="2176060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1B4B40B-404B-D4F7-6243-47913C00D0A8}"/>
                  </a:ext>
                </a:extLst>
              </p:cNvPr>
              <p:cNvSpPr txBox="1"/>
              <p:nvPr/>
            </p:nvSpPr>
            <p:spPr>
              <a:xfrm>
                <a:off x="8382207" y="2765061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1B4B40B-404B-D4F7-6243-47913C00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207" y="2765061"/>
                <a:ext cx="360996" cy="370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736AED-C615-8F70-C6DD-616D46A07A64}"/>
                  </a:ext>
                </a:extLst>
              </p:cNvPr>
              <p:cNvSpPr txBox="1"/>
              <p:nvPr/>
            </p:nvSpPr>
            <p:spPr>
              <a:xfrm>
                <a:off x="5288446" y="3766023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736AED-C615-8F70-C6DD-616D46A07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446" y="3766023"/>
                <a:ext cx="39869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401867D-EE57-E946-A0EB-857E79D01AB0}"/>
                  </a:ext>
                </a:extLst>
              </p:cNvPr>
              <p:cNvSpPr txBox="1"/>
              <p:nvPr/>
            </p:nvSpPr>
            <p:spPr>
              <a:xfrm>
                <a:off x="7335196" y="3210355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401867D-EE57-E946-A0EB-857E79D0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96" y="3210355"/>
                <a:ext cx="39869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F1028AF-97E0-6574-5181-200D4312BFF1}"/>
                  </a:ext>
                </a:extLst>
              </p:cNvPr>
              <p:cNvSpPr txBox="1"/>
              <p:nvPr/>
            </p:nvSpPr>
            <p:spPr>
              <a:xfrm>
                <a:off x="7979977" y="1395506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F1028AF-97E0-6574-5181-200D4312B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977" y="1395506"/>
                <a:ext cx="39869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B1812AAF-F8D6-FB80-3820-E5FBAEBF73CE}"/>
              </a:ext>
            </a:extLst>
          </p:cNvPr>
          <p:cNvCxnSpPr>
            <a:cxnSpLocks/>
          </p:cNvCxnSpPr>
          <p:nvPr/>
        </p:nvCxnSpPr>
        <p:spPr>
          <a:xfrm flipV="1">
            <a:off x="6446992" y="1732801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82335F9-C3E2-AE21-2021-4A4B9E73DF9B}"/>
                  </a:ext>
                </a:extLst>
              </p:cNvPr>
              <p:cNvSpPr txBox="1"/>
              <p:nvPr/>
            </p:nvSpPr>
            <p:spPr>
              <a:xfrm>
                <a:off x="6594058" y="1758359"/>
                <a:ext cx="534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altLang="zh-CN" b="0" i="1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82335F9-C3E2-AE21-2021-4A4B9E73D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058" y="1758359"/>
                <a:ext cx="53405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弧 29">
            <a:extLst>
              <a:ext uri="{FF2B5EF4-FFF2-40B4-BE49-F238E27FC236}">
                <a16:creationId xmlns:a16="http://schemas.microsoft.com/office/drawing/2014/main" id="{40237F56-9BFB-DD25-94A7-FE5625674BFE}"/>
              </a:ext>
            </a:extLst>
          </p:cNvPr>
          <p:cNvSpPr/>
          <p:nvPr/>
        </p:nvSpPr>
        <p:spPr>
          <a:xfrm>
            <a:off x="6383702" y="2017761"/>
            <a:ext cx="371698" cy="371698"/>
          </a:xfrm>
          <a:prstGeom prst="arc">
            <a:avLst/>
          </a:prstGeom>
          <a:ln w="19050">
            <a:solidFill>
              <a:schemeClr val="accent1">
                <a:alpha val="39513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0474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26">
            <a:extLst>
              <a:ext uri="{FF2B5EF4-FFF2-40B4-BE49-F238E27FC236}">
                <a16:creationId xmlns:a16="http://schemas.microsoft.com/office/drawing/2014/main" id="{D3EFCB2F-B0A6-3EB5-B865-0853A265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6743195" cy="630335"/>
          </a:xfrm>
        </p:spPr>
        <p:txBody>
          <a:bodyPr>
            <a:normAutofit fontScale="90000"/>
          </a:bodyPr>
          <a:lstStyle/>
          <a:p>
            <a:r>
              <a:rPr lang="en-GB" altLang="zh-CN" dirty="0">
                <a:solidFill>
                  <a:srgbClr val="003399"/>
                </a:solidFill>
              </a:rPr>
              <a:t>Closed-form Solutions </a:t>
            </a:r>
            <a:r>
              <a:rPr lang="en-GB" altLang="zh-CN" b="0" dirty="0">
                <a:solidFill>
                  <a:srgbClr val="003399"/>
                </a:solidFill>
              </a:rPr>
              <a:t>(geometric solution)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76288" cy="3456128"/>
              </a:xfrm>
            </p:spPr>
            <p:txBody>
              <a:bodyPr/>
              <a:lstStyle/>
              <a:p>
                <a:r>
                  <a:rPr lang="en-GB" altLang="zh-CN" sz="1800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sz="1800" dirty="0"/>
                  <a:t>, we find expressions for angles </a:t>
                </a:r>
                <a14:m>
                  <m:oMath xmlns:m="http://schemas.openxmlformats.org/officeDocument/2006/math"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GB" altLang="zh-CN" sz="1800" dirty="0"/>
                  <a:t> and </a:t>
                </a:r>
                <a14:m>
                  <m:oMath xmlns:m="http://schemas.openxmlformats.org/officeDocument/2006/math">
                    <m:r>
                      <a:rPr lang="en-GB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sz="2000" dirty="0"/>
                  <a:t>. </a:t>
                </a:r>
              </a:p>
              <a:p>
                <a:r>
                  <a:rPr lang="en-GB" altLang="zh-CN" sz="1800" dirty="0"/>
                  <a:t>First,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𝐴𝑡𝑎𝑛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2(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altLang="zh-CN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GB" altLang="zh-CN" sz="1800" b="0" dirty="0">
                  <a:solidFill>
                    <a:schemeClr val="tx1"/>
                  </a:solidFill>
                </a:endParaRPr>
              </a:p>
              <a:p>
                <a:r>
                  <a:rPr lang="en-GB" altLang="zh-CN" sz="1800" b="0" dirty="0">
                    <a:solidFill>
                      <a:schemeClr val="tx1"/>
                    </a:solidFill>
                  </a:rPr>
                  <a:t>We again apply the law of cosines to find </a:t>
                </a:r>
                <a14:m>
                  <m:oMath xmlns:m="http://schemas.openxmlformats.org/officeDocument/2006/math">
                    <m:r>
                      <a:rPr kumimoji="1" lang="zh-CN" altLang="en-US" sz="180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GB" altLang="zh-CN" sz="1800" b="0" dirty="0">
                    <a:solidFill>
                      <a:schemeClr val="tx1"/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18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func>
                      <m:r>
                        <a:rPr lang="en-GB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GB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GB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en-GB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GB" altLang="zh-CN" sz="1800" b="0" dirty="0">
                  <a:solidFill>
                    <a:schemeClr val="tx1"/>
                  </a:solidFill>
                </a:endParaRPr>
              </a:p>
              <a:p>
                <a:r>
                  <a:rPr lang="en-GB" altLang="zh-CN" sz="1800" dirty="0"/>
                  <a:t>Finally: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altLang="zh-CN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altLang="zh-CN" sz="1800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altLang="zh-CN" sz="1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kumimoji="1" lang="zh-CN" alt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kumimoji="1" lang="en-GB" altLang="zh-CN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altLang="zh-CN" sz="18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altLang="zh-CN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altLang="zh-CN" sz="1800" i="1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altLang="zh-CN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altLang="zh-CN" sz="18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GB" altLang="zh-C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GB" altLang="zh-CN" sz="1800" b="0" i="0" dirty="0" smtClean="0"/>
                        <m:t>−</m:t>
                      </m:r>
                      <m:r>
                        <m:rPr>
                          <m:nor/>
                        </m:rPr>
                        <a:rPr lang="en-GB" altLang="zh-CN" sz="1800" dirty="0"/>
                        <m:t> </m:t>
                      </m:r>
                      <m:sSub>
                        <m:sSubPr>
                          <m:ctrlPr>
                            <a:rPr lang="en-GB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altLang="zh-CN" sz="1800" dirty="0"/>
              </a:p>
            </p:txBody>
          </p:sp>
        </mc:Choice>
        <mc:Fallback xmlns="">
          <p:sp>
            <p:nvSpPr>
              <p:cNvPr id="28" name="文本占位符 27">
                <a:extLst>
                  <a:ext uri="{FF2B5EF4-FFF2-40B4-BE49-F238E27FC236}">
                    <a16:creationId xmlns:a16="http://schemas.microsoft.com/office/drawing/2014/main" id="{BE7ECEE0-0F88-73E7-DED2-97591626A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76288" cy="3456128"/>
              </a:xfrm>
              <a:blipFill>
                <a:blip r:embed="rId3"/>
                <a:stretch>
                  <a:fillRect l="-1183" t="-1099" r="-5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>
            <a:extLst>
              <a:ext uri="{FF2B5EF4-FFF2-40B4-BE49-F238E27FC236}">
                <a16:creationId xmlns:a16="http://schemas.microsoft.com/office/drawing/2014/main" id="{DFAC0FEE-3C4B-55D2-CDDC-08B3B992F813}"/>
              </a:ext>
            </a:extLst>
          </p:cNvPr>
          <p:cNvGrpSpPr/>
          <p:nvPr/>
        </p:nvGrpSpPr>
        <p:grpSpPr>
          <a:xfrm>
            <a:off x="5224484" y="1032659"/>
            <a:ext cx="3758948" cy="3708089"/>
            <a:chOff x="4957447" y="599591"/>
            <a:chExt cx="3758948" cy="3708089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40E6C47-B33A-AA74-FD7C-C462503B35CB}"/>
                </a:ext>
              </a:extLst>
            </p:cNvPr>
            <p:cNvGrpSpPr/>
            <p:nvPr/>
          </p:nvGrpSpPr>
          <p:grpSpPr>
            <a:xfrm>
              <a:off x="4957447" y="3202070"/>
              <a:ext cx="810911" cy="1105610"/>
              <a:chOff x="3097129" y="3967281"/>
              <a:chExt cx="506285" cy="690277"/>
            </a:xfrm>
          </p:grpSpPr>
          <p:sp>
            <p:nvSpPr>
              <p:cNvPr id="3" name="任意形状 2">
                <a:extLst>
                  <a:ext uri="{FF2B5EF4-FFF2-40B4-BE49-F238E27FC236}">
                    <a16:creationId xmlns:a16="http://schemas.microsoft.com/office/drawing/2014/main" id="{DDB66E6A-67E5-AD82-EF35-9FE67561768A}"/>
                  </a:ext>
                </a:extLst>
              </p:cNvPr>
              <p:cNvSpPr/>
              <p:nvPr/>
            </p:nvSpPr>
            <p:spPr>
              <a:xfrm>
                <a:off x="3142826" y="3967281"/>
                <a:ext cx="460588" cy="616373"/>
              </a:xfrm>
              <a:custGeom>
                <a:avLst/>
                <a:gdLst>
                  <a:gd name="connsiteX0" fmla="*/ 230294 w 460588"/>
                  <a:gd name="connsiteY0" fmla="*/ 0 h 616373"/>
                  <a:gd name="connsiteX1" fmla="*/ 460588 w 460588"/>
                  <a:gd name="connsiteY1" fmla="*/ 230294 h 616373"/>
                  <a:gd name="connsiteX2" fmla="*/ 460586 w 460588"/>
                  <a:gd name="connsiteY2" fmla="*/ 230314 h 616373"/>
                  <a:gd name="connsiteX3" fmla="*/ 460586 w 460588"/>
                  <a:gd name="connsiteY3" fmla="*/ 616373 h 616373"/>
                  <a:gd name="connsiteX4" fmla="*/ 0 w 460588"/>
                  <a:gd name="connsiteY4" fmla="*/ 616373 h 616373"/>
                  <a:gd name="connsiteX5" fmla="*/ 0 w 460588"/>
                  <a:gd name="connsiteY5" fmla="*/ 230294 h 616373"/>
                  <a:gd name="connsiteX6" fmla="*/ 0 w 460588"/>
                  <a:gd name="connsiteY6" fmla="*/ 230293 h 616373"/>
                  <a:gd name="connsiteX7" fmla="*/ 0 w 460588"/>
                  <a:gd name="connsiteY7" fmla="*/ 230293 h 616373"/>
                  <a:gd name="connsiteX8" fmla="*/ 4679 w 460588"/>
                  <a:gd name="connsiteY8" fmla="*/ 183882 h 616373"/>
                  <a:gd name="connsiteX9" fmla="*/ 230294 w 460588"/>
                  <a:gd name="connsiteY9" fmla="*/ 0 h 616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0588" h="616373">
                    <a:moveTo>
                      <a:pt x="230294" y="0"/>
                    </a:moveTo>
                    <a:cubicBezTo>
                      <a:pt x="357482" y="0"/>
                      <a:pt x="460588" y="103106"/>
                      <a:pt x="460588" y="230294"/>
                    </a:cubicBezTo>
                    <a:lnTo>
                      <a:pt x="460586" y="230314"/>
                    </a:lnTo>
                    <a:lnTo>
                      <a:pt x="460586" y="616373"/>
                    </a:lnTo>
                    <a:lnTo>
                      <a:pt x="0" y="616373"/>
                    </a:lnTo>
                    <a:lnTo>
                      <a:pt x="0" y="230294"/>
                    </a:lnTo>
                    <a:lnTo>
                      <a:pt x="0" y="230293"/>
                    </a:lnTo>
                    <a:lnTo>
                      <a:pt x="0" y="230293"/>
                    </a:lnTo>
                    <a:lnTo>
                      <a:pt x="4679" y="183882"/>
                    </a:lnTo>
                    <a:cubicBezTo>
                      <a:pt x="26153" y="78941"/>
                      <a:pt x="119005" y="0"/>
                      <a:pt x="230294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4" name="直线连接符 3">
                <a:extLst>
                  <a:ext uri="{FF2B5EF4-FFF2-40B4-BE49-F238E27FC236}">
                    <a16:creationId xmlns:a16="http://schemas.microsoft.com/office/drawing/2014/main" id="{9B1FE8BC-8ACD-052D-944D-376CCC6B36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7129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线连接符 4">
                <a:extLst>
                  <a:ext uri="{FF2B5EF4-FFF2-40B4-BE49-F238E27FC236}">
                    <a16:creationId xmlns:a16="http://schemas.microsoft.com/office/drawing/2014/main" id="{0656CB75-BAA6-BA20-A3D3-D4E57C8CB9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49176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线连接符 5">
                <a:extLst>
                  <a:ext uri="{FF2B5EF4-FFF2-40B4-BE49-F238E27FC236}">
                    <a16:creationId xmlns:a16="http://schemas.microsoft.com/office/drawing/2014/main" id="{F8918E7F-3B9F-4E2F-916C-4D56DBBEC3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9312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线连接符 6">
                <a:extLst>
                  <a:ext uri="{FF2B5EF4-FFF2-40B4-BE49-F238E27FC236}">
                    <a16:creationId xmlns:a16="http://schemas.microsoft.com/office/drawing/2014/main" id="{72D0F4FE-00D5-972E-1896-7CF867E64E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49448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7">
                <a:extLst>
                  <a:ext uri="{FF2B5EF4-FFF2-40B4-BE49-F238E27FC236}">
                    <a16:creationId xmlns:a16="http://schemas.microsoft.com/office/drawing/2014/main" id="{4E1C3C36-DA9A-C66D-89D5-22EEE55489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99584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F709D122-0406-F6DC-C056-3A647D8B58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49720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DEAFB400-50BF-2C03-44D5-1FDA082191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9856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9254FF-089D-2F41-8661-3F6FCFFA89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9992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B1AD62F0-123A-FFE7-EF53-B671E88828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00128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EED215B7-32D0-F3C6-61F3-97452E526A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50261" y="4583654"/>
                <a:ext cx="52047" cy="739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6D4B6798-D690-2B57-8E36-4B5C06038E75}"/>
                </a:ext>
              </a:extLst>
            </p:cNvPr>
            <p:cNvGrpSpPr/>
            <p:nvPr/>
          </p:nvGrpSpPr>
          <p:grpSpPr>
            <a:xfrm rot="19283720">
              <a:off x="5130972" y="2256036"/>
              <a:ext cx="3506163" cy="715722"/>
              <a:chOff x="3321351" y="4067212"/>
              <a:chExt cx="2189041" cy="446854"/>
            </a:xfrm>
          </p:grpSpPr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379794F4-03DE-B050-115E-B6E443C517D9}"/>
                  </a:ext>
                </a:extLst>
              </p:cNvPr>
              <p:cNvSpPr/>
              <p:nvPr/>
            </p:nvSpPr>
            <p:spPr>
              <a:xfrm rot="20119190">
                <a:off x="4250552" y="4129389"/>
                <a:ext cx="1259840" cy="20320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74611E34-7B4C-1983-6588-B0DCA0701C40}"/>
                  </a:ext>
                </a:extLst>
              </p:cNvPr>
              <p:cNvSpPr/>
              <p:nvPr/>
            </p:nvSpPr>
            <p:spPr>
              <a:xfrm rot="20119190">
                <a:off x="3321351" y="4067212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BA78EA94-C817-ED91-BE4F-1A0CC89A184A}"/>
                  </a:ext>
                </a:extLst>
              </p:cNvPr>
              <p:cNvSpPr/>
              <p:nvPr/>
            </p:nvSpPr>
            <p:spPr>
              <a:xfrm rot="20119190">
                <a:off x="4339835" y="4412466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11DB52D-7465-1324-40B1-99B180A88E63}"/>
                </a:ext>
              </a:extLst>
            </p:cNvPr>
            <p:cNvGrpSpPr/>
            <p:nvPr/>
          </p:nvGrpSpPr>
          <p:grpSpPr>
            <a:xfrm rot="19009840">
              <a:off x="7543094" y="599591"/>
              <a:ext cx="1173301" cy="807675"/>
              <a:chOff x="2078991" y="2260878"/>
              <a:chExt cx="732539" cy="504265"/>
            </a:xfrm>
          </p:grpSpPr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7683CA85-5987-1824-A66E-CBD23E27F07D}"/>
                  </a:ext>
                </a:extLst>
              </p:cNvPr>
              <p:cNvSpPr/>
              <p:nvPr/>
            </p:nvSpPr>
            <p:spPr>
              <a:xfrm>
                <a:off x="2078991" y="2411705"/>
                <a:ext cx="553157" cy="203200"/>
              </a:xfrm>
              <a:custGeom>
                <a:avLst/>
                <a:gdLst>
                  <a:gd name="connsiteX0" fmla="*/ 101600 w 553157"/>
                  <a:gd name="connsiteY0" fmla="*/ 0 h 203200"/>
                  <a:gd name="connsiteX1" fmla="*/ 553157 w 553157"/>
                  <a:gd name="connsiteY1" fmla="*/ 0 h 203200"/>
                  <a:gd name="connsiteX2" fmla="*/ 553157 w 553157"/>
                  <a:gd name="connsiteY2" fmla="*/ 203200 h 203200"/>
                  <a:gd name="connsiteX3" fmla="*/ 101600 w 553157"/>
                  <a:gd name="connsiteY3" fmla="*/ 203200 h 203200"/>
                  <a:gd name="connsiteX4" fmla="*/ 0 w 553157"/>
                  <a:gd name="connsiteY4" fmla="*/ 101600 h 203200"/>
                  <a:gd name="connsiteX5" fmla="*/ 101600 w 553157"/>
                  <a:gd name="connsiteY5" fmla="*/ 0 h 2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157" h="203200">
                    <a:moveTo>
                      <a:pt x="101600" y="0"/>
                    </a:moveTo>
                    <a:lnTo>
                      <a:pt x="553157" y="0"/>
                    </a:lnTo>
                    <a:lnTo>
                      <a:pt x="553157" y="203200"/>
                    </a:lnTo>
                    <a:lnTo>
                      <a:pt x="101600" y="203200"/>
                    </a:lnTo>
                    <a:cubicBezTo>
                      <a:pt x="45488" y="203200"/>
                      <a:pt x="0" y="157712"/>
                      <a:pt x="0" y="101600"/>
                    </a:cubicBez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>
                    <a:alpha val="14788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8657FFE9-D86A-02E5-CD47-874465293F54}"/>
                  </a:ext>
                </a:extLst>
              </p:cNvPr>
              <p:cNvSpPr/>
              <p:nvPr/>
            </p:nvSpPr>
            <p:spPr>
              <a:xfrm>
                <a:off x="2116243" y="2462505"/>
                <a:ext cx="101600" cy="101600"/>
              </a:xfrm>
              <a:prstGeom prst="ellipse">
                <a:avLst/>
              </a:prstGeom>
              <a:noFill/>
              <a:ln>
                <a:solidFill>
                  <a:schemeClr val="tx1">
                    <a:alpha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4989608-EAB4-1D36-B7AE-443EF72179E5}"/>
                  </a:ext>
                </a:extLst>
              </p:cNvPr>
              <p:cNvSpPr/>
              <p:nvPr/>
            </p:nvSpPr>
            <p:spPr>
              <a:xfrm>
                <a:off x="2600723" y="2260878"/>
                <a:ext cx="45719" cy="50426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3E7FF63B-1D02-0549-F990-CAC50C001141}"/>
                  </a:ext>
                </a:extLst>
              </p:cNvPr>
              <p:cNvSpPr/>
              <p:nvPr/>
            </p:nvSpPr>
            <p:spPr>
              <a:xfrm rot="5400000">
                <a:off x="2666974" y="2246827"/>
                <a:ext cx="102534" cy="18657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0DA7CBE3-3238-89BD-09D7-B5FB8CC14ECF}"/>
                  </a:ext>
                </a:extLst>
              </p:cNvPr>
              <p:cNvSpPr/>
              <p:nvPr/>
            </p:nvSpPr>
            <p:spPr>
              <a:xfrm rot="5400000">
                <a:off x="2666974" y="2598583"/>
                <a:ext cx="102534" cy="186578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F831E8E0-365F-90B5-9F65-3870CADD4E8B}"/>
                </a:ext>
              </a:extLst>
            </p:cNvPr>
            <p:cNvSpPr/>
            <p:nvPr/>
          </p:nvSpPr>
          <p:spPr>
            <a:xfrm rot="20401535">
              <a:off x="5196406" y="2982774"/>
              <a:ext cx="2017872" cy="32546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0E0156-F05D-560D-368E-820555E790BA}"/>
                  </a:ext>
                </a:extLst>
              </p:cNvPr>
              <p:cNvSpPr txBox="1"/>
              <p:nvPr/>
            </p:nvSpPr>
            <p:spPr>
              <a:xfrm>
                <a:off x="8419940" y="3859760"/>
                <a:ext cx="392287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altLang="zh-CN" i="1" dirty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90E0156-F05D-560D-368E-820555E7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940" y="3859760"/>
                <a:ext cx="392287" cy="376770"/>
              </a:xfrm>
              <a:prstGeom prst="rect">
                <a:avLst/>
              </a:prstGeom>
              <a:blipFill>
                <a:blip r:embed="rId4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2DAF116D-12D6-BB5F-5C1C-77FE5EBE9A2B}"/>
              </a:ext>
            </a:extLst>
          </p:cNvPr>
          <p:cNvCxnSpPr>
            <a:cxnSpLocks/>
          </p:cNvCxnSpPr>
          <p:nvPr/>
        </p:nvCxnSpPr>
        <p:spPr>
          <a:xfrm>
            <a:off x="5666535" y="3872190"/>
            <a:ext cx="3145692" cy="0"/>
          </a:xfrm>
          <a:prstGeom prst="line">
            <a:avLst/>
          </a:prstGeom>
          <a:ln w="22225">
            <a:solidFill>
              <a:srgbClr val="003399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5665896-68B5-0F90-A2A0-F68524FAA6D7}"/>
              </a:ext>
            </a:extLst>
          </p:cNvPr>
          <p:cNvCxnSpPr>
            <a:cxnSpLocks/>
          </p:cNvCxnSpPr>
          <p:nvPr/>
        </p:nvCxnSpPr>
        <p:spPr>
          <a:xfrm flipV="1">
            <a:off x="5666535" y="1113362"/>
            <a:ext cx="0" cy="2758828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9464899-A867-9A04-9E5E-8D0EA2CFF837}"/>
                  </a:ext>
                </a:extLst>
              </p:cNvPr>
              <p:cNvSpPr txBox="1"/>
              <p:nvPr/>
            </p:nvSpPr>
            <p:spPr>
              <a:xfrm>
                <a:off x="5272308" y="1090905"/>
                <a:ext cx="382669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altLang="zh-CN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altLang="zh-CN" b="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kumimoji="1" lang="zh-CN" alt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9464899-A867-9A04-9E5E-8D0EA2CFF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308" y="1090905"/>
                <a:ext cx="382669" cy="376770"/>
              </a:xfrm>
              <a:prstGeom prst="rect">
                <a:avLst/>
              </a:prstGeom>
              <a:blipFill>
                <a:blip r:embed="rId5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5DAB3475-35F7-9988-8CBD-835E09EF1DC7}"/>
              </a:ext>
            </a:extLst>
          </p:cNvPr>
          <p:cNvCxnSpPr>
            <a:cxnSpLocks/>
          </p:cNvCxnSpPr>
          <p:nvPr/>
        </p:nvCxnSpPr>
        <p:spPr>
          <a:xfrm>
            <a:off x="5666535" y="1735893"/>
            <a:ext cx="2401224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061338AE-5F93-D21E-FAE8-55D155C09044}"/>
              </a:ext>
            </a:extLst>
          </p:cNvPr>
          <p:cNvCxnSpPr>
            <a:cxnSpLocks/>
          </p:cNvCxnSpPr>
          <p:nvPr/>
        </p:nvCxnSpPr>
        <p:spPr>
          <a:xfrm flipV="1">
            <a:off x="8070124" y="1735893"/>
            <a:ext cx="0" cy="2136297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C29C8C7-7EA8-E0E6-199A-A38EAE0FA30A}"/>
                  </a:ext>
                </a:extLst>
              </p:cNvPr>
              <p:cNvSpPr txBox="1"/>
              <p:nvPr/>
            </p:nvSpPr>
            <p:spPr>
              <a:xfrm>
                <a:off x="7877047" y="3845472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DC29C8C7-7EA8-E0E6-199A-A38EAE0FA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047" y="3845472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19808C3-A619-B7B5-E5C2-B8FE8287A378}"/>
                  </a:ext>
                </a:extLst>
              </p:cNvPr>
              <p:cNvSpPr txBox="1"/>
              <p:nvPr/>
            </p:nvSpPr>
            <p:spPr>
              <a:xfrm>
                <a:off x="5326140" y="1548914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19808C3-A619-B7B5-E5C2-B8FE8287A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140" y="1548914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265D786D-24F1-E443-D932-9A32CF325963}"/>
              </a:ext>
            </a:extLst>
          </p:cNvPr>
          <p:cNvCxnSpPr>
            <a:cxnSpLocks/>
          </p:cNvCxnSpPr>
          <p:nvPr/>
        </p:nvCxnSpPr>
        <p:spPr>
          <a:xfrm flipV="1">
            <a:off x="5675691" y="3292477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77251DA9-DE1F-49B2-7E96-086EB972D599}"/>
              </a:ext>
            </a:extLst>
          </p:cNvPr>
          <p:cNvCxnSpPr>
            <a:cxnSpLocks/>
          </p:cNvCxnSpPr>
          <p:nvPr/>
        </p:nvCxnSpPr>
        <p:spPr>
          <a:xfrm flipV="1">
            <a:off x="7289780" y="1741713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2BA342AD-EF36-F0D8-A28F-D8D07FDD2725}"/>
              </a:ext>
            </a:extLst>
          </p:cNvPr>
          <p:cNvCxnSpPr>
            <a:cxnSpLocks/>
          </p:cNvCxnSpPr>
          <p:nvPr/>
        </p:nvCxnSpPr>
        <p:spPr>
          <a:xfrm flipV="1">
            <a:off x="5670737" y="1748324"/>
            <a:ext cx="2390303" cy="2121309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弧 86">
            <a:extLst>
              <a:ext uri="{FF2B5EF4-FFF2-40B4-BE49-F238E27FC236}">
                <a16:creationId xmlns:a16="http://schemas.microsoft.com/office/drawing/2014/main" id="{35C9B353-7C03-E2DA-95DE-0E8A00AF3F2A}"/>
              </a:ext>
            </a:extLst>
          </p:cNvPr>
          <p:cNvSpPr/>
          <p:nvPr/>
        </p:nvSpPr>
        <p:spPr>
          <a:xfrm rot="941746">
            <a:off x="5718579" y="3424720"/>
            <a:ext cx="703260" cy="703260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8CBE1CF-C148-0490-96C1-F107BBB9D53C}"/>
                  </a:ext>
                </a:extLst>
              </p:cNvPr>
              <p:cNvSpPr txBox="1"/>
              <p:nvPr/>
            </p:nvSpPr>
            <p:spPr>
              <a:xfrm>
                <a:off x="6301467" y="3392021"/>
                <a:ext cx="384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8CBE1CF-C148-0490-96C1-F107BBB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467" y="3392021"/>
                <a:ext cx="384016" cy="369332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C3419BED-258E-851D-363D-EAA01F141996}"/>
              </a:ext>
            </a:extLst>
          </p:cNvPr>
          <p:cNvCxnSpPr>
            <a:cxnSpLocks/>
          </p:cNvCxnSpPr>
          <p:nvPr/>
        </p:nvCxnSpPr>
        <p:spPr>
          <a:xfrm flipV="1">
            <a:off x="7296123" y="3089337"/>
            <a:ext cx="558207" cy="20632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弧 92">
            <a:extLst>
              <a:ext uri="{FF2B5EF4-FFF2-40B4-BE49-F238E27FC236}">
                <a16:creationId xmlns:a16="http://schemas.microsoft.com/office/drawing/2014/main" id="{0E36D0C8-395D-C3AA-BD1A-0127E936AF1B}"/>
              </a:ext>
            </a:extLst>
          </p:cNvPr>
          <p:cNvSpPr/>
          <p:nvPr/>
        </p:nvSpPr>
        <p:spPr>
          <a:xfrm>
            <a:off x="7251329" y="2990593"/>
            <a:ext cx="371698" cy="371698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DC81299-E1AA-6C2A-05BA-BE280178B80E}"/>
                  </a:ext>
                </a:extLst>
              </p:cNvPr>
              <p:cNvSpPr txBox="1"/>
              <p:nvPr/>
            </p:nvSpPr>
            <p:spPr>
              <a:xfrm>
                <a:off x="6839056" y="3464734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DC81299-E1AA-6C2A-05BA-BE280178B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056" y="3464734"/>
                <a:ext cx="46128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E62BCFB-6FC2-DD7D-8425-74A83E349F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17479" y="4133889"/>
            <a:ext cx="792947" cy="28643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B709F530-9EF8-57C9-444E-1DD82AA1365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27575" y="3541441"/>
            <a:ext cx="792947" cy="28643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73D04183-CA9F-867D-474F-87537D52E4B1}"/>
              </a:ext>
            </a:extLst>
          </p:cNvPr>
          <p:cNvCxnSpPr>
            <a:cxnSpLocks/>
          </p:cNvCxnSpPr>
          <p:nvPr/>
        </p:nvCxnSpPr>
        <p:spPr>
          <a:xfrm flipV="1">
            <a:off x="5914955" y="3974156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A7EB527-704E-5BE2-680B-B014D6D6C7B3}"/>
                  </a:ext>
                </a:extLst>
              </p:cNvPr>
              <p:cNvSpPr txBox="1"/>
              <p:nvPr/>
            </p:nvSpPr>
            <p:spPr>
              <a:xfrm>
                <a:off x="6540301" y="4108011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1A7EB527-704E-5BE2-680B-B014D6D6C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301" y="4108011"/>
                <a:ext cx="360996" cy="3702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FEC0F814-0F04-B929-5F51-14FF4661196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11500" y="3071705"/>
            <a:ext cx="454869" cy="91314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EFE7F511-D33C-25F4-059A-D3F14C4E050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80132" y="1506926"/>
            <a:ext cx="454869" cy="913144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5F30F774-0591-0E3F-0C57-58274EEE0B8F}"/>
              </a:ext>
            </a:extLst>
          </p:cNvPr>
          <p:cNvCxnSpPr>
            <a:cxnSpLocks/>
          </p:cNvCxnSpPr>
          <p:nvPr/>
        </p:nvCxnSpPr>
        <p:spPr>
          <a:xfrm flipV="1">
            <a:off x="8149445" y="2176060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1B4B40B-404B-D4F7-6243-47913C00D0A8}"/>
                  </a:ext>
                </a:extLst>
              </p:cNvPr>
              <p:cNvSpPr txBox="1"/>
              <p:nvPr/>
            </p:nvSpPr>
            <p:spPr>
              <a:xfrm>
                <a:off x="8382207" y="2765061"/>
                <a:ext cx="360996" cy="37029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1B4B40B-404B-D4F7-6243-47913C00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207" y="2765061"/>
                <a:ext cx="360996" cy="370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736AED-C615-8F70-C6DD-616D46A07A64}"/>
                  </a:ext>
                </a:extLst>
              </p:cNvPr>
              <p:cNvSpPr txBox="1"/>
              <p:nvPr/>
            </p:nvSpPr>
            <p:spPr>
              <a:xfrm>
                <a:off x="5288446" y="3766023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736AED-C615-8F70-C6DD-616D46A07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446" y="3766023"/>
                <a:ext cx="39869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401867D-EE57-E946-A0EB-857E79D01AB0}"/>
                  </a:ext>
                </a:extLst>
              </p:cNvPr>
              <p:cNvSpPr txBox="1"/>
              <p:nvPr/>
            </p:nvSpPr>
            <p:spPr>
              <a:xfrm>
                <a:off x="7335196" y="3210355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401867D-EE57-E946-A0EB-857E79D0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96" y="3210355"/>
                <a:ext cx="39869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F1028AF-97E0-6574-5181-200D4312BFF1}"/>
                  </a:ext>
                </a:extLst>
              </p:cNvPr>
              <p:cNvSpPr txBox="1"/>
              <p:nvPr/>
            </p:nvSpPr>
            <p:spPr>
              <a:xfrm>
                <a:off x="7979977" y="1395506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F1028AF-97E0-6574-5181-200D4312B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977" y="1395506"/>
                <a:ext cx="39869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B1812AAF-F8D6-FB80-3820-E5FBAEBF73CE}"/>
              </a:ext>
            </a:extLst>
          </p:cNvPr>
          <p:cNvCxnSpPr>
            <a:cxnSpLocks/>
          </p:cNvCxnSpPr>
          <p:nvPr/>
        </p:nvCxnSpPr>
        <p:spPr>
          <a:xfrm flipV="1">
            <a:off x="6446992" y="1732801"/>
            <a:ext cx="1611688" cy="582182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D6572C14-0EB4-E5AA-69A7-DA6B11BD2DA1}"/>
              </a:ext>
            </a:extLst>
          </p:cNvPr>
          <p:cNvCxnSpPr>
            <a:cxnSpLocks/>
          </p:cNvCxnSpPr>
          <p:nvPr/>
        </p:nvCxnSpPr>
        <p:spPr>
          <a:xfrm flipV="1">
            <a:off x="5679000" y="2315454"/>
            <a:ext cx="771260" cy="1548296"/>
          </a:xfrm>
          <a:prstGeom prst="line">
            <a:avLst/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 23">
            <a:extLst>
              <a:ext uri="{FF2B5EF4-FFF2-40B4-BE49-F238E27FC236}">
                <a16:creationId xmlns:a16="http://schemas.microsoft.com/office/drawing/2014/main" id="{E40616A2-875D-FD35-39EC-3F25517CF8D2}"/>
              </a:ext>
            </a:extLst>
          </p:cNvPr>
          <p:cNvSpPr/>
          <p:nvPr/>
        </p:nvSpPr>
        <p:spPr>
          <a:xfrm rot="513855">
            <a:off x="6099376" y="3222028"/>
            <a:ext cx="534331" cy="534331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CD1677D-4637-1B85-911B-C72C764D9274}"/>
                  </a:ext>
                </a:extLst>
              </p:cNvPr>
              <p:cNvSpPr txBox="1"/>
              <p:nvPr/>
            </p:nvSpPr>
            <p:spPr>
              <a:xfrm>
                <a:off x="6497388" y="3056829"/>
                <a:ext cx="4028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CD1677D-4637-1B85-911B-C72C764D9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388" y="3056829"/>
                <a:ext cx="402866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弧 28">
            <a:extLst>
              <a:ext uri="{FF2B5EF4-FFF2-40B4-BE49-F238E27FC236}">
                <a16:creationId xmlns:a16="http://schemas.microsoft.com/office/drawing/2014/main" id="{1D016ECD-1F38-1745-AA85-6743356EEDAC}"/>
              </a:ext>
            </a:extLst>
          </p:cNvPr>
          <p:cNvSpPr/>
          <p:nvPr/>
        </p:nvSpPr>
        <p:spPr>
          <a:xfrm rot="1647537">
            <a:off x="6385161" y="3463539"/>
            <a:ext cx="544194" cy="544194"/>
          </a:xfrm>
          <a:prstGeom prst="arc">
            <a:avLst/>
          </a:pr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4090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8E50080-4F14-13F2-1F5A-E9F9535E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8117786" cy="630335"/>
          </a:xfrm>
        </p:spPr>
        <p:txBody>
          <a:bodyPr>
            <a:normAutofit/>
          </a:bodyPr>
          <a:lstStyle/>
          <a:p>
            <a:r>
              <a:rPr lang="en-GB" altLang="zh-CN" dirty="0"/>
              <a:t>Pieper’s Solution When Axis 4,5,6 Intersect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43589" cy="3112678"/>
              </a:xfrm>
            </p:spPr>
            <p:txBody>
              <a:bodyPr/>
              <a:lstStyle/>
              <a:p>
                <a:r>
                  <a:rPr lang="en-GB" altLang="zh-CN" dirty="0"/>
                  <a:t>The basic idea of Pieper is to split the manipulator into two chains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zh-CN" dirty="0"/>
                  <a:t>Chain 1: link 0, link 1, link 2, link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zh-CN" dirty="0"/>
                  <a:t>Chain 2: link 4, link 5, link 6</a:t>
                </a:r>
              </a:p>
              <a:p>
                <a:r>
                  <a:rPr lang="en-GB" altLang="zh-CN" dirty="0"/>
                  <a:t>Since the axis 4,5,6 intersect, the lengths of link 4,5,6 are 0. So, the twist position i.e.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0" baseline="30000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𝑜𝑟𝑔</m:t>
                          </m:r>
                        </m:sub>
                      </m:sSub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GB" altLang="zh-CN" baseline="3000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𝑜𝑟𝑔</m:t>
                          </m:r>
                        </m:sub>
                      </m:sSub>
                    </m:oMath>
                  </m:oMathPara>
                </a14:m>
                <a:endParaRPr lang="en-GB" altLang="zh-CN" dirty="0"/>
              </a:p>
              <a:p>
                <a:r>
                  <a:rPr lang="en-GB" altLang="zh-CN" dirty="0"/>
                  <a:t>Since axis 4,5,6 provide 3 rotation freedom, it can point any position. Therefore, </a:t>
                </a:r>
                <a:r>
                  <a:rPr lang="en-GB" altLang="zh-CN" dirty="0">
                    <a:solidFill>
                      <a:schemeClr val="tx2"/>
                    </a:solidFill>
                  </a:rPr>
                  <a:t>chain 1 is only used to reach the target position</a:t>
                </a:r>
                <a:r>
                  <a:rPr lang="en-GB" altLang="zh-CN" dirty="0"/>
                  <a:t>, and </a:t>
                </a:r>
                <a:r>
                  <a:rPr lang="en-GB" altLang="zh-CN" dirty="0">
                    <a:solidFill>
                      <a:schemeClr val="tx2"/>
                    </a:solidFill>
                  </a:rPr>
                  <a:t>chain 2 is only used to point the target orientation</a:t>
                </a:r>
                <a:r>
                  <a:rPr lang="en-GB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43589" cy="3112678"/>
              </a:xfrm>
              <a:blipFill>
                <a:blip r:embed="rId2"/>
                <a:stretch>
                  <a:fillRect l="-597" t="-1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977E91B8-D205-7A05-BC5A-A09001485D22}"/>
              </a:ext>
            </a:extLst>
          </p:cNvPr>
          <p:cNvGrpSpPr/>
          <p:nvPr/>
        </p:nvGrpSpPr>
        <p:grpSpPr>
          <a:xfrm>
            <a:off x="4659140" y="1167658"/>
            <a:ext cx="4264077" cy="3824474"/>
            <a:chOff x="3273725" y="122281"/>
            <a:chExt cx="5429614" cy="486985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9690E70-E6BF-9C24-F659-EF92B6354DA5}"/>
                </a:ext>
              </a:extLst>
            </p:cNvPr>
            <p:cNvGrpSpPr/>
            <p:nvPr/>
          </p:nvGrpSpPr>
          <p:grpSpPr>
            <a:xfrm>
              <a:off x="3559259" y="122281"/>
              <a:ext cx="4293593" cy="4869851"/>
              <a:chOff x="802206" y="-1900482"/>
              <a:chExt cx="6471431" cy="7339984"/>
            </a:xfrm>
          </p:grpSpPr>
          <p:pic>
            <p:nvPicPr>
              <p:cNvPr id="8" name="图片 7" descr="The six degree-of-freedom PUMA 560 robot manipulator">
                <a:extLst>
                  <a:ext uri="{FF2B5EF4-FFF2-40B4-BE49-F238E27FC236}">
                    <a16:creationId xmlns:a16="http://schemas.microsoft.com/office/drawing/2014/main" id="{1179200C-3664-3503-6ABA-A6AC5840BF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74" r="5754"/>
              <a:stretch/>
            </p:blipFill>
            <p:spPr bwMode="auto">
              <a:xfrm>
                <a:off x="802206" y="-1900482"/>
                <a:ext cx="6471431" cy="7339984"/>
              </a:xfrm>
              <a:custGeom>
                <a:avLst/>
                <a:gdLst>
                  <a:gd name="connsiteX0" fmla="*/ 0 w 6471431"/>
                  <a:gd name="connsiteY0" fmla="*/ 0 h 7339984"/>
                  <a:gd name="connsiteX1" fmla="*/ 6471431 w 6471431"/>
                  <a:gd name="connsiteY1" fmla="*/ 0 h 7339984"/>
                  <a:gd name="connsiteX2" fmla="*/ 6471431 w 6471431"/>
                  <a:gd name="connsiteY2" fmla="*/ 6047632 h 7339984"/>
                  <a:gd name="connsiteX3" fmla="*/ 3826295 w 6471431"/>
                  <a:gd name="connsiteY3" fmla="*/ 7339984 h 7339984"/>
                  <a:gd name="connsiteX4" fmla="*/ 0 w 6471431"/>
                  <a:gd name="connsiteY4" fmla="*/ 7339984 h 7339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71431" h="7339984">
                    <a:moveTo>
                      <a:pt x="0" y="0"/>
                    </a:moveTo>
                    <a:lnTo>
                      <a:pt x="6471431" y="0"/>
                    </a:lnTo>
                    <a:lnTo>
                      <a:pt x="6471431" y="6047632"/>
                    </a:lnTo>
                    <a:lnTo>
                      <a:pt x="3826295" y="7339984"/>
                    </a:lnTo>
                    <a:lnTo>
                      <a:pt x="0" y="7339984"/>
                    </a:ln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图片 8" descr="The six degree-of-freedom PUMA 560 robot manipulator">
                <a:extLst>
                  <a:ext uri="{FF2B5EF4-FFF2-40B4-BE49-F238E27FC236}">
                    <a16:creationId xmlns:a16="http://schemas.microsoft.com/office/drawing/2014/main" id="{37D7E8DB-AB9C-BBC2-27DC-AFFDC013E1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925" t="80683" r="14123" b="15983"/>
              <a:stretch/>
            </p:blipFill>
            <p:spPr bwMode="auto">
              <a:xfrm>
                <a:off x="5170436" y="1056955"/>
                <a:ext cx="235630" cy="244692"/>
              </a:xfrm>
              <a:custGeom>
                <a:avLst/>
                <a:gdLst>
                  <a:gd name="connsiteX0" fmla="*/ 0 w 243281"/>
                  <a:gd name="connsiteY0" fmla="*/ 0 h 268447"/>
                  <a:gd name="connsiteX1" fmla="*/ 243281 w 243281"/>
                  <a:gd name="connsiteY1" fmla="*/ 0 h 268447"/>
                  <a:gd name="connsiteX2" fmla="*/ 243281 w 243281"/>
                  <a:gd name="connsiteY2" fmla="*/ 268447 h 268447"/>
                  <a:gd name="connsiteX3" fmla="*/ 86099 w 243281"/>
                  <a:gd name="connsiteY3" fmla="*/ 268447 h 268447"/>
                  <a:gd name="connsiteX4" fmla="*/ 86144 w 243281"/>
                  <a:gd name="connsiteY4" fmla="*/ 268409 h 268447"/>
                  <a:gd name="connsiteX5" fmla="*/ 321 w 243281"/>
                  <a:gd name="connsiteY5" fmla="*/ 165208 h 268447"/>
                  <a:gd name="connsiteX6" fmla="*/ 0 w 243281"/>
                  <a:gd name="connsiteY6" fmla="*/ 165475 h 268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281" h="268447">
                    <a:moveTo>
                      <a:pt x="0" y="0"/>
                    </a:moveTo>
                    <a:lnTo>
                      <a:pt x="243281" y="0"/>
                    </a:lnTo>
                    <a:lnTo>
                      <a:pt x="243281" y="268447"/>
                    </a:lnTo>
                    <a:lnTo>
                      <a:pt x="86099" y="268447"/>
                    </a:lnTo>
                    <a:lnTo>
                      <a:pt x="86144" y="268409"/>
                    </a:lnTo>
                    <a:lnTo>
                      <a:pt x="321" y="165208"/>
                    </a:lnTo>
                    <a:lnTo>
                      <a:pt x="0" y="165475"/>
                    </a:ln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F5660D60-7F71-C228-FC49-1BF66A07B9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58" t="62400" r="20974" b="31949"/>
              <a:stretch/>
            </p:blipFill>
            <p:spPr bwMode="auto">
              <a:xfrm>
                <a:off x="4022179" y="2986283"/>
                <a:ext cx="2176582" cy="4147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C8C8A985-4A4B-AF3E-1771-EF15D46F3D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781" t="78524" r="12984" b="19150"/>
              <a:stretch/>
            </p:blipFill>
            <p:spPr bwMode="auto">
              <a:xfrm flipH="1" flipV="1">
                <a:off x="6230803" y="4211903"/>
                <a:ext cx="178356" cy="1707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任意形状 11">
                <a:extLst>
                  <a:ext uri="{FF2B5EF4-FFF2-40B4-BE49-F238E27FC236}">
                    <a16:creationId xmlns:a16="http://schemas.microsoft.com/office/drawing/2014/main" id="{D471E7EA-95E3-1CCD-D9F0-377CAB2A85B6}"/>
                  </a:ext>
                </a:extLst>
              </p:cNvPr>
              <p:cNvSpPr/>
              <p:nvPr/>
            </p:nvSpPr>
            <p:spPr>
              <a:xfrm>
                <a:off x="4240182" y="3401030"/>
                <a:ext cx="2319721" cy="2011986"/>
              </a:xfrm>
              <a:custGeom>
                <a:avLst/>
                <a:gdLst>
                  <a:gd name="connsiteX0" fmla="*/ 0 w 2319721"/>
                  <a:gd name="connsiteY0" fmla="*/ 0 h 2011986"/>
                  <a:gd name="connsiteX1" fmla="*/ 1542860 w 2319721"/>
                  <a:gd name="connsiteY1" fmla="*/ 0 h 2011986"/>
                  <a:gd name="connsiteX2" fmla="*/ 1542860 w 2319721"/>
                  <a:gd name="connsiteY2" fmla="*/ 894444 h 2011986"/>
                  <a:gd name="connsiteX3" fmla="*/ 2019424 w 2319721"/>
                  <a:gd name="connsiteY3" fmla="*/ 894444 h 2011986"/>
                  <a:gd name="connsiteX4" fmla="*/ 2019424 w 2319721"/>
                  <a:gd name="connsiteY4" fmla="*/ 1094834 h 2011986"/>
                  <a:gd name="connsiteX5" fmla="*/ 2319721 w 2319721"/>
                  <a:gd name="connsiteY5" fmla="*/ 1094834 h 2011986"/>
                  <a:gd name="connsiteX6" fmla="*/ 442530 w 2319721"/>
                  <a:gd name="connsiteY6" fmla="*/ 2011986 h 2011986"/>
                  <a:gd name="connsiteX7" fmla="*/ 405987 w 2319721"/>
                  <a:gd name="connsiteY7" fmla="*/ 2011986 h 2011986"/>
                  <a:gd name="connsiteX8" fmla="*/ 405987 w 2319721"/>
                  <a:gd name="connsiteY8" fmla="*/ 1737606 h 2011986"/>
                  <a:gd name="connsiteX9" fmla="*/ 0 w 2319721"/>
                  <a:gd name="connsiteY9" fmla="*/ 1737606 h 2011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19721" h="2011986">
                    <a:moveTo>
                      <a:pt x="0" y="0"/>
                    </a:moveTo>
                    <a:lnTo>
                      <a:pt x="1542860" y="0"/>
                    </a:lnTo>
                    <a:lnTo>
                      <a:pt x="1542860" y="894444"/>
                    </a:lnTo>
                    <a:lnTo>
                      <a:pt x="2019424" y="894444"/>
                    </a:lnTo>
                    <a:lnTo>
                      <a:pt x="2019424" y="1094834"/>
                    </a:lnTo>
                    <a:lnTo>
                      <a:pt x="2319721" y="1094834"/>
                    </a:lnTo>
                    <a:lnTo>
                      <a:pt x="442530" y="2011986"/>
                    </a:lnTo>
                    <a:lnTo>
                      <a:pt x="405987" y="2011986"/>
                    </a:lnTo>
                    <a:lnTo>
                      <a:pt x="405987" y="1737606"/>
                    </a:lnTo>
                    <a:lnTo>
                      <a:pt x="0" y="173760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3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47C7403E-82D1-BA96-F1A1-482C8A0E2B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730" t="51726" r="71864" b="42787"/>
              <a:stretch/>
            </p:blipFill>
            <p:spPr bwMode="auto">
              <a:xfrm>
                <a:off x="926535" y="1553200"/>
                <a:ext cx="1070069" cy="4027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C13D09D-8BBB-DC81-851A-980B1C7E9E9B}"/>
                  </a:ext>
                </a:extLst>
              </p:cNvPr>
              <p:cNvSpPr/>
              <p:nvPr/>
            </p:nvSpPr>
            <p:spPr>
              <a:xfrm>
                <a:off x="802206" y="919371"/>
                <a:ext cx="701683" cy="933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9E3C309-A620-8A19-F36D-655AA102DFB6}"/>
                  </a:ext>
                </a:extLst>
              </p:cNvPr>
              <p:cNvSpPr/>
              <p:nvPr/>
            </p:nvSpPr>
            <p:spPr>
              <a:xfrm>
                <a:off x="802206" y="-1240705"/>
                <a:ext cx="1457323" cy="11570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6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6F08FD71-8D0F-4429-8405-9B8C3861D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38" t="27450" r="64349" b="69986"/>
              <a:stretch/>
            </p:blipFill>
            <p:spPr bwMode="auto">
              <a:xfrm>
                <a:off x="2203287" y="-109879"/>
                <a:ext cx="783341" cy="1880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D17629A2-F200-8EFB-0EEB-F14C86CE1B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374" t="12951" r="36078" b="84367"/>
              <a:stretch/>
            </p:blipFill>
            <p:spPr bwMode="auto">
              <a:xfrm>
                <a:off x="4240181" y="-1077102"/>
                <a:ext cx="442823" cy="1969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BFB790C-700B-6EE6-496C-9B7EAC2B9118}"/>
                  </a:ext>
                </a:extLst>
              </p:cNvPr>
              <p:cNvSpPr/>
              <p:nvPr/>
            </p:nvSpPr>
            <p:spPr>
              <a:xfrm>
                <a:off x="4415741" y="-1798174"/>
                <a:ext cx="2247914" cy="7210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6CBEB6D3-ECAD-3295-2BDE-DC737D454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382" y="1441450"/>
              <a:ext cx="0" cy="3151908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22487E7B-523C-7BBA-001F-BD06DDD1D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311" y="919480"/>
              <a:ext cx="1891576" cy="1022302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6D63B7E6-4C72-E934-3A4D-F662BE7DA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382" y="559420"/>
              <a:ext cx="0" cy="902287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63E8CF96-E70C-C8A6-C85B-0FC0F6F45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1403" y="1945852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BDD61F67-E9DE-51E0-D4EB-A32F39C00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6493" y="618538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0A7ECE0-A597-1487-ECD0-C4EEDEFA9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4384" y="1741931"/>
              <a:ext cx="794476" cy="421146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44E8B66D-6381-E614-BC41-51DDD0A0D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9476" y="2167147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8166B470-469B-875A-EC9C-B0199C54A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3910" y="1440989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3EC99BA4-2B62-2004-169A-862351A2B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018" y="3908475"/>
              <a:ext cx="432462" cy="225813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C5590B9F-7BF5-EFF6-B95D-BFF8E14D7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0110" y="4138358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4058297D-57B5-1167-91DF-8FAF01183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7480" y="3607533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B3FD9601-D08E-707E-6DF3-E4EF4074A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107" y="3870911"/>
              <a:ext cx="394208" cy="114941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44291FF-1C88-0EDB-96CA-9F3637658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7177" y="3990823"/>
              <a:ext cx="458075" cy="129962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153BBDED-1DCF-4B68-431F-BB4717E97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8608" y="4122852"/>
              <a:ext cx="458075" cy="12996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F133F9C4-A817-A4DE-24E2-0745CE7178B1}"/>
                </a:ext>
              </a:extLst>
            </p:cNvPr>
            <p:cNvCxnSpPr>
              <a:cxnSpLocks/>
            </p:cNvCxnSpPr>
            <p:nvPr/>
          </p:nvCxnSpPr>
          <p:spPr>
            <a:xfrm>
              <a:off x="7610874" y="4203133"/>
              <a:ext cx="100053" cy="262187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485C7CFD-9EAE-110B-614B-58982439BCBE}"/>
                </a:ext>
              </a:extLst>
            </p:cNvPr>
            <p:cNvCxnSpPr>
              <a:cxnSpLocks/>
            </p:cNvCxnSpPr>
            <p:nvPr/>
          </p:nvCxnSpPr>
          <p:spPr>
            <a:xfrm>
              <a:off x="7200869" y="3136291"/>
              <a:ext cx="410498" cy="1058585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5716E28-6E2D-F001-E263-45E1F3DE928C}"/>
                </a:ext>
              </a:extLst>
            </p:cNvPr>
            <p:cNvSpPr txBox="1"/>
            <p:nvPr/>
          </p:nvSpPr>
          <p:spPr>
            <a:xfrm>
              <a:off x="3936262" y="678827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1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A75390F-868C-4890-D662-39D9C94A8248}"/>
                </a:ext>
              </a:extLst>
            </p:cNvPr>
            <p:cNvSpPr txBox="1"/>
            <p:nvPr/>
          </p:nvSpPr>
          <p:spPr>
            <a:xfrm>
              <a:off x="3273725" y="1776245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2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4D13C9-59D6-5A70-B861-764BFF10FC74}"/>
                </a:ext>
              </a:extLst>
            </p:cNvPr>
            <p:cNvSpPr txBox="1"/>
            <p:nvPr/>
          </p:nvSpPr>
          <p:spPr>
            <a:xfrm>
              <a:off x="7423894" y="1089322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3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8B7504F-8107-D816-9BDA-088750FAE8B7}"/>
                </a:ext>
              </a:extLst>
            </p:cNvPr>
            <p:cNvSpPr txBox="1"/>
            <p:nvPr/>
          </p:nvSpPr>
          <p:spPr>
            <a:xfrm>
              <a:off x="7095583" y="2753456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4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3119B9F-8B1C-063D-76E2-F3894A43EDA5}"/>
                </a:ext>
              </a:extLst>
            </p:cNvPr>
            <p:cNvSpPr txBox="1"/>
            <p:nvPr/>
          </p:nvSpPr>
          <p:spPr>
            <a:xfrm>
              <a:off x="7914015" y="3220709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5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0E97995-D226-E137-DB15-7BED957BFA35}"/>
                </a:ext>
              </a:extLst>
            </p:cNvPr>
            <p:cNvSpPr txBox="1"/>
            <p:nvPr/>
          </p:nvSpPr>
          <p:spPr>
            <a:xfrm>
              <a:off x="7998210" y="3808326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6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4335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8E50080-4F14-13F2-1F5A-E9F9535E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8117786" cy="630335"/>
          </a:xfrm>
        </p:spPr>
        <p:txBody>
          <a:bodyPr>
            <a:normAutofit/>
          </a:bodyPr>
          <a:lstStyle/>
          <a:p>
            <a:r>
              <a:rPr lang="en-GB" altLang="zh-CN" dirty="0"/>
              <a:t>Pieper’s Solution Process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43589" cy="2841951"/>
              </a:xfrm>
            </p:spPr>
            <p:txBody>
              <a:bodyPr/>
              <a:lstStyle/>
              <a:p>
                <a:r>
                  <a:rPr lang="en-GB" altLang="zh-CN" dirty="0"/>
                  <a:t>The steps of Pieper’s Solution are: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>
                    <a:solidFill>
                      <a:schemeClr val="tx2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GB" altLang="zh-CN" baseline="3000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</m:oMath>
                </a14:m>
                <a:endParaRPr lang="en-GB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>
                    <a:solidFill>
                      <a:schemeClr val="tx2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 according to </a:t>
                </a:r>
                <a14:m>
                  <m:oMath xmlns:m="http://schemas.openxmlformats.org/officeDocument/2006/math">
                    <m:r>
                      <a:rPr lang="en-GB" altLang="zh-CN" baseline="3000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</m:oMath>
                </a14:m>
                <a:endParaRPr lang="en-GB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altLang="zh-CN" dirty="0">
                    <a:solidFill>
                      <a:schemeClr val="tx2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chemeClr val="tx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 through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 </a:t>
                </a:r>
                <a:r>
                  <a:rPr lang="en-GB" altLang="zh-CN" dirty="0">
                    <a:solidFill>
                      <a:schemeClr val="tx2"/>
                    </a:solidFill>
                  </a:rPr>
                  <a:t>Euler angles</a:t>
                </a:r>
                <a:endParaRPr lang="zh-CN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243589" cy="2841951"/>
              </a:xfrm>
              <a:blipFill>
                <a:blip r:embed="rId2"/>
                <a:stretch>
                  <a:fillRect l="-896" t="-1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977E91B8-D205-7A05-BC5A-A09001485D22}"/>
              </a:ext>
            </a:extLst>
          </p:cNvPr>
          <p:cNvGrpSpPr/>
          <p:nvPr/>
        </p:nvGrpSpPr>
        <p:grpSpPr>
          <a:xfrm>
            <a:off x="4659140" y="1167658"/>
            <a:ext cx="4264077" cy="3824474"/>
            <a:chOff x="3273725" y="122281"/>
            <a:chExt cx="5429614" cy="486985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9690E70-E6BF-9C24-F659-EF92B6354DA5}"/>
                </a:ext>
              </a:extLst>
            </p:cNvPr>
            <p:cNvGrpSpPr/>
            <p:nvPr/>
          </p:nvGrpSpPr>
          <p:grpSpPr>
            <a:xfrm>
              <a:off x="3559259" y="122281"/>
              <a:ext cx="4293593" cy="4869851"/>
              <a:chOff x="802206" y="-1900482"/>
              <a:chExt cx="6471431" cy="7339984"/>
            </a:xfrm>
          </p:grpSpPr>
          <p:pic>
            <p:nvPicPr>
              <p:cNvPr id="8" name="图片 7" descr="The six degree-of-freedom PUMA 560 robot manipulator">
                <a:extLst>
                  <a:ext uri="{FF2B5EF4-FFF2-40B4-BE49-F238E27FC236}">
                    <a16:creationId xmlns:a16="http://schemas.microsoft.com/office/drawing/2014/main" id="{1179200C-3664-3503-6ABA-A6AC5840BF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74" r="5754"/>
              <a:stretch/>
            </p:blipFill>
            <p:spPr bwMode="auto">
              <a:xfrm>
                <a:off x="802206" y="-1900482"/>
                <a:ext cx="6471431" cy="7339984"/>
              </a:xfrm>
              <a:custGeom>
                <a:avLst/>
                <a:gdLst>
                  <a:gd name="connsiteX0" fmla="*/ 0 w 6471431"/>
                  <a:gd name="connsiteY0" fmla="*/ 0 h 7339984"/>
                  <a:gd name="connsiteX1" fmla="*/ 6471431 w 6471431"/>
                  <a:gd name="connsiteY1" fmla="*/ 0 h 7339984"/>
                  <a:gd name="connsiteX2" fmla="*/ 6471431 w 6471431"/>
                  <a:gd name="connsiteY2" fmla="*/ 6047632 h 7339984"/>
                  <a:gd name="connsiteX3" fmla="*/ 3826295 w 6471431"/>
                  <a:gd name="connsiteY3" fmla="*/ 7339984 h 7339984"/>
                  <a:gd name="connsiteX4" fmla="*/ 0 w 6471431"/>
                  <a:gd name="connsiteY4" fmla="*/ 7339984 h 7339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71431" h="7339984">
                    <a:moveTo>
                      <a:pt x="0" y="0"/>
                    </a:moveTo>
                    <a:lnTo>
                      <a:pt x="6471431" y="0"/>
                    </a:lnTo>
                    <a:lnTo>
                      <a:pt x="6471431" y="6047632"/>
                    </a:lnTo>
                    <a:lnTo>
                      <a:pt x="3826295" y="7339984"/>
                    </a:lnTo>
                    <a:lnTo>
                      <a:pt x="0" y="7339984"/>
                    </a:ln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图片 8" descr="The six degree-of-freedom PUMA 560 robot manipulator">
                <a:extLst>
                  <a:ext uri="{FF2B5EF4-FFF2-40B4-BE49-F238E27FC236}">
                    <a16:creationId xmlns:a16="http://schemas.microsoft.com/office/drawing/2014/main" id="{37D7E8DB-AB9C-BBC2-27DC-AFFDC013E1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925" t="80683" r="14123" b="15983"/>
              <a:stretch/>
            </p:blipFill>
            <p:spPr bwMode="auto">
              <a:xfrm>
                <a:off x="5170436" y="1056955"/>
                <a:ext cx="235630" cy="244692"/>
              </a:xfrm>
              <a:custGeom>
                <a:avLst/>
                <a:gdLst>
                  <a:gd name="connsiteX0" fmla="*/ 0 w 243281"/>
                  <a:gd name="connsiteY0" fmla="*/ 0 h 268447"/>
                  <a:gd name="connsiteX1" fmla="*/ 243281 w 243281"/>
                  <a:gd name="connsiteY1" fmla="*/ 0 h 268447"/>
                  <a:gd name="connsiteX2" fmla="*/ 243281 w 243281"/>
                  <a:gd name="connsiteY2" fmla="*/ 268447 h 268447"/>
                  <a:gd name="connsiteX3" fmla="*/ 86099 w 243281"/>
                  <a:gd name="connsiteY3" fmla="*/ 268447 h 268447"/>
                  <a:gd name="connsiteX4" fmla="*/ 86144 w 243281"/>
                  <a:gd name="connsiteY4" fmla="*/ 268409 h 268447"/>
                  <a:gd name="connsiteX5" fmla="*/ 321 w 243281"/>
                  <a:gd name="connsiteY5" fmla="*/ 165208 h 268447"/>
                  <a:gd name="connsiteX6" fmla="*/ 0 w 243281"/>
                  <a:gd name="connsiteY6" fmla="*/ 165475 h 268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281" h="268447">
                    <a:moveTo>
                      <a:pt x="0" y="0"/>
                    </a:moveTo>
                    <a:lnTo>
                      <a:pt x="243281" y="0"/>
                    </a:lnTo>
                    <a:lnTo>
                      <a:pt x="243281" y="268447"/>
                    </a:lnTo>
                    <a:lnTo>
                      <a:pt x="86099" y="268447"/>
                    </a:lnTo>
                    <a:lnTo>
                      <a:pt x="86144" y="268409"/>
                    </a:lnTo>
                    <a:lnTo>
                      <a:pt x="321" y="165208"/>
                    </a:lnTo>
                    <a:lnTo>
                      <a:pt x="0" y="165475"/>
                    </a:lnTo>
                    <a:close/>
                  </a:path>
                </a:pathLst>
              </a:cu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F5660D60-7F71-C228-FC49-1BF66A07B9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58" t="62400" r="20974" b="31949"/>
              <a:stretch/>
            </p:blipFill>
            <p:spPr bwMode="auto">
              <a:xfrm>
                <a:off x="4022179" y="2986283"/>
                <a:ext cx="2176582" cy="4147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C8C8A985-4A4B-AF3E-1771-EF15D46F3D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781" t="78524" r="12984" b="19150"/>
              <a:stretch/>
            </p:blipFill>
            <p:spPr bwMode="auto">
              <a:xfrm flipH="1" flipV="1">
                <a:off x="6230803" y="4211903"/>
                <a:ext cx="178356" cy="1707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任意形状 11">
                <a:extLst>
                  <a:ext uri="{FF2B5EF4-FFF2-40B4-BE49-F238E27FC236}">
                    <a16:creationId xmlns:a16="http://schemas.microsoft.com/office/drawing/2014/main" id="{D471E7EA-95E3-1CCD-D9F0-377CAB2A85B6}"/>
                  </a:ext>
                </a:extLst>
              </p:cNvPr>
              <p:cNvSpPr/>
              <p:nvPr/>
            </p:nvSpPr>
            <p:spPr>
              <a:xfrm>
                <a:off x="4240182" y="3401030"/>
                <a:ext cx="2319721" cy="2011986"/>
              </a:xfrm>
              <a:custGeom>
                <a:avLst/>
                <a:gdLst>
                  <a:gd name="connsiteX0" fmla="*/ 0 w 2319721"/>
                  <a:gd name="connsiteY0" fmla="*/ 0 h 2011986"/>
                  <a:gd name="connsiteX1" fmla="*/ 1542860 w 2319721"/>
                  <a:gd name="connsiteY1" fmla="*/ 0 h 2011986"/>
                  <a:gd name="connsiteX2" fmla="*/ 1542860 w 2319721"/>
                  <a:gd name="connsiteY2" fmla="*/ 894444 h 2011986"/>
                  <a:gd name="connsiteX3" fmla="*/ 2019424 w 2319721"/>
                  <a:gd name="connsiteY3" fmla="*/ 894444 h 2011986"/>
                  <a:gd name="connsiteX4" fmla="*/ 2019424 w 2319721"/>
                  <a:gd name="connsiteY4" fmla="*/ 1094834 h 2011986"/>
                  <a:gd name="connsiteX5" fmla="*/ 2319721 w 2319721"/>
                  <a:gd name="connsiteY5" fmla="*/ 1094834 h 2011986"/>
                  <a:gd name="connsiteX6" fmla="*/ 442530 w 2319721"/>
                  <a:gd name="connsiteY6" fmla="*/ 2011986 h 2011986"/>
                  <a:gd name="connsiteX7" fmla="*/ 405987 w 2319721"/>
                  <a:gd name="connsiteY7" fmla="*/ 2011986 h 2011986"/>
                  <a:gd name="connsiteX8" fmla="*/ 405987 w 2319721"/>
                  <a:gd name="connsiteY8" fmla="*/ 1737606 h 2011986"/>
                  <a:gd name="connsiteX9" fmla="*/ 0 w 2319721"/>
                  <a:gd name="connsiteY9" fmla="*/ 1737606 h 2011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19721" h="2011986">
                    <a:moveTo>
                      <a:pt x="0" y="0"/>
                    </a:moveTo>
                    <a:lnTo>
                      <a:pt x="1542860" y="0"/>
                    </a:lnTo>
                    <a:lnTo>
                      <a:pt x="1542860" y="894444"/>
                    </a:lnTo>
                    <a:lnTo>
                      <a:pt x="2019424" y="894444"/>
                    </a:lnTo>
                    <a:lnTo>
                      <a:pt x="2019424" y="1094834"/>
                    </a:lnTo>
                    <a:lnTo>
                      <a:pt x="2319721" y="1094834"/>
                    </a:lnTo>
                    <a:lnTo>
                      <a:pt x="442530" y="2011986"/>
                    </a:lnTo>
                    <a:lnTo>
                      <a:pt x="405987" y="2011986"/>
                    </a:lnTo>
                    <a:lnTo>
                      <a:pt x="405987" y="1737606"/>
                    </a:lnTo>
                    <a:lnTo>
                      <a:pt x="0" y="173760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3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47C7403E-82D1-BA96-F1A1-482C8A0E2B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730" t="51726" r="71864" b="42787"/>
              <a:stretch/>
            </p:blipFill>
            <p:spPr bwMode="auto">
              <a:xfrm>
                <a:off x="926535" y="1553200"/>
                <a:ext cx="1070069" cy="4027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C13D09D-8BBB-DC81-851A-980B1C7E9E9B}"/>
                  </a:ext>
                </a:extLst>
              </p:cNvPr>
              <p:cNvSpPr/>
              <p:nvPr/>
            </p:nvSpPr>
            <p:spPr>
              <a:xfrm>
                <a:off x="802206" y="919371"/>
                <a:ext cx="701683" cy="933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9E3C309-A620-8A19-F36D-655AA102DFB6}"/>
                  </a:ext>
                </a:extLst>
              </p:cNvPr>
              <p:cNvSpPr/>
              <p:nvPr/>
            </p:nvSpPr>
            <p:spPr>
              <a:xfrm>
                <a:off x="802206" y="-1240705"/>
                <a:ext cx="1457323" cy="11570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6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6F08FD71-8D0F-4429-8405-9B8C3861D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38" t="27450" r="64349" b="69986"/>
              <a:stretch/>
            </p:blipFill>
            <p:spPr bwMode="auto">
              <a:xfrm>
                <a:off x="2203287" y="-109879"/>
                <a:ext cx="783341" cy="1880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4" descr="The six degree-of-freedom PUMA 560 robot manipulator">
                <a:extLst>
                  <a:ext uri="{FF2B5EF4-FFF2-40B4-BE49-F238E27FC236}">
                    <a16:creationId xmlns:a16="http://schemas.microsoft.com/office/drawing/2014/main" id="{D17629A2-F200-8EFB-0EEB-F14C86CE1B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374" t="12951" r="36078" b="84367"/>
              <a:stretch/>
            </p:blipFill>
            <p:spPr bwMode="auto">
              <a:xfrm>
                <a:off x="4240181" y="-1077102"/>
                <a:ext cx="442823" cy="1969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5BFB790C-700B-6EE6-496C-9B7EAC2B9118}"/>
                  </a:ext>
                </a:extLst>
              </p:cNvPr>
              <p:cNvSpPr/>
              <p:nvPr/>
            </p:nvSpPr>
            <p:spPr>
              <a:xfrm>
                <a:off x="4415741" y="-1798174"/>
                <a:ext cx="2247914" cy="7210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6CBEB6D3-ECAD-3295-2BDE-DC737D454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382" y="1441450"/>
              <a:ext cx="0" cy="3151908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22487E7B-523C-7BBA-001F-BD06DDD1D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311" y="919480"/>
              <a:ext cx="1891576" cy="1022302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6D63B7E6-4C72-E934-3A4D-F662BE7DA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8382" y="559420"/>
              <a:ext cx="0" cy="902287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63E8CF96-E70C-C8A6-C85B-0FC0F6F450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1403" y="1945852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BDD61F67-E9DE-51E0-D4EB-A32F39C00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6493" y="618538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0A7ECE0-A597-1487-ECD0-C4EEDEFA9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4384" y="1741931"/>
              <a:ext cx="794476" cy="421146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44E8B66D-6381-E614-BC41-51DDD0A0D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9476" y="2167147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8166B470-469B-875A-EC9C-B0199C54A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3910" y="1440989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3EC99BA4-2B62-2004-169A-862351A2B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5018" y="3908475"/>
              <a:ext cx="432462" cy="225813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C5590B9F-7BF5-EFF6-B95D-BFF8E14D7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0110" y="4138358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4058297D-57B5-1167-91DF-8FAF01183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7480" y="3607533"/>
              <a:ext cx="570302" cy="30094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B3FD9601-D08E-707E-6DF3-E4EF4074A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107" y="3870911"/>
              <a:ext cx="394208" cy="114941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44291FF-1C88-0EDB-96CA-9F3637658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7177" y="3990823"/>
              <a:ext cx="458075" cy="129962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153BBDED-1DCF-4B68-431F-BB4717E97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8608" y="4122852"/>
              <a:ext cx="458075" cy="129962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F133F9C4-A817-A4DE-24E2-0745CE7178B1}"/>
                </a:ext>
              </a:extLst>
            </p:cNvPr>
            <p:cNvCxnSpPr>
              <a:cxnSpLocks/>
            </p:cNvCxnSpPr>
            <p:nvPr/>
          </p:nvCxnSpPr>
          <p:spPr>
            <a:xfrm>
              <a:off x="7610874" y="4203133"/>
              <a:ext cx="100053" cy="262187"/>
            </a:xfrm>
            <a:prstGeom prst="line">
              <a:avLst/>
            </a:prstGeom>
            <a:ln w="2222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485C7CFD-9EAE-110B-614B-58982439BCBE}"/>
                </a:ext>
              </a:extLst>
            </p:cNvPr>
            <p:cNvCxnSpPr>
              <a:cxnSpLocks/>
            </p:cNvCxnSpPr>
            <p:nvPr/>
          </p:nvCxnSpPr>
          <p:spPr>
            <a:xfrm>
              <a:off x="7200869" y="3136291"/>
              <a:ext cx="410498" cy="1058585"/>
            </a:xfrm>
            <a:prstGeom prst="line">
              <a:avLst/>
            </a:prstGeom>
            <a:ln w="222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5716E28-6E2D-F001-E263-45E1F3DE928C}"/>
                </a:ext>
              </a:extLst>
            </p:cNvPr>
            <p:cNvSpPr txBox="1"/>
            <p:nvPr/>
          </p:nvSpPr>
          <p:spPr>
            <a:xfrm>
              <a:off x="3936262" y="678827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1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A75390F-868C-4890-D662-39D9C94A8248}"/>
                </a:ext>
              </a:extLst>
            </p:cNvPr>
            <p:cNvSpPr txBox="1"/>
            <p:nvPr/>
          </p:nvSpPr>
          <p:spPr>
            <a:xfrm>
              <a:off x="3273725" y="1776245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2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4D13C9-59D6-5A70-B861-764BFF10FC74}"/>
                </a:ext>
              </a:extLst>
            </p:cNvPr>
            <p:cNvSpPr txBox="1"/>
            <p:nvPr/>
          </p:nvSpPr>
          <p:spPr>
            <a:xfrm>
              <a:off x="7423894" y="1089322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3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8B7504F-8107-D816-9BDA-088750FAE8B7}"/>
                </a:ext>
              </a:extLst>
            </p:cNvPr>
            <p:cNvSpPr txBox="1"/>
            <p:nvPr/>
          </p:nvSpPr>
          <p:spPr>
            <a:xfrm>
              <a:off x="7095583" y="2753456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4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3119B9F-8B1C-063D-76E2-F3894A43EDA5}"/>
                </a:ext>
              </a:extLst>
            </p:cNvPr>
            <p:cNvSpPr txBox="1"/>
            <p:nvPr/>
          </p:nvSpPr>
          <p:spPr>
            <a:xfrm>
              <a:off x="7914015" y="3220709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5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0E97995-D226-E137-DB15-7BED957BFA35}"/>
                </a:ext>
              </a:extLst>
            </p:cNvPr>
            <p:cNvSpPr txBox="1"/>
            <p:nvPr/>
          </p:nvSpPr>
          <p:spPr>
            <a:xfrm>
              <a:off x="7998210" y="3808326"/>
              <a:ext cx="70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dirty="0">
                  <a:solidFill>
                    <a:schemeClr val="accent1"/>
                  </a:solidFill>
                </a:rPr>
                <a:t>axis 6</a:t>
              </a:r>
              <a:endParaRPr kumimoji="1" lang="zh-CN" altLang="en-US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042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28E50080-4F14-13F2-1F5A-E9F9535EC3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49" y="559420"/>
                <a:ext cx="8117786" cy="630335"/>
              </a:xfrm>
            </p:spPr>
            <p:txBody>
              <a:bodyPr>
                <a:normAutofit/>
              </a:bodyPr>
              <a:lstStyle/>
              <a:p>
                <a:r>
                  <a:rPr lang="en-GB" altLang="zh-CN" dirty="0">
                    <a:solidFill>
                      <a:schemeClr val="tx2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GB" altLang="zh-CN" baseline="3000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28E50080-4F14-13F2-1F5A-E9F9535EC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49" y="559420"/>
                <a:ext cx="8117786" cy="630335"/>
              </a:xfrm>
              <a:blipFill>
                <a:blip r:embed="rId2"/>
                <a:stretch>
                  <a:fillRect l="-1719" t="-1200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2780889" cy="776539"/>
              </a:xfrm>
            </p:spPr>
            <p:txBody>
              <a:bodyPr/>
              <a:lstStyle/>
              <a:p>
                <a:r>
                  <a:rPr lang="en-GB" altLang="zh-CN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GB" altLang="zh-CN" baseline="30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altLang="zh-CN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GB" altLang="zh-CN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GB" altLang="zh-CN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GB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GB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𝑜𝑟𝑔</m:t>
                          </m:r>
                        </m:sub>
                      </m:sSub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sPre>
                        <m:sPre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sPre>
                        <m:sPre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GB" altLang="zh-CN" b="0" i="0" baseline="30000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𝑜𝑟𝑔</m:t>
                          </m:r>
                        </m:sub>
                      </m:sSub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2780889" cy="776539"/>
              </a:xfrm>
              <a:blipFill>
                <a:blip r:embed="rId3"/>
                <a:stretch>
                  <a:fillRect l="-909" t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CFFE3E4-9B3F-7BF3-2CD1-E92576FA5396}"/>
                  </a:ext>
                </a:extLst>
              </p:cNvPr>
              <p:cNvSpPr txBox="1"/>
              <p:nvPr/>
            </p:nvSpPr>
            <p:spPr>
              <a:xfrm>
                <a:off x="875924" y="2242268"/>
                <a:ext cx="8268075" cy="1023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altLang="zh-CN" sz="1600" baseline="30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  <m:r>
                      <a:rPr lang="en-GB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  <m:sPre>
                      <m:sPre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  <m:sPre>
                      <m:sPre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  <m:d>
                      <m:dPr>
                        <m:begChr m:val="["/>
                        <m:endChr m:val="]"/>
                        <m:ctrlP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altLang="zh-CN" sz="1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GB" altLang="zh-CN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GB" altLang="zh-CN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GB" altLang="zh-CN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altLang="zh-CN" sz="1600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GB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sz="16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GB" altLang="zh-CN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GB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  <m:sPre>
                      <m:sPrePr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  <m:d>
                      <m:dPr>
                        <m:begChr m:val="["/>
                        <m:endChr m:val="]"/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sz="1600" dirty="0"/>
                  <a:t>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kumimoji="1"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CFFE3E4-9B3F-7BF3-2CD1-E92576FA5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24" y="2242268"/>
                <a:ext cx="8268075" cy="1023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DF33B4-6C3A-D181-57AD-EE4B096D8912}"/>
                  </a:ext>
                </a:extLst>
              </p:cNvPr>
              <p:cNvSpPr txBox="1"/>
              <p:nvPr/>
            </p:nvSpPr>
            <p:spPr>
              <a:xfrm>
                <a:off x="4241953" y="674262"/>
                <a:ext cx="4902047" cy="10152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GB" altLang="zh-CN" sz="160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altLang="zh-CN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altLang="zh-CN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GB" altLang="zh-CN" sz="16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r>
                        <a:rPr lang="en-GB" altLang="zh-CN" sz="1600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sz="16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sz="16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GB" altLang="zh-CN" sz="16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  <m:sSub>
                                  <m:sSubPr>
                                    <m:ctrlP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GB" altLang="zh-CN" sz="1600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altLang="zh-CN" sz="160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altLang="zh-CN" sz="1600" i="1" dirty="0">
                                            <a:solidFill>
                                              <a:schemeClr val="bg1">
                                                <a:lumMod val="6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func>
                                <m:sSub>
                                  <m:sSubPr>
                                    <m:ctrlP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altLang="zh-CN" sz="1600" i="1" dirty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altLang="zh-CN" sz="16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sz="16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sz="16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altLang="zh-CN" sz="1600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altLang="zh-CN" sz="16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DF33B4-6C3A-D181-57AD-EE4B096D8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953" y="674262"/>
                <a:ext cx="4902047" cy="101521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E929BE84-97F9-4230-63B2-0C7C74111B08}"/>
              </a:ext>
            </a:extLst>
          </p:cNvPr>
          <p:cNvCxnSpPr/>
          <p:nvPr/>
        </p:nvCxnSpPr>
        <p:spPr>
          <a:xfrm flipH="1">
            <a:off x="3514477" y="1465729"/>
            <a:ext cx="811033" cy="704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BC42511-07EF-ACF3-0B84-0A8942460BDE}"/>
                  </a:ext>
                </a:extLst>
              </p:cNvPr>
              <p:cNvSpPr txBox="1"/>
              <p:nvPr/>
            </p:nvSpPr>
            <p:spPr>
              <a:xfrm>
                <a:off x="875924" y="3204376"/>
                <a:ext cx="8268075" cy="949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altLang="zh-CN" sz="1600" baseline="30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  <m:r>
                      <a:rPr lang="en-GB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altLang="zh-CN" sz="1600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altLang="zh-CN" sz="16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altLang="zh-CN" sz="1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sz="1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GB" altLang="zh-CN" sz="1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zh-CN" sz="1600" dirty="0"/>
                  <a:t>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kumimoji="1"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GB" altLang="zh-CN" sz="16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GB" altLang="zh-CN" sz="16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kumimoji="1" lang="en-GB" altLang="zh-CN" sz="16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BC42511-07EF-ACF3-0B84-0A8942460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24" y="3204376"/>
                <a:ext cx="8268075" cy="949684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占位符 5">
            <a:extLst>
              <a:ext uri="{FF2B5EF4-FFF2-40B4-BE49-F238E27FC236}">
                <a16:creationId xmlns:a16="http://schemas.microsoft.com/office/drawing/2014/main" id="{CC86E74C-C435-286D-0F23-04B38B2D71CD}"/>
              </a:ext>
            </a:extLst>
          </p:cNvPr>
          <p:cNvSpPr txBox="1">
            <a:spLocks/>
          </p:cNvSpPr>
          <p:nvPr/>
        </p:nvSpPr>
        <p:spPr>
          <a:xfrm>
            <a:off x="1844703" y="4408259"/>
            <a:ext cx="6726803" cy="3516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GB" altLang="zh-CN" sz="1400" i="1" dirty="0">
                <a:solidFill>
                  <a:schemeClr val="bg1">
                    <a:lumMod val="65000"/>
                  </a:schemeClr>
                </a:solidFill>
              </a:rPr>
              <a:t>NB: since the expressions  are too much long, we cannot fully extent them to show</a:t>
            </a:r>
          </a:p>
        </p:txBody>
      </p:sp>
    </p:spTree>
    <p:extLst>
      <p:ext uri="{BB962C8B-B14F-4D97-AF65-F5344CB8AC3E}">
        <p14:creationId xmlns:p14="http://schemas.microsoft.com/office/powerpoint/2010/main" val="3856915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28E50080-4F14-13F2-1F5A-E9F9535EC3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49" y="559420"/>
                <a:ext cx="8117786" cy="630335"/>
              </a:xfrm>
            </p:spPr>
            <p:txBody>
              <a:bodyPr>
                <a:normAutofit/>
              </a:bodyPr>
              <a:lstStyle/>
              <a:p>
                <a:r>
                  <a:rPr lang="en-GB" altLang="zh-CN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28E50080-4F14-13F2-1F5A-E9F9535EC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49" y="559420"/>
                <a:ext cx="8117786" cy="630335"/>
              </a:xfrm>
              <a:blipFill>
                <a:blip r:embed="rId2"/>
                <a:stretch>
                  <a:fillRect l="-1719" t="-8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929312" cy="776539"/>
              </a:xfrm>
            </p:spPr>
            <p:txBody>
              <a:bodyPr/>
              <a:lstStyle/>
              <a:p>
                <a:r>
                  <a:rPr lang="en-GB" altLang="zh-CN" dirty="0">
                    <a:solidFill>
                      <a:schemeClr val="tx1"/>
                    </a:solidFill>
                  </a:rPr>
                  <a:t>Let    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zh-CN" baseline="30000">
                                <a:latin typeface="Cambria Math" panose="02040503050406030204" pitchFamily="18" charset="0"/>
                              </a:rPr>
                              <m:t>0</m:t>
                            </m:r>
                            <m:sSub>
                              <m:sSubPr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</a:rPr>
                                  <m:t>𝑜𝑟𝑔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GB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altLang="zh-CN" dirty="0">
                  <a:solidFill>
                    <a:schemeClr val="tx1"/>
                  </a:solidFill>
                </a:endParaRPr>
              </a:p>
              <a:p>
                <a:r>
                  <a:rPr lang="en-GB" altLang="zh-CN" dirty="0"/>
                  <a:t>Let </a:t>
                </a:r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BAC23D70-F85F-C6BE-9242-1548CC9D66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4929312" cy="776539"/>
              </a:xfrm>
              <a:blipFill>
                <a:blip r:embed="rId3"/>
                <a:stretch>
                  <a:fillRect l="-514"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E5B7BB4-7D93-8BFB-6F8F-611AC6A527F3}"/>
                  </a:ext>
                </a:extLst>
              </p:cNvPr>
              <p:cNvSpPr txBox="1"/>
              <p:nvPr/>
            </p:nvSpPr>
            <p:spPr>
              <a:xfrm>
                <a:off x="1094119" y="1877851"/>
                <a:ext cx="3529812" cy="1112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E5B7BB4-7D93-8BFB-6F8F-611AC6A52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9" y="1877851"/>
                <a:ext cx="3529812" cy="1112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72692AB-4E26-9195-1889-F75E6958848E}"/>
                  </a:ext>
                </a:extLst>
              </p:cNvPr>
              <p:cNvSpPr txBox="1"/>
              <p:nvPr/>
            </p:nvSpPr>
            <p:spPr>
              <a:xfrm>
                <a:off x="1094119" y="3032876"/>
                <a:ext cx="261757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GB" altLang="zh-CN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GB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GB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kumimoji="1" lang="en-GB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72692AB-4E26-9195-1889-F75E69588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19" y="3032876"/>
                <a:ext cx="261757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F5E251C-E7A2-91A5-3088-F7A1B2496B88}"/>
                  </a:ext>
                </a:extLst>
              </p:cNvPr>
              <p:cNvSpPr txBox="1"/>
              <p:nvPr/>
            </p:nvSpPr>
            <p:spPr>
              <a:xfrm>
                <a:off x="620913" y="3171207"/>
                <a:ext cx="4732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600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F5E251C-E7A2-91A5-3088-F7A1B2496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13" y="3171207"/>
                <a:ext cx="473206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右大括号 10">
            <a:extLst>
              <a:ext uri="{FF2B5EF4-FFF2-40B4-BE49-F238E27FC236}">
                <a16:creationId xmlns:a16="http://schemas.microsoft.com/office/drawing/2014/main" id="{F3EDD3F6-5362-730A-12CF-839E7ADA5F67}"/>
              </a:ext>
            </a:extLst>
          </p:cNvPr>
          <p:cNvSpPr/>
          <p:nvPr/>
        </p:nvSpPr>
        <p:spPr>
          <a:xfrm>
            <a:off x="3651278" y="3133486"/>
            <a:ext cx="120834" cy="415457"/>
          </a:xfrm>
          <a:prstGeom prst="rightBrace">
            <a:avLst>
              <a:gd name="adj1" fmla="val 79210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3417C03-3A59-3704-5F54-105CDAB82CBD}"/>
                  </a:ext>
                </a:extLst>
              </p:cNvPr>
              <p:cNvSpPr txBox="1"/>
              <p:nvPr/>
            </p:nvSpPr>
            <p:spPr>
              <a:xfrm>
                <a:off x="3864335" y="3048096"/>
                <a:ext cx="26954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GB" altLang="zh-CN" sz="1600" dirty="0"/>
                  <a:t>Exclude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GB" altLang="zh-CN" sz="1600" dirty="0">
                    <a:solidFill>
                      <a:schemeClr val="tx1"/>
                    </a:solidFill>
                  </a:rPr>
                  <a:t>, so only contain two unknows: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,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3417C03-3A59-3704-5F54-105CDAB82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35" y="3048096"/>
                <a:ext cx="2695492" cy="584775"/>
              </a:xfrm>
              <a:prstGeom prst="rect">
                <a:avLst/>
              </a:prstGeom>
              <a:blipFill>
                <a:blip r:embed="rId7"/>
                <a:stretch>
                  <a:fillRect l="-1408" t="-4255" b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占位符 5">
                <a:extLst>
                  <a:ext uri="{FF2B5EF4-FFF2-40B4-BE49-F238E27FC236}">
                    <a16:creationId xmlns:a16="http://schemas.microsoft.com/office/drawing/2014/main" id="{3C029370-58E2-E3D9-7642-4707E6B12D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49" y="3813615"/>
                <a:ext cx="5414341" cy="77653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n-GB" altLang="zh-CN" dirty="0"/>
                  <a:t>When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,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/>
                  <a:t>, we plug them into </a:t>
                </a:r>
                <a14:m>
                  <m:oMath xmlns:m="http://schemas.openxmlformats.org/officeDocument/2006/math">
                    <m:r>
                      <a:rPr lang="en-GB" altLang="zh-CN" baseline="3000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𝑜𝑟𝑔</m:t>
                        </m:r>
                      </m:sub>
                    </m:sSub>
                  </m:oMath>
                </a14:m>
                <a:r>
                  <a:rPr lang="en-GB" altLang="zh-CN" dirty="0"/>
                  <a:t>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dirty="0"/>
                  <a:t>.</a:t>
                </a:r>
              </a:p>
            </p:txBody>
          </p:sp>
        </mc:Choice>
        <mc:Fallback xmlns="">
          <p:sp>
            <p:nvSpPr>
              <p:cNvPr id="14" name="文本占位符 5">
                <a:extLst>
                  <a:ext uri="{FF2B5EF4-FFF2-40B4-BE49-F238E27FC236}">
                    <a16:creationId xmlns:a16="http://schemas.microsoft.com/office/drawing/2014/main" id="{3C029370-58E2-E3D9-7642-4707E6B12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3813615"/>
                <a:ext cx="5414341" cy="776539"/>
              </a:xfrm>
              <a:prstGeom prst="rect">
                <a:avLst/>
              </a:prstGeom>
              <a:blipFill>
                <a:blip r:embed="rId8"/>
                <a:stretch>
                  <a:fillRect l="-468"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163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28E50080-4F14-13F2-1F5A-E9F9535EC3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49" y="559420"/>
                <a:ext cx="8117786" cy="630335"/>
              </a:xfrm>
            </p:spPr>
            <p:txBody>
              <a:bodyPr>
                <a:normAutofit/>
              </a:bodyPr>
              <a:lstStyle/>
              <a:p>
                <a:r>
                  <a:rPr lang="en-GB" altLang="zh-CN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标题 4">
                <a:extLst>
                  <a:ext uri="{FF2B5EF4-FFF2-40B4-BE49-F238E27FC236}">
                    <a16:creationId xmlns:a16="http://schemas.microsoft.com/office/drawing/2014/main" id="{28E50080-4F14-13F2-1F5A-E9F9535EC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49" y="559420"/>
                <a:ext cx="8117786" cy="630335"/>
              </a:xfrm>
              <a:blipFill>
                <a:blip r:embed="rId2"/>
                <a:stretch>
                  <a:fillRect l="-1719" t="-8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383783A2-4D00-DCF9-5446-B5B4C4E3955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7732924" cy="3118351"/>
              </a:xfrm>
            </p:spPr>
            <p:txBody>
              <a:bodyPr/>
              <a:lstStyle/>
              <a:p>
                <a:r>
                  <a:rPr lang="en-GB" altLang="zh-CN" dirty="0"/>
                  <a:t>Having obtained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GB" altLang="zh-CN" sz="1600" dirty="0"/>
                  <a:t>,</a:t>
                </a:r>
                <a:r>
                  <a:rPr lang="en-GB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/>
                  <a:t>, we can compute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sPre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GB" altLang="zh-CN" dirty="0"/>
                  <a:t>, which notation means the orientation of link frame {4} relative to the base frame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altLang="zh-CN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altLang="zh-CN" dirty="0"/>
                  <a:t>.</a:t>
                </a:r>
              </a:p>
              <a:p>
                <a:r>
                  <a:rPr lang="en-GB" altLang="zh-CN" dirty="0"/>
                  <a:t>The desired orientation of {6} differs from this orientation only by the action of the last three joints. Because the problem was specified as given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sPre>
                  </m:oMath>
                </a14:m>
                <a:r>
                  <a:rPr lang="en-GB" altLang="zh-CN" dirty="0"/>
                  <a:t>, we can compute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GB" altLang="zh-CN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sPre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GB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altLang="zh-CN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GB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Pre>
                            <m:sPrePr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sPre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GB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altLang="zh-CN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altLang="zh-CN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sPre>
                        <m:sPre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sPre>
                    </m:oMath>
                  </m:oMathPara>
                </a14:m>
                <a:endParaRPr lang="en-GB" altLang="zh-CN" dirty="0"/>
              </a:p>
              <a:p>
                <a:pPr>
                  <a:lnSpc>
                    <a:spcPct val="100000"/>
                  </a:lnSpc>
                </a:pPr>
                <a:r>
                  <a:rPr lang="en-GB" altLang="zh-CN" dirty="0"/>
                  <a:t>For many manipulators, these last three angles can be solved for by using exactly the Z-Y-Z Euler angle solution applied to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sPre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GB" altLang="zh-CN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altLang="zh-CN" dirty="0"/>
                  <a:t>There are always two solutions for these last three joints, so the total number of solutions for the manipulator will be twice the number found for the first three joints.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383783A2-4D00-DCF9-5446-B5B4C4E39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729"/>
                <a:ext cx="7732924" cy="3118351"/>
              </a:xfrm>
              <a:blipFill>
                <a:blip r:embed="rId3"/>
                <a:stretch>
                  <a:fillRect l="-328" t="-12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149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1993EEA-2391-7D4F-3BCC-906C1D71A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04" y="1388921"/>
            <a:ext cx="6249257" cy="1093153"/>
          </a:xfrm>
        </p:spPr>
        <p:txBody>
          <a:bodyPr/>
          <a:lstStyle/>
          <a:p>
            <a:r>
              <a:rPr lang="en-GB" altLang="zh-CN" dirty="0"/>
              <a:t>Differential Kinematics (Velocity)</a:t>
            </a:r>
            <a:br>
              <a:rPr lang="en-GB" altLang="zh-CN" dirty="0"/>
            </a:b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7E0AC85A-6578-9C50-4050-9FA54290DF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B976409-13FB-5F69-74C2-1C7633EBD5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25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FC4BCFD-F58C-ABBF-A84A-40583155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Differential Kinematics (Velocity)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DCA573F-DB52-0F1D-A419-5CF9CD401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So far, we have investigated the kinematic problem and operated in the space of positions, that is, how to map joint angles with end effector poses.</a:t>
            </a:r>
          </a:p>
          <a:p>
            <a:r>
              <a:rPr lang="en-GB" altLang="zh-CN" dirty="0"/>
              <a:t>This section will introduce the differential kinematics problem and operated in the space of velocities, i.e. </a:t>
            </a:r>
            <a:r>
              <a:rPr lang="en-GB" altLang="zh-CN" dirty="0">
                <a:solidFill>
                  <a:srgbClr val="003399"/>
                </a:solidFill>
              </a:rPr>
              <a:t>how to map joint velocities with end-effector velocity twists</a:t>
            </a:r>
            <a:r>
              <a:rPr lang="en-GB" altLang="zh-CN" dirty="0"/>
              <a:t> (NB: velocity is derivative of position, hence the name "differential").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349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>
            <a:extLst>
              <a:ext uri="{FF2B5EF4-FFF2-40B4-BE49-F238E27FC236}">
                <a16:creationId xmlns:a16="http://schemas.microsoft.com/office/drawing/2014/main" id="{8A266412-76B5-52DF-F089-A904B1C0338A}"/>
              </a:ext>
            </a:extLst>
          </p:cNvPr>
          <p:cNvGrpSpPr/>
          <p:nvPr/>
        </p:nvGrpSpPr>
        <p:grpSpPr>
          <a:xfrm flipH="1">
            <a:off x="6283403" y="1465263"/>
            <a:ext cx="2777140" cy="3149869"/>
            <a:chOff x="802206" y="-1900482"/>
            <a:chExt cx="6471431" cy="7339984"/>
          </a:xfrm>
        </p:grpSpPr>
        <p:pic>
          <p:nvPicPr>
            <p:cNvPr id="95" name="图片 94" descr="The six degree-of-freedom PUMA 560 robot manipulator">
              <a:extLst>
                <a:ext uri="{FF2B5EF4-FFF2-40B4-BE49-F238E27FC236}">
                  <a16:creationId xmlns:a16="http://schemas.microsoft.com/office/drawing/2014/main" id="{7B04D8B6-CEE0-C7E7-1689-5E3BC852F0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4" r="5754"/>
            <a:stretch/>
          </p:blipFill>
          <p:spPr bwMode="auto">
            <a:xfrm>
              <a:off x="802206" y="-1900482"/>
              <a:ext cx="6471431" cy="7339984"/>
            </a:xfrm>
            <a:custGeom>
              <a:avLst/>
              <a:gdLst>
                <a:gd name="connsiteX0" fmla="*/ 0 w 6471431"/>
                <a:gd name="connsiteY0" fmla="*/ 0 h 7339984"/>
                <a:gd name="connsiteX1" fmla="*/ 6471431 w 6471431"/>
                <a:gd name="connsiteY1" fmla="*/ 0 h 7339984"/>
                <a:gd name="connsiteX2" fmla="*/ 6471431 w 6471431"/>
                <a:gd name="connsiteY2" fmla="*/ 6047632 h 7339984"/>
                <a:gd name="connsiteX3" fmla="*/ 3826295 w 6471431"/>
                <a:gd name="connsiteY3" fmla="*/ 7339984 h 7339984"/>
                <a:gd name="connsiteX4" fmla="*/ 0 w 6471431"/>
                <a:gd name="connsiteY4" fmla="*/ 7339984 h 733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431" h="7339984">
                  <a:moveTo>
                    <a:pt x="0" y="0"/>
                  </a:moveTo>
                  <a:lnTo>
                    <a:pt x="6471431" y="0"/>
                  </a:lnTo>
                  <a:lnTo>
                    <a:pt x="6471431" y="6047632"/>
                  </a:lnTo>
                  <a:lnTo>
                    <a:pt x="3826295" y="7339984"/>
                  </a:lnTo>
                  <a:lnTo>
                    <a:pt x="0" y="7339984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图片 95" descr="The six degree-of-freedom PUMA 560 robot manipulator">
              <a:extLst>
                <a:ext uri="{FF2B5EF4-FFF2-40B4-BE49-F238E27FC236}">
                  <a16:creationId xmlns:a16="http://schemas.microsoft.com/office/drawing/2014/main" id="{0DE063CE-16CB-2566-12AF-179527B28A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25" t="80683" r="14123" b="15983"/>
            <a:stretch/>
          </p:blipFill>
          <p:spPr bwMode="auto">
            <a:xfrm>
              <a:off x="5170436" y="1056955"/>
              <a:ext cx="235630" cy="244692"/>
            </a:xfrm>
            <a:custGeom>
              <a:avLst/>
              <a:gdLst>
                <a:gd name="connsiteX0" fmla="*/ 0 w 243281"/>
                <a:gd name="connsiteY0" fmla="*/ 0 h 268447"/>
                <a:gd name="connsiteX1" fmla="*/ 243281 w 243281"/>
                <a:gd name="connsiteY1" fmla="*/ 0 h 268447"/>
                <a:gd name="connsiteX2" fmla="*/ 243281 w 243281"/>
                <a:gd name="connsiteY2" fmla="*/ 268447 h 268447"/>
                <a:gd name="connsiteX3" fmla="*/ 86099 w 243281"/>
                <a:gd name="connsiteY3" fmla="*/ 268447 h 268447"/>
                <a:gd name="connsiteX4" fmla="*/ 86144 w 243281"/>
                <a:gd name="connsiteY4" fmla="*/ 268409 h 268447"/>
                <a:gd name="connsiteX5" fmla="*/ 321 w 243281"/>
                <a:gd name="connsiteY5" fmla="*/ 165208 h 268447"/>
                <a:gd name="connsiteX6" fmla="*/ 0 w 243281"/>
                <a:gd name="connsiteY6" fmla="*/ 165475 h 26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281" h="268447">
                  <a:moveTo>
                    <a:pt x="0" y="0"/>
                  </a:moveTo>
                  <a:lnTo>
                    <a:pt x="243281" y="0"/>
                  </a:lnTo>
                  <a:lnTo>
                    <a:pt x="243281" y="268447"/>
                  </a:lnTo>
                  <a:lnTo>
                    <a:pt x="86099" y="268447"/>
                  </a:lnTo>
                  <a:lnTo>
                    <a:pt x="86144" y="268409"/>
                  </a:lnTo>
                  <a:lnTo>
                    <a:pt x="321" y="165208"/>
                  </a:lnTo>
                  <a:lnTo>
                    <a:pt x="0" y="16547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2EECB7AD-B457-4241-28AD-193D29F6D1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58" t="62400" r="20974" b="31949"/>
            <a:stretch/>
          </p:blipFill>
          <p:spPr bwMode="auto">
            <a:xfrm>
              <a:off x="4022179" y="2986283"/>
              <a:ext cx="2176582" cy="41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C29D884A-3F73-7F04-AE2D-D31B093DAE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1" t="78524" r="12984" b="19150"/>
            <a:stretch/>
          </p:blipFill>
          <p:spPr bwMode="auto">
            <a:xfrm flipH="1" flipV="1">
              <a:off x="6230803" y="4211903"/>
              <a:ext cx="178356" cy="17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8329209D-CA9D-6C52-DDB8-3136B9F047FD}"/>
                </a:ext>
              </a:extLst>
            </p:cNvPr>
            <p:cNvSpPr/>
            <p:nvPr/>
          </p:nvSpPr>
          <p:spPr>
            <a:xfrm>
              <a:off x="4240182" y="3401030"/>
              <a:ext cx="2319721" cy="2011986"/>
            </a:xfrm>
            <a:custGeom>
              <a:avLst/>
              <a:gdLst>
                <a:gd name="connsiteX0" fmla="*/ 0 w 2319721"/>
                <a:gd name="connsiteY0" fmla="*/ 0 h 2011986"/>
                <a:gd name="connsiteX1" fmla="*/ 1542860 w 2319721"/>
                <a:gd name="connsiteY1" fmla="*/ 0 h 2011986"/>
                <a:gd name="connsiteX2" fmla="*/ 1542860 w 2319721"/>
                <a:gd name="connsiteY2" fmla="*/ 894444 h 2011986"/>
                <a:gd name="connsiteX3" fmla="*/ 2019424 w 2319721"/>
                <a:gd name="connsiteY3" fmla="*/ 894444 h 2011986"/>
                <a:gd name="connsiteX4" fmla="*/ 2019424 w 2319721"/>
                <a:gd name="connsiteY4" fmla="*/ 1094834 h 2011986"/>
                <a:gd name="connsiteX5" fmla="*/ 2319721 w 2319721"/>
                <a:gd name="connsiteY5" fmla="*/ 1094834 h 2011986"/>
                <a:gd name="connsiteX6" fmla="*/ 442530 w 2319721"/>
                <a:gd name="connsiteY6" fmla="*/ 2011986 h 2011986"/>
                <a:gd name="connsiteX7" fmla="*/ 405987 w 2319721"/>
                <a:gd name="connsiteY7" fmla="*/ 2011986 h 2011986"/>
                <a:gd name="connsiteX8" fmla="*/ 405987 w 2319721"/>
                <a:gd name="connsiteY8" fmla="*/ 1737606 h 2011986"/>
                <a:gd name="connsiteX9" fmla="*/ 0 w 2319721"/>
                <a:gd name="connsiteY9" fmla="*/ 1737606 h 201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19721" h="2011986">
                  <a:moveTo>
                    <a:pt x="0" y="0"/>
                  </a:moveTo>
                  <a:lnTo>
                    <a:pt x="1542860" y="0"/>
                  </a:lnTo>
                  <a:lnTo>
                    <a:pt x="1542860" y="894444"/>
                  </a:lnTo>
                  <a:lnTo>
                    <a:pt x="2019424" y="894444"/>
                  </a:lnTo>
                  <a:lnTo>
                    <a:pt x="2019424" y="1094834"/>
                  </a:lnTo>
                  <a:lnTo>
                    <a:pt x="2319721" y="1094834"/>
                  </a:lnTo>
                  <a:lnTo>
                    <a:pt x="442530" y="2011986"/>
                  </a:lnTo>
                  <a:lnTo>
                    <a:pt x="405987" y="2011986"/>
                  </a:lnTo>
                  <a:lnTo>
                    <a:pt x="405987" y="1737606"/>
                  </a:lnTo>
                  <a:lnTo>
                    <a:pt x="0" y="17376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100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048B59E8-50E8-8A8B-EE2A-6E942F680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30" t="51726" r="71864" b="42787"/>
            <a:stretch/>
          </p:blipFill>
          <p:spPr bwMode="auto">
            <a:xfrm>
              <a:off x="926535" y="1553200"/>
              <a:ext cx="1070069" cy="402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74F00978-B2A6-D71C-1254-55AC429DBA98}"/>
                </a:ext>
              </a:extLst>
            </p:cNvPr>
            <p:cNvSpPr/>
            <p:nvPr/>
          </p:nvSpPr>
          <p:spPr>
            <a:xfrm>
              <a:off x="802206" y="919371"/>
              <a:ext cx="701683" cy="933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CAB2AD7-5ED9-BBA8-7539-69CC7496AC14}"/>
                </a:ext>
              </a:extLst>
            </p:cNvPr>
            <p:cNvSpPr/>
            <p:nvPr/>
          </p:nvSpPr>
          <p:spPr>
            <a:xfrm>
              <a:off x="802206" y="-1240705"/>
              <a:ext cx="1457323" cy="1157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03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8CAA38E-6BEC-2F2F-7E4C-1B4862D3F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8" t="27450" r="64349" b="69986"/>
            <a:stretch/>
          </p:blipFill>
          <p:spPr bwMode="auto">
            <a:xfrm>
              <a:off x="2203287" y="-109879"/>
              <a:ext cx="783341" cy="188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D1BE6B4-241E-C37F-44D4-3B21D429F5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74" t="12951" r="36078" b="84367"/>
            <a:stretch/>
          </p:blipFill>
          <p:spPr bwMode="auto">
            <a:xfrm>
              <a:off x="4240181" y="-1077102"/>
              <a:ext cx="442823" cy="196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0E1EFA8-0297-C04A-6DE9-F81AD4914C91}"/>
                </a:ext>
              </a:extLst>
            </p:cNvPr>
            <p:cNvSpPr/>
            <p:nvPr/>
          </p:nvSpPr>
          <p:spPr>
            <a:xfrm>
              <a:off x="4415741" y="-1798174"/>
              <a:ext cx="2247914" cy="721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3" name="矩形 122">
            <a:extLst>
              <a:ext uri="{FF2B5EF4-FFF2-40B4-BE49-F238E27FC236}">
                <a16:creationId xmlns:a16="http://schemas.microsoft.com/office/drawing/2014/main" id="{7773EE28-DFB0-73A1-7907-EDDBEFB8FBD4}"/>
              </a:ext>
            </a:extLst>
          </p:cNvPr>
          <p:cNvSpPr/>
          <p:nvPr/>
        </p:nvSpPr>
        <p:spPr>
          <a:xfrm>
            <a:off x="6283403" y="1465263"/>
            <a:ext cx="2760520" cy="3138502"/>
          </a:xfrm>
          <a:prstGeom prst="rect">
            <a:avLst/>
          </a:prstGeom>
          <a:solidFill>
            <a:schemeClr val="bg1">
              <a:alpha val="713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Velocity of the End-effector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338467" cy="2841625"/>
              </a:xfrm>
            </p:spPr>
            <p:txBody>
              <a:bodyPr/>
              <a:lstStyle/>
              <a:p>
                <a:r>
                  <a:rPr lang="en-GB" altLang="zh-CN" dirty="0"/>
                  <a:t>To describe the velocity of an end-effector, six quantities are required: three to represent the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translational velocity </a:t>
                </a:r>
                <a:r>
                  <a:rPr lang="en-GB" altLang="zh-CN" dirty="0"/>
                  <a:t>in the x, y, and z directions, and three for the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angular velocity </a:t>
                </a:r>
                <a:r>
                  <a:rPr lang="en-GB" altLang="zh-CN" dirty="0"/>
                  <a:t>to capture the rotational rates around each of the three axes.</a:t>
                </a:r>
              </a:p>
              <a:p>
                <a:r>
                  <a:rPr lang="en-GB" altLang="zh-CN" dirty="0"/>
                  <a:t>We can now write translational and rotational velocities in a 6×1 generalised velocity vector as:</a:t>
                </a:r>
                <a:br>
                  <a:rPr lang="en-GB" altLang="zh-CN" dirty="0"/>
                </a:br>
                <a:endParaRPr lang="en-GB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altLang="zh-CN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tx2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tx2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tx2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3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3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altLang="zh-CN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338467" cy="2841625"/>
              </a:xfrm>
              <a:blipFill>
                <a:blip r:embed="rId4"/>
                <a:stretch>
                  <a:fillRect l="-475" t="-1778" r="-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85CD1570-EF40-6CB4-8503-EC3C4FAE9BA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0885" y="3741315"/>
            <a:ext cx="461747" cy="219723"/>
          </a:xfrm>
          <a:prstGeom prst="line">
            <a:avLst/>
          </a:prstGeom>
          <a:ln w="22225">
            <a:solidFill>
              <a:schemeClr val="accent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09FAE494-4F76-212F-0606-73B9AD9A7CA5}"/>
              </a:ext>
            </a:extLst>
          </p:cNvPr>
          <p:cNvCxnSpPr>
            <a:cxnSpLocks/>
          </p:cNvCxnSpPr>
          <p:nvPr/>
        </p:nvCxnSpPr>
        <p:spPr>
          <a:xfrm flipH="1">
            <a:off x="6177413" y="3961039"/>
            <a:ext cx="245220" cy="548535"/>
          </a:xfrm>
          <a:prstGeom prst="line">
            <a:avLst/>
          </a:prstGeom>
          <a:ln w="22225">
            <a:solidFill>
              <a:schemeClr val="tx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6D6A093A-6BEA-BF63-4237-9EEBE185CD09}"/>
              </a:ext>
            </a:extLst>
          </p:cNvPr>
          <p:cNvCxnSpPr>
            <a:cxnSpLocks/>
          </p:cNvCxnSpPr>
          <p:nvPr/>
        </p:nvCxnSpPr>
        <p:spPr>
          <a:xfrm flipV="1">
            <a:off x="6422633" y="3911306"/>
            <a:ext cx="270020" cy="49732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弧 119">
            <a:extLst>
              <a:ext uri="{FF2B5EF4-FFF2-40B4-BE49-F238E27FC236}">
                <a16:creationId xmlns:a16="http://schemas.microsoft.com/office/drawing/2014/main" id="{6AE20315-CCAF-4A05-9181-52E8826A5041}"/>
              </a:ext>
            </a:extLst>
          </p:cNvPr>
          <p:cNvSpPr/>
          <p:nvPr/>
        </p:nvSpPr>
        <p:spPr>
          <a:xfrm rot="1572360">
            <a:off x="6117433" y="3614506"/>
            <a:ext cx="190044" cy="483109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弧 120">
            <a:extLst>
              <a:ext uri="{FF2B5EF4-FFF2-40B4-BE49-F238E27FC236}">
                <a16:creationId xmlns:a16="http://schemas.microsoft.com/office/drawing/2014/main" id="{598FCF3C-9AF8-3EEB-B544-C2AD0A914F45}"/>
              </a:ext>
            </a:extLst>
          </p:cNvPr>
          <p:cNvSpPr/>
          <p:nvPr/>
        </p:nvSpPr>
        <p:spPr>
          <a:xfrm rot="17871924">
            <a:off x="6141404" y="4123434"/>
            <a:ext cx="255531" cy="377454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弧 121">
            <a:extLst>
              <a:ext uri="{FF2B5EF4-FFF2-40B4-BE49-F238E27FC236}">
                <a16:creationId xmlns:a16="http://schemas.microsoft.com/office/drawing/2014/main" id="{2778A7BE-BC27-1F38-B25B-DFD884781F18}"/>
              </a:ext>
            </a:extLst>
          </p:cNvPr>
          <p:cNvSpPr/>
          <p:nvPr/>
        </p:nvSpPr>
        <p:spPr>
          <a:xfrm>
            <a:off x="6461853" y="3739227"/>
            <a:ext cx="306291" cy="302033"/>
          </a:xfrm>
          <a:prstGeom prst="arc">
            <a:avLst>
              <a:gd name="adj1" fmla="val 13067873"/>
              <a:gd name="adj2" fmla="val 794305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9712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>
            <a:extLst>
              <a:ext uri="{FF2B5EF4-FFF2-40B4-BE49-F238E27FC236}">
                <a16:creationId xmlns:a16="http://schemas.microsoft.com/office/drawing/2014/main" id="{8A266412-76B5-52DF-F089-A904B1C0338A}"/>
              </a:ext>
            </a:extLst>
          </p:cNvPr>
          <p:cNvGrpSpPr/>
          <p:nvPr/>
        </p:nvGrpSpPr>
        <p:grpSpPr>
          <a:xfrm flipH="1">
            <a:off x="6283403" y="1465263"/>
            <a:ext cx="2777140" cy="3149869"/>
            <a:chOff x="802206" y="-1900482"/>
            <a:chExt cx="6471431" cy="7339984"/>
          </a:xfrm>
        </p:grpSpPr>
        <p:pic>
          <p:nvPicPr>
            <p:cNvPr id="95" name="图片 94" descr="The six degree-of-freedom PUMA 560 robot manipulator">
              <a:extLst>
                <a:ext uri="{FF2B5EF4-FFF2-40B4-BE49-F238E27FC236}">
                  <a16:creationId xmlns:a16="http://schemas.microsoft.com/office/drawing/2014/main" id="{7B04D8B6-CEE0-C7E7-1689-5E3BC852F0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4" r="5754"/>
            <a:stretch/>
          </p:blipFill>
          <p:spPr bwMode="auto">
            <a:xfrm>
              <a:off x="802206" y="-1900482"/>
              <a:ext cx="6471431" cy="7339984"/>
            </a:xfrm>
            <a:custGeom>
              <a:avLst/>
              <a:gdLst>
                <a:gd name="connsiteX0" fmla="*/ 0 w 6471431"/>
                <a:gd name="connsiteY0" fmla="*/ 0 h 7339984"/>
                <a:gd name="connsiteX1" fmla="*/ 6471431 w 6471431"/>
                <a:gd name="connsiteY1" fmla="*/ 0 h 7339984"/>
                <a:gd name="connsiteX2" fmla="*/ 6471431 w 6471431"/>
                <a:gd name="connsiteY2" fmla="*/ 6047632 h 7339984"/>
                <a:gd name="connsiteX3" fmla="*/ 3826295 w 6471431"/>
                <a:gd name="connsiteY3" fmla="*/ 7339984 h 7339984"/>
                <a:gd name="connsiteX4" fmla="*/ 0 w 6471431"/>
                <a:gd name="connsiteY4" fmla="*/ 7339984 h 733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431" h="7339984">
                  <a:moveTo>
                    <a:pt x="0" y="0"/>
                  </a:moveTo>
                  <a:lnTo>
                    <a:pt x="6471431" y="0"/>
                  </a:lnTo>
                  <a:lnTo>
                    <a:pt x="6471431" y="6047632"/>
                  </a:lnTo>
                  <a:lnTo>
                    <a:pt x="3826295" y="7339984"/>
                  </a:lnTo>
                  <a:lnTo>
                    <a:pt x="0" y="7339984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图片 95" descr="The six degree-of-freedom PUMA 560 robot manipulator">
              <a:extLst>
                <a:ext uri="{FF2B5EF4-FFF2-40B4-BE49-F238E27FC236}">
                  <a16:creationId xmlns:a16="http://schemas.microsoft.com/office/drawing/2014/main" id="{0DE063CE-16CB-2566-12AF-179527B28A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25" t="80683" r="14123" b="15983"/>
            <a:stretch/>
          </p:blipFill>
          <p:spPr bwMode="auto">
            <a:xfrm>
              <a:off x="5170436" y="1056955"/>
              <a:ext cx="235630" cy="244692"/>
            </a:xfrm>
            <a:custGeom>
              <a:avLst/>
              <a:gdLst>
                <a:gd name="connsiteX0" fmla="*/ 0 w 243281"/>
                <a:gd name="connsiteY0" fmla="*/ 0 h 268447"/>
                <a:gd name="connsiteX1" fmla="*/ 243281 w 243281"/>
                <a:gd name="connsiteY1" fmla="*/ 0 h 268447"/>
                <a:gd name="connsiteX2" fmla="*/ 243281 w 243281"/>
                <a:gd name="connsiteY2" fmla="*/ 268447 h 268447"/>
                <a:gd name="connsiteX3" fmla="*/ 86099 w 243281"/>
                <a:gd name="connsiteY3" fmla="*/ 268447 h 268447"/>
                <a:gd name="connsiteX4" fmla="*/ 86144 w 243281"/>
                <a:gd name="connsiteY4" fmla="*/ 268409 h 268447"/>
                <a:gd name="connsiteX5" fmla="*/ 321 w 243281"/>
                <a:gd name="connsiteY5" fmla="*/ 165208 h 268447"/>
                <a:gd name="connsiteX6" fmla="*/ 0 w 243281"/>
                <a:gd name="connsiteY6" fmla="*/ 165475 h 26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281" h="268447">
                  <a:moveTo>
                    <a:pt x="0" y="0"/>
                  </a:moveTo>
                  <a:lnTo>
                    <a:pt x="243281" y="0"/>
                  </a:lnTo>
                  <a:lnTo>
                    <a:pt x="243281" y="268447"/>
                  </a:lnTo>
                  <a:lnTo>
                    <a:pt x="86099" y="268447"/>
                  </a:lnTo>
                  <a:lnTo>
                    <a:pt x="86144" y="268409"/>
                  </a:lnTo>
                  <a:lnTo>
                    <a:pt x="321" y="165208"/>
                  </a:lnTo>
                  <a:lnTo>
                    <a:pt x="0" y="16547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2EECB7AD-B457-4241-28AD-193D29F6D1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58" t="62400" r="20974" b="31949"/>
            <a:stretch/>
          </p:blipFill>
          <p:spPr bwMode="auto">
            <a:xfrm>
              <a:off x="4022179" y="2986283"/>
              <a:ext cx="2176582" cy="41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C29D884A-3F73-7F04-AE2D-D31B093DAE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1" t="78524" r="12984" b="19150"/>
            <a:stretch/>
          </p:blipFill>
          <p:spPr bwMode="auto">
            <a:xfrm flipH="1" flipV="1">
              <a:off x="6230803" y="4211903"/>
              <a:ext cx="178356" cy="17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8329209D-CA9D-6C52-DDB8-3136B9F047FD}"/>
                </a:ext>
              </a:extLst>
            </p:cNvPr>
            <p:cNvSpPr/>
            <p:nvPr/>
          </p:nvSpPr>
          <p:spPr>
            <a:xfrm>
              <a:off x="4240182" y="3401030"/>
              <a:ext cx="2319721" cy="2011986"/>
            </a:xfrm>
            <a:custGeom>
              <a:avLst/>
              <a:gdLst>
                <a:gd name="connsiteX0" fmla="*/ 0 w 2319721"/>
                <a:gd name="connsiteY0" fmla="*/ 0 h 2011986"/>
                <a:gd name="connsiteX1" fmla="*/ 1542860 w 2319721"/>
                <a:gd name="connsiteY1" fmla="*/ 0 h 2011986"/>
                <a:gd name="connsiteX2" fmla="*/ 1542860 w 2319721"/>
                <a:gd name="connsiteY2" fmla="*/ 894444 h 2011986"/>
                <a:gd name="connsiteX3" fmla="*/ 2019424 w 2319721"/>
                <a:gd name="connsiteY3" fmla="*/ 894444 h 2011986"/>
                <a:gd name="connsiteX4" fmla="*/ 2019424 w 2319721"/>
                <a:gd name="connsiteY4" fmla="*/ 1094834 h 2011986"/>
                <a:gd name="connsiteX5" fmla="*/ 2319721 w 2319721"/>
                <a:gd name="connsiteY5" fmla="*/ 1094834 h 2011986"/>
                <a:gd name="connsiteX6" fmla="*/ 442530 w 2319721"/>
                <a:gd name="connsiteY6" fmla="*/ 2011986 h 2011986"/>
                <a:gd name="connsiteX7" fmla="*/ 405987 w 2319721"/>
                <a:gd name="connsiteY7" fmla="*/ 2011986 h 2011986"/>
                <a:gd name="connsiteX8" fmla="*/ 405987 w 2319721"/>
                <a:gd name="connsiteY8" fmla="*/ 1737606 h 2011986"/>
                <a:gd name="connsiteX9" fmla="*/ 0 w 2319721"/>
                <a:gd name="connsiteY9" fmla="*/ 1737606 h 201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19721" h="2011986">
                  <a:moveTo>
                    <a:pt x="0" y="0"/>
                  </a:moveTo>
                  <a:lnTo>
                    <a:pt x="1542860" y="0"/>
                  </a:lnTo>
                  <a:lnTo>
                    <a:pt x="1542860" y="894444"/>
                  </a:lnTo>
                  <a:lnTo>
                    <a:pt x="2019424" y="894444"/>
                  </a:lnTo>
                  <a:lnTo>
                    <a:pt x="2019424" y="1094834"/>
                  </a:lnTo>
                  <a:lnTo>
                    <a:pt x="2319721" y="1094834"/>
                  </a:lnTo>
                  <a:lnTo>
                    <a:pt x="442530" y="2011986"/>
                  </a:lnTo>
                  <a:lnTo>
                    <a:pt x="405987" y="2011986"/>
                  </a:lnTo>
                  <a:lnTo>
                    <a:pt x="405987" y="1737606"/>
                  </a:lnTo>
                  <a:lnTo>
                    <a:pt x="0" y="17376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100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048B59E8-50E8-8A8B-EE2A-6E942F680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30" t="51726" r="71864" b="42787"/>
            <a:stretch/>
          </p:blipFill>
          <p:spPr bwMode="auto">
            <a:xfrm>
              <a:off x="926535" y="1553200"/>
              <a:ext cx="1070069" cy="402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74F00978-B2A6-D71C-1254-55AC429DBA98}"/>
                </a:ext>
              </a:extLst>
            </p:cNvPr>
            <p:cNvSpPr/>
            <p:nvPr/>
          </p:nvSpPr>
          <p:spPr>
            <a:xfrm>
              <a:off x="802206" y="919371"/>
              <a:ext cx="701683" cy="933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CAB2AD7-5ED9-BBA8-7539-69CC7496AC14}"/>
                </a:ext>
              </a:extLst>
            </p:cNvPr>
            <p:cNvSpPr/>
            <p:nvPr/>
          </p:nvSpPr>
          <p:spPr>
            <a:xfrm>
              <a:off x="802206" y="-1240705"/>
              <a:ext cx="1457323" cy="1157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03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8CAA38E-6BEC-2F2F-7E4C-1B4862D3F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8" t="27450" r="64349" b="69986"/>
            <a:stretch/>
          </p:blipFill>
          <p:spPr bwMode="auto">
            <a:xfrm>
              <a:off x="2203287" y="-109879"/>
              <a:ext cx="783341" cy="188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D1BE6B4-241E-C37F-44D4-3B21D429F5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74" t="12951" r="36078" b="84367"/>
            <a:stretch/>
          </p:blipFill>
          <p:spPr bwMode="auto">
            <a:xfrm>
              <a:off x="4240181" y="-1077102"/>
              <a:ext cx="442823" cy="196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0E1EFA8-0297-C04A-6DE9-F81AD4914C91}"/>
                </a:ext>
              </a:extLst>
            </p:cNvPr>
            <p:cNvSpPr/>
            <p:nvPr/>
          </p:nvSpPr>
          <p:spPr>
            <a:xfrm>
              <a:off x="4415741" y="-1798174"/>
              <a:ext cx="2247914" cy="721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3" name="矩形 122">
            <a:extLst>
              <a:ext uri="{FF2B5EF4-FFF2-40B4-BE49-F238E27FC236}">
                <a16:creationId xmlns:a16="http://schemas.microsoft.com/office/drawing/2014/main" id="{7773EE28-DFB0-73A1-7907-EDDBEFB8FBD4}"/>
              </a:ext>
            </a:extLst>
          </p:cNvPr>
          <p:cNvSpPr/>
          <p:nvPr/>
        </p:nvSpPr>
        <p:spPr>
          <a:xfrm>
            <a:off x="6283403" y="1465263"/>
            <a:ext cx="2760520" cy="3138502"/>
          </a:xfrm>
          <a:prstGeom prst="rect">
            <a:avLst/>
          </a:prstGeom>
          <a:solidFill>
            <a:schemeClr val="bg1">
              <a:alpha val="713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Velocity of the End-effector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739240" cy="2841625"/>
              </a:xfrm>
            </p:spPr>
            <p:txBody>
              <a:bodyPr/>
              <a:lstStyle/>
              <a:p>
                <a:r>
                  <a:rPr lang="en-GB" altLang="zh-CN" dirty="0"/>
                  <a:t>We assume that the final three axes of the robot arm converge at a single point (as depicted in the design shown on the right),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GB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GB" altLang="zh-CN" dirty="0"/>
                  <a:t> represent the angular orientations of axes 4, 5, and 6, respectively. Hence,</a:t>
                </a:r>
                <a:br>
                  <a:rPr lang="en-GB" altLang="zh-CN" dirty="0"/>
                </a:br>
                <a:endParaRPr lang="en-GB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altLang="zh-CN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tx2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tx2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tx2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3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altLang="zh-CN" dirty="0"/>
              </a:p>
              <a:p>
                <a:r>
                  <a:rPr lang="en-GB" altLang="zh-CN" dirty="0"/>
                  <a:t>Given that the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altLang="zh-CN" dirty="0"/>
                  <a:t> values are provided, we will bypass the angles and focus our analysis on the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linear velocity</a:t>
                </a:r>
                <a:r>
                  <a:rPr lang="en-GB" altLang="zh-CN" dirty="0"/>
                  <a:t>:</a:t>
                </a:r>
                <a:br>
                  <a:rPr lang="en-GB" altLang="zh-CN" dirty="0"/>
                </a:br>
                <a:endParaRPr lang="en-GB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altLang="zh-CN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GB" altLang="zh-CN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altLang="zh-CN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altLang="zh-CN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739240" cy="2841625"/>
              </a:xfrm>
              <a:blipFill>
                <a:blip r:embed="rId4"/>
                <a:stretch>
                  <a:fillRect l="-442" t="-1778" r="-8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85CD1570-EF40-6CB4-8503-EC3C4FAE9BA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0885" y="3741315"/>
            <a:ext cx="461747" cy="219723"/>
          </a:xfrm>
          <a:prstGeom prst="line">
            <a:avLst/>
          </a:prstGeom>
          <a:ln w="22225">
            <a:solidFill>
              <a:schemeClr val="accent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09FAE494-4F76-212F-0606-73B9AD9A7CA5}"/>
              </a:ext>
            </a:extLst>
          </p:cNvPr>
          <p:cNvCxnSpPr>
            <a:cxnSpLocks/>
          </p:cNvCxnSpPr>
          <p:nvPr/>
        </p:nvCxnSpPr>
        <p:spPr>
          <a:xfrm flipH="1">
            <a:off x="6177413" y="3961039"/>
            <a:ext cx="245220" cy="548535"/>
          </a:xfrm>
          <a:prstGeom prst="line">
            <a:avLst/>
          </a:prstGeom>
          <a:ln w="22225">
            <a:solidFill>
              <a:schemeClr val="tx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6D6A093A-6BEA-BF63-4237-9EEBE185CD09}"/>
              </a:ext>
            </a:extLst>
          </p:cNvPr>
          <p:cNvCxnSpPr>
            <a:cxnSpLocks/>
          </p:cNvCxnSpPr>
          <p:nvPr/>
        </p:nvCxnSpPr>
        <p:spPr>
          <a:xfrm flipV="1">
            <a:off x="6422633" y="3911306"/>
            <a:ext cx="270020" cy="49732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弧 119">
            <a:extLst>
              <a:ext uri="{FF2B5EF4-FFF2-40B4-BE49-F238E27FC236}">
                <a16:creationId xmlns:a16="http://schemas.microsoft.com/office/drawing/2014/main" id="{6AE20315-CCAF-4A05-9181-52E8826A5041}"/>
              </a:ext>
            </a:extLst>
          </p:cNvPr>
          <p:cNvSpPr/>
          <p:nvPr/>
        </p:nvSpPr>
        <p:spPr>
          <a:xfrm rot="1572360">
            <a:off x="6117433" y="3614506"/>
            <a:ext cx="190044" cy="483109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弧 120">
            <a:extLst>
              <a:ext uri="{FF2B5EF4-FFF2-40B4-BE49-F238E27FC236}">
                <a16:creationId xmlns:a16="http://schemas.microsoft.com/office/drawing/2014/main" id="{598FCF3C-9AF8-3EEB-B544-C2AD0A914F45}"/>
              </a:ext>
            </a:extLst>
          </p:cNvPr>
          <p:cNvSpPr/>
          <p:nvPr/>
        </p:nvSpPr>
        <p:spPr>
          <a:xfrm rot="17871924">
            <a:off x="6141404" y="4123434"/>
            <a:ext cx="255531" cy="377454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弧 121">
            <a:extLst>
              <a:ext uri="{FF2B5EF4-FFF2-40B4-BE49-F238E27FC236}">
                <a16:creationId xmlns:a16="http://schemas.microsoft.com/office/drawing/2014/main" id="{2778A7BE-BC27-1F38-B25B-DFD884781F18}"/>
              </a:ext>
            </a:extLst>
          </p:cNvPr>
          <p:cNvSpPr/>
          <p:nvPr/>
        </p:nvSpPr>
        <p:spPr>
          <a:xfrm>
            <a:off x="6461853" y="3739227"/>
            <a:ext cx="306291" cy="302033"/>
          </a:xfrm>
          <a:prstGeom prst="arc">
            <a:avLst>
              <a:gd name="adj1" fmla="val 13067873"/>
              <a:gd name="adj2" fmla="val 794305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4149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>
            <a:extLst>
              <a:ext uri="{FF2B5EF4-FFF2-40B4-BE49-F238E27FC236}">
                <a16:creationId xmlns:a16="http://schemas.microsoft.com/office/drawing/2014/main" id="{8A266412-76B5-52DF-F089-A904B1C0338A}"/>
              </a:ext>
            </a:extLst>
          </p:cNvPr>
          <p:cNvGrpSpPr/>
          <p:nvPr/>
        </p:nvGrpSpPr>
        <p:grpSpPr>
          <a:xfrm flipH="1">
            <a:off x="6283403" y="1465263"/>
            <a:ext cx="2777140" cy="3149869"/>
            <a:chOff x="802206" y="-1900482"/>
            <a:chExt cx="6471431" cy="7339984"/>
          </a:xfrm>
        </p:grpSpPr>
        <p:pic>
          <p:nvPicPr>
            <p:cNvPr id="95" name="图片 94" descr="The six degree-of-freedom PUMA 560 robot manipulator">
              <a:extLst>
                <a:ext uri="{FF2B5EF4-FFF2-40B4-BE49-F238E27FC236}">
                  <a16:creationId xmlns:a16="http://schemas.microsoft.com/office/drawing/2014/main" id="{7B04D8B6-CEE0-C7E7-1689-5E3BC852F0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4" r="5754"/>
            <a:stretch/>
          </p:blipFill>
          <p:spPr bwMode="auto">
            <a:xfrm>
              <a:off x="802206" y="-1900482"/>
              <a:ext cx="6471431" cy="7339984"/>
            </a:xfrm>
            <a:custGeom>
              <a:avLst/>
              <a:gdLst>
                <a:gd name="connsiteX0" fmla="*/ 0 w 6471431"/>
                <a:gd name="connsiteY0" fmla="*/ 0 h 7339984"/>
                <a:gd name="connsiteX1" fmla="*/ 6471431 w 6471431"/>
                <a:gd name="connsiteY1" fmla="*/ 0 h 7339984"/>
                <a:gd name="connsiteX2" fmla="*/ 6471431 w 6471431"/>
                <a:gd name="connsiteY2" fmla="*/ 6047632 h 7339984"/>
                <a:gd name="connsiteX3" fmla="*/ 3826295 w 6471431"/>
                <a:gd name="connsiteY3" fmla="*/ 7339984 h 7339984"/>
                <a:gd name="connsiteX4" fmla="*/ 0 w 6471431"/>
                <a:gd name="connsiteY4" fmla="*/ 7339984 h 733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431" h="7339984">
                  <a:moveTo>
                    <a:pt x="0" y="0"/>
                  </a:moveTo>
                  <a:lnTo>
                    <a:pt x="6471431" y="0"/>
                  </a:lnTo>
                  <a:lnTo>
                    <a:pt x="6471431" y="6047632"/>
                  </a:lnTo>
                  <a:lnTo>
                    <a:pt x="3826295" y="7339984"/>
                  </a:lnTo>
                  <a:lnTo>
                    <a:pt x="0" y="7339984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图片 95" descr="The six degree-of-freedom PUMA 560 robot manipulator">
              <a:extLst>
                <a:ext uri="{FF2B5EF4-FFF2-40B4-BE49-F238E27FC236}">
                  <a16:creationId xmlns:a16="http://schemas.microsoft.com/office/drawing/2014/main" id="{0DE063CE-16CB-2566-12AF-179527B28A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25" t="80683" r="14123" b="15983"/>
            <a:stretch/>
          </p:blipFill>
          <p:spPr bwMode="auto">
            <a:xfrm>
              <a:off x="5170436" y="1056955"/>
              <a:ext cx="235630" cy="244692"/>
            </a:xfrm>
            <a:custGeom>
              <a:avLst/>
              <a:gdLst>
                <a:gd name="connsiteX0" fmla="*/ 0 w 243281"/>
                <a:gd name="connsiteY0" fmla="*/ 0 h 268447"/>
                <a:gd name="connsiteX1" fmla="*/ 243281 w 243281"/>
                <a:gd name="connsiteY1" fmla="*/ 0 h 268447"/>
                <a:gd name="connsiteX2" fmla="*/ 243281 w 243281"/>
                <a:gd name="connsiteY2" fmla="*/ 268447 h 268447"/>
                <a:gd name="connsiteX3" fmla="*/ 86099 w 243281"/>
                <a:gd name="connsiteY3" fmla="*/ 268447 h 268447"/>
                <a:gd name="connsiteX4" fmla="*/ 86144 w 243281"/>
                <a:gd name="connsiteY4" fmla="*/ 268409 h 268447"/>
                <a:gd name="connsiteX5" fmla="*/ 321 w 243281"/>
                <a:gd name="connsiteY5" fmla="*/ 165208 h 268447"/>
                <a:gd name="connsiteX6" fmla="*/ 0 w 243281"/>
                <a:gd name="connsiteY6" fmla="*/ 165475 h 26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281" h="268447">
                  <a:moveTo>
                    <a:pt x="0" y="0"/>
                  </a:moveTo>
                  <a:lnTo>
                    <a:pt x="243281" y="0"/>
                  </a:lnTo>
                  <a:lnTo>
                    <a:pt x="243281" y="268447"/>
                  </a:lnTo>
                  <a:lnTo>
                    <a:pt x="86099" y="268447"/>
                  </a:lnTo>
                  <a:lnTo>
                    <a:pt x="86144" y="268409"/>
                  </a:lnTo>
                  <a:lnTo>
                    <a:pt x="321" y="165208"/>
                  </a:lnTo>
                  <a:lnTo>
                    <a:pt x="0" y="16547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2EECB7AD-B457-4241-28AD-193D29F6D1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58" t="62400" r="20974" b="31949"/>
            <a:stretch/>
          </p:blipFill>
          <p:spPr bwMode="auto">
            <a:xfrm>
              <a:off x="4022179" y="2986283"/>
              <a:ext cx="2176582" cy="41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C29D884A-3F73-7F04-AE2D-D31B093DAE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1" t="78524" r="12984" b="19150"/>
            <a:stretch/>
          </p:blipFill>
          <p:spPr bwMode="auto">
            <a:xfrm flipH="1" flipV="1">
              <a:off x="6230803" y="4211903"/>
              <a:ext cx="178356" cy="17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8329209D-CA9D-6C52-DDB8-3136B9F047FD}"/>
                </a:ext>
              </a:extLst>
            </p:cNvPr>
            <p:cNvSpPr/>
            <p:nvPr/>
          </p:nvSpPr>
          <p:spPr>
            <a:xfrm>
              <a:off x="4240182" y="3401030"/>
              <a:ext cx="2319721" cy="2011986"/>
            </a:xfrm>
            <a:custGeom>
              <a:avLst/>
              <a:gdLst>
                <a:gd name="connsiteX0" fmla="*/ 0 w 2319721"/>
                <a:gd name="connsiteY0" fmla="*/ 0 h 2011986"/>
                <a:gd name="connsiteX1" fmla="*/ 1542860 w 2319721"/>
                <a:gd name="connsiteY1" fmla="*/ 0 h 2011986"/>
                <a:gd name="connsiteX2" fmla="*/ 1542860 w 2319721"/>
                <a:gd name="connsiteY2" fmla="*/ 894444 h 2011986"/>
                <a:gd name="connsiteX3" fmla="*/ 2019424 w 2319721"/>
                <a:gd name="connsiteY3" fmla="*/ 894444 h 2011986"/>
                <a:gd name="connsiteX4" fmla="*/ 2019424 w 2319721"/>
                <a:gd name="connsiteY4" fmla="*/ 1094834 h 2011986"/>
                <a:gd name="connsiteX5" fmla="*/ 2319721 w 2319721"/>
                <a:gd name="connsiteY5" fmla="*/ 1094834 h 2011986"/>
                <a:gd name="connsiteX6" fmla="*/ 442530 w 2319721"/>
                <a:gd name="connsiteY6" fmla="*/ 2011986 h 2011986"/>
                <a:gd name="connsiteX7" fmla="*/ 405987 w 2319721"/>
                <a:gd name="connsiteY7" fmla="*/ 2011986 h 2011986"/>
                <a:gd name="connsiteX8" fmla="*/ 405987 w 2319721"/>
                <a:gd name="connsiteY8" fmla="*/ 1737606 h 2011986"/>
                <a:gd name="connsiteX9" fmla="*/ 0 w 2319721"/>
                <a:gd name="connsiteY9" fmla="*/ 1737606 h 201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19721" h="2011986">
                  <a:moveTo>
                    <a:pt x="0" y="0"/>
                  </a:moveTo>
                  <a:lnTo>
                    <a:pt x="1542860" y="0"/>
                  </a:lnTo>
                  <a:lnTo>
                    <a:pt x="1542860" y="894444"/>
                  </a:lnTo>
                  <a:lnTo>
                    <a:pt x="2019424" y="894444"/>
                  </a:lnTo>
                  <a:lnTo>
                    <a:pt x="2019424" y="1094834"/>
                  </a:lnTo>
                  <a:lnTo>
                    <a:pt x="2319721" y="1094834"/>
                  </a:lnTo>
                  <a:lnTo>
                    <a:pt x="442530" y="2011986"/>
                  </a:lnTo>
                  <a:lnTo>
                    <a:pt x="405987" y="2011986"/>
                  </a:lnTo>
                  <a:lnTo>
                    <a:pt x="405987" y="1737606"/>
                  </a:lnTo>
                  <a:lnTo>
                    <a:pt x="0" y="17376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100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048B59E8-50E8-8A8B-EE2A-6E942F680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30" t="51726" r="71864" b="42787"/>
            <a:stretch/>
          </p:blipFill>
          <p:spPr bwMode="auto">
            <a:xfrm>
              <a:off x="926535" y="1553200"/>
              <a:ext cx="1070069" cy="402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74F00978-B2A6-D71C-1254-55AC429DBA98}"/>
                </a:ext>
              </a:extLst>
            </p:cNvPr>
            <p:cNvSpPr/>
            <p:nvPr/>
          </p:nvSpPr>
          <p:spPr>
            <a:xfrm>
              <a:off x="802206" y="919371"/>
              <a:ext cx="701683" cy="933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CAB2AD7-5ED9-BBA8-7539-69CC7496AC14}"/>
                </a:ext>
              </a:extLst>
            </p:cNvPr>
            <p:cNvSpPr/>
            <p:nvPr/>
          </p:nvSpPr>
          <p:spPr>
            <a:xfrm>
              <a:off x="802206" y="-1240705"/>
              <a:ext cx="1457323" cy="1157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03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8CAA38E-6BEC-2F2F-7E4C-1B4862D3F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8" t="27450" r="64349" b="69986"/>
            <a:stretch/>
          </p:blipFill>
          <p:spPr bwMode="auto">
            <a:xfrm>
              <a:off x="2203287" y="-109879"/>
              <a:ext cx="783341" cy="188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D1BE6B4-241E-C37F-44D4-3B21D429F5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74" t="12951" r="36078" b="84367"/>
            <a:stretch/>
          </p:blipFill>
          <p:spPr bwMode="auto">
            <a:xfrm>
              <a:off x="4240181" y="-1077102"/>
              <a:ext cx="442823" cy="196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0E1EFA8-0297-C04A-6DE9-F81AD4914C91}"/>
                </a:ext>
              </a:extLst>
            </p:cNvPr>
            <p:cNvSpPr/>
            <p:nvPr/>
          </p:nvSpPr>
          <p:spPr>
            <a:xfrm>
              <a:off x="4415741" y="-1798174"/>
              <a:ext cx="2247914" cy="721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3" name="矩形 122">
            <a:extLst>
              <a:ext uri="{FF2B5EF4-FFF2-40B4-BE49-F238E27FC236}">
                <a16:creationId xmlns:a16="http://schemas.microsoft.com/office/drawing/2014/main" id="{7773EE28-DFB0-73A1-7907-EDDBEFB8FBD4}"/>
              </a:ext>
            </a:extLst>
          </p:cNvPr>
          <p:cNvSpPr/>
          <p:nvPr/>
        </p:nvSpPr>
        <p:spPr>
          <a:xfrm>
            <a:off x="6283403" y="1465263"/>
            <a:ext cx="2760520" cy="3138502"/>
          </a:xfrm>
          <a:prstGeom prst="rect">
            <a:avLst/>
          </a:prstGeom>
          <a:solidFill>
            <a:schemeClr val="bg1">
              <a:alpha val="713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Velocity of the End-effector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413958" cy="2841625"/>
              </a:xfrm>
            </p:spPr>
            <p:txBody>
              <a:bodyPr/>
              <a:lstStyle/>
              <a:p>
                <a:r>
                  <a:rPr lang="en-GB" altLang="zh-CN" dirty="0"/>
                  <a:t>Just as with generalised velocity, the velocity of an end-effector can be expressed by subtracting its state at time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altLang="zh-CN" dirty="0"/>
                  <a:t> from its state at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dirty="0"/>
                  <a:t>. However, the state of the end-effector also includes both position and rotational angles.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altLang="zh-CN" dirty="0"/>
              </a:p>
              <a:p>
                <a:r>
                  <a:rPr lang="en-GB" altLang="zh-CN" dirty="0"/>
                  <a:t>Where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zh-CN" dirty="0"/>
                  <a:t> denotes the position of the end-effector, which is a function of time.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altLang="zh-CN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en-GB" altLang="zh-CN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GB" altLang="zh-CN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GB" altLang="zh-CN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  <m:d>
                                      <m:dPr>
                                        <m:ctrlP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altLang="zh-CN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413958" cy="2841625"/>
              </a:xfrm>
              <a:blipFill>
                <a:blip r:embed="rId4"/>
                <a:stretch>
                  <a:fillRect l="-468" t="-1778" r="-1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85CD1570-EF40-6CB4-8503-EC3C4FAE9BA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0885" y="3741315"/>
            <a:ext cx="461747" cy="219723"/>
          </a:xfrm>
          <a:prstGeom prst="line">
            <a:avLst/>
          </a:prstGeom>
          <a:ln w="22225">
            <a:solidFill>
              <a:schemeClr val="accent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09FAE494-4F76-212F-0606-73B9AD9A7CA5}"/>
              </a:ext>
            </a:extLst>
          </p:cNvPr>
          <p:cNvCxnSpPr>
            <a:cxnSpLocks/>
          </p:cNvCxnSpPr>
          <p:nvPr/>
        </p:nvCxnSpPr>
        <p:spPr>
          <a:xfrm flipH="1">
            <a:off x="6177413" y="3961039"/>
            <a:ext cx="245220" cy="548535"/>
          </a:xfrm>
          <a:prstGeom prst="line">
            <a:avLst/>
          </a:prstGeom>
          <a:ln w="22225">
            <a:solidFill>
              <a:schemeClr val="tx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6D6A093A-6BEA-BF63-4237-9EEBE185CD09}"/>
              </a:ext>
            </a:extLst>
          </p:cNvPr>
          <p:cNvCxnSpPr>
            <a:cxnSpLocks/>
          </p:cNvCxnSpPr>
          <p:nvPr/>
        </p:nvCxnSpPr>
        <p:spPr>
          <a:xfrm flipV="1">
            <a:off x="6422633" y="3911306"/>
            <a:ext cx="270020" cy="49732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弧 119">
            <a:extLst>
              <a:ext uri="{FF2B5EF4-FFF2-40B4-BE49-F238E27FC236}">
                <a16:creationId xmlns:a16="http://schemas.microsoft.com/office/drawing/2014/main" id="{6AE20315-CCAF-4A05-9181-52E8826A5041}"/>
              </a:ext>
            </a:extLst>
          </p:cNvPr>
          <p:cNvSpPr/>
          <p:nvPr/>
        </p:nvSpPr>
        <p:spPr>
          <a:xfrm rot="1572360">
            <a:off x="6117433" y="3614506"/>
            <a:ext cx="190044" cy="483109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弧 120">
            <a:extLst>
              <a:ext uri="{FF2B5EF4-FFF2-40B4-BE49-F238E27FC236}">
                <a16:creationId xmlns:a16="http://schemas.microsoft.com/office/drawing/2014/main" id="{598FCF3C-9AF8-3EEB-B544-C2AD0A914F45}"/>
              </a:ext>
            </a:extLst>
          </p:cNvPr>
          <p:cNvSpPr/>
          <p:nvPr/>
        </p:nvSpPr>
        <p:spPr>
          <a:xfrm rot="17871924">
            <a:off x="6141404" y="4123434"/>
            <a:ext cx="255531" cy="377454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弧 121">
            <a:extLst>
              <a:ext uri="{FF2B5EF4-FFF2-40B4-BE49-F238E27FC236}">
                <a16:creationId xmlns:a16="http://schemas.microsoft.com/office/drawing/2014/main" id="{2778A7BE-BC27-1F38-B25B-DFD884781F18}"/>
              </a:ext>
            </a:extLst>
          </p:cNvPr>
          <p:cNvSpPr/>
          <p:nvPr/>
        </p:nvSpPr>
        <p:spPr>
          <a:xfrm>
            <a:off x="6461853" y="3739227"/>
            <a:ext cx="306291" cy="302033"/>
          </a:xfrm>
          <a:prstGeom prst="arc">
            <a:avLst>
              <a:gd name="adj1" fmla="val 13067873"/>
              <a:gd name="adj2" fmla="val 794305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8888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>
            <a:extLst>
              <a:ext uri="{FF2B5EF4-FFF2-40B4-BE49-F238E27FC236}">
                <a16:creationId xmlns:a16="http://schemas.microsoft.com/office/drawing/2014/main" id="{8A266412-76B5-52DF-F089-A904B1C0338A}"/>
              </a:ext>
            </a:extLst>
          </p:cNvPr>
          <p:cNvGrpSpPr/>
          <p:nvPr/>
        </p:nvGrpSpPr>
        <p:grpSpPr>
          <a:xfrm flipH="1">
            <a:off x="6283403" y="1465263"/>
            <a:ext cx="2777140" cy="3149869"/>
            <a:chOff x="802206" y="-1900482"/>
            <a:chExt cx="6471431" cy="7339984"/>
          </a:xfrm>
        </p:grpSpPr>
        <p:pic>
          <p:nvPicPr>
            <p:cNvPr id="95" name="图片 94" descr="The six degree-of-freedom PUMA 560 robot manipulator">
              <a:extLst>
                <a:ext uri="{FF2B5EF4-FFF2-40B4-BE49-F238E27FC236}">
                  <a16:creationId xmlns:a16="http://schemas.microsoft.com/office/drawing/2014/main" id="{7B04D8B6-CEE0-C7E7-1689-5E3BC852F0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4" r="5754"/>
            <a:stretch/>
          </p:blipFill>
          <p:spPr bwMode="auto">
            <a:xfrm>
              <a:off x="802206" y="-1900482"/>
              <a:ext cx="6471431" cy="7339984"/>
            </a:xfrm>
            <a:custGeom>
              <a:avLst/>
              <a:gdLst>
                <a:gd name="connsiteX0" fmla="*/ 0 w 6471431"/>
                <a:gd name="connsiteY0" fmla="*/ 0 h 7339984"/>
                <a:gd name="connsiteX1" fmla="*/ 6471431 w 6471431"/>
                <a:gd name="connsiteY1" fmla="*/ 0 h 7339984"/>
                <a:gd name="connsiteX2" fmla="*/ 6471431 w 6471431"/>
                <a:gd name="connsiteY2" fmla="*/ 6047632 h 7339984"/>
                <a:gd name="connsiteX3" fmla="*/ 3826295 w 6471431"/>
                <a:gd name="connsiteY3" fmla="*/ 7339984 h 7339984"/>
                <a:gd name="connsiteX4" fmla="*/ 0 w 6471431"/>
                <a:gd name="connsiteY4" fmla="*/ 7339984 h 733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431" h="7339984">
                  <a:moveTo>
                    <a:pt x="0" y="0"/>
                  </a:moveTo>
                  <a:lnTo>
                    <a:pt x="6471431" y="0"/>
                  </a:lnTo>
                  <a:lnTo>
                    <a:pt x="6471431" y="6047632"/>
                  </a:lnTo>
                  <a:lnTo>
                    <a:pt x="3826295" y="7339984"/>
                  </a:lnTo>
                  <a:lnTo>
                    <a:pt x="0" y="7339984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图片 95" descr="The six degree-of-freedom PUMA 560 robot manipulator">
              <a:extLst>
                <a:ext uri="{FF2B5EF4-FFF2-40B4-BE49-F238E27FC236}">
                  <a16:creationId xmlns:a16="http://schemas.microsoft.com/office/drawing/2014/main" id="{0DE063CE-16CB-2566-12AF-179527B28A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25" t="80683" r="14123" b="15983"/>
            <a:stretch/>
          </p:blipFill>
          <p:spPr bwMode="auto">
            <a:xfrm>
              <a:off x="5170436" y="1056955"/>
              <a:ext cx="235630" cy="244692"/>
            </a:xfrm>
            <a:custGeom>
              <a:avLst/>
              <a:gdLst>
                <a:gd name="connsiteX0" fmla="*/ 0 w 243281"/>
                <a:gd name="connsiteY0" fmla="*/ 0 h 268447"/>
                <a:gd name="connsiteX1" fmla="*/ 243281 w 243281"/>
                <a:gd name="connsiteY1" fmla="*/ 0 h 268447"/>
                <a:gd name="connsiteX2" fmla="*/ 243281 w 243281"/>
                <a:gd name="connsiteY2" fmla="*/ 268447 h 268447"/>
                <a:gd name="connsiteX3" fmla="*/ 86099 w 243281"/>
                <a:gd name="connsiteY3" fmla="*/ 268447 h 268447"/>
                <a:gd name="connsiteX4" fmla="*/ 86144 w 243281"/>
                <a:gd name="connsiteY4" fmla="*/ 268409 h 268447"/>
                <a:gd name="connsiteX5" fmla="*/ 321 w 243281"/>
                <a:gd name="connsiteY5" fmla="*/ 165208 h 268447"/>
                <a:gd name="connsiteX6" fmla="*/ 0 w 243281"/>
                <a:gd name="connsiteY6" fmla="*/ 165475 h 26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281" h="268447">
                  <a:moveTo>
                    <a:pt x="0" y="0"/>
                  </a:moveTo>
                  <a:lnTo>
                    <a:pt x="243281" y="0"/>
                  </a:lnTo>
                  <a:lnTo>
                    <a:pt x="243281" y="268447"/>
                  </a:lnTo>
                  <a:lnTo>
                    <a:pt x="86099" y="268447"/>
                  </a:lnTo>
                  <a:lnTo>
                    <a:pt x="86144" y="268409"/>
                  </a:lnTo>
                  <a:lnTo>
                    <a:pt x="321" y="165208"/>
                  </a:lnTo>
                  <a:lnTo>
                    <a:pt x="0" y="16547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2EECB7AD-B457-4241-28AD-193D29F6D1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58" t="62400" r="20974" b="31949"/>
            <a:stretch/>
          </p:blipFill>
          <p:spPr bwMode="auto">
            <a:xfrm>
              <a:off x="4022179" y="2986283"/>
              <a:ext cx="2176582" cy="41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C29D884A-3F73-7F04-AE2D-D31B093DAE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1" t="78524" r="12984" b="19150"/>
            <a:stretch/>
          </p:blipFill>
          <p:spPr bwMode="auto">
            <a:xfrm flipH="1" flipV="1">
              <a:off x="6230803" y="4211903"/>
              <a:ext cx="178356" cy="17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8329209D-CA9D-6C52-DDB8-3136B9F047FD}"/>
                </a:ext>
              </a:extLst>
            </p:cNvPr>
            <p:cNvSpPr/>
            <p:nvPr/>
          </p:nvSpPr>
          <p:spPr>
            <a:xfrm>
              <a:off x="4240182" y="3401030"/>
              <a:ext cx="2319721" cy="2011986"/>
            </a:xfrm>
            <a:custGeom>
              <a:avLst/>
              <a:gdLst>
                <a:gd name="connsiteX0" fmla="*/ 0 w 2319721"/>
                <a:gd name="connsiteY0" fmla="*/ 0 h 2011986"/>
                <a:gd name="connsiteX1" fmla="*/ 1542860 w 2319721"/>
                <a:gd name="connsiteY1" fmla="*/ 0 h 2011986"/>
                <a:gd name="connsiteX2" fmla="*/ 1542860 w 2319721"/>
                <a:gd name="connsiteY2" fmla="*/ 894444 h 2011986"/>
                <a:gd name="connsiteX3" fmla="*/ 2019424 w 2319721"/>
                <a:gd name="connsiteY3" fmla="*/ 894444 h 2011986"/>
                <a:gd name="connsiteX4" fmla="*/ 2019424 w 2319721"/>
                <a:gd name="connsiteY4" fmla="*/ 1094834 h 2011986"/>
                <a:gd name="connsiteX5" fmla="*/ 2319721 w 2319721"/>
                <a:gd name="connsiteY5" fmla="*/ 1094834 h 2011986"/>
                <a:gd name="connsiteX6" fmla="*/ 442530 w 2319721"/>
                <a:gd name="connsiteY6" fmla="*/ 2011986 h 2011986"/>
                <a:gd name="connsiteX7" fmla="*/ 405987 w 2319721"/>
                <a:gd name="connsiteY7" fmla="*/ 2011986 h 2011986"/>
                <a:gd name="connsiteX8" fmla="*/ 405987 w 2319721"/>
                <a:gd name="connsiteY8" fmla="*/ 1737606 h 2011986"/>
                <a:gd name="connsiteX9" fmla="*/ 0 w 2319721"/>
                <a:gd name="connsiteY9" fmla="*/ 1737606 h 201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19721" h="2011986">
                  <a:moveTo>
                    <a:pt x="0" y="0"/>
                  </a:moveTo>
                  <a:lnTo>
                    <a:pt x="1542860" y="0"/>
                  </a:lnTo>
                  <a:lnTo>
                    <a:pt x="1542860" y="894444"/>
                  </a:lnTo>
                  <a:lnTo>
                    <a:pt x="2019424" y="894444"/>
                  </a:lnTo>
                  <a:lnTo>
                    <a:pt x="2019424" y="1094834"/>
                  </a:lnTo>
                  <a:lnTo>
                    <a:pt x="2319721" y="1094834"/>
                  </a:lnTo>
                  <a:lnTo>
                    <a:pt x="442530" y="2011986"/>
                  </a:lnTo>
                  <a:lnTo>
                    <a:pt x="405987" y="2011986"/>
                  </a:lnTo>
                  <a:lnTo>
                    <a:pt x="405987" y="1737606"/>
                  </a:lnTo>
                  <a:lnTo>
                    <a:pt x="0" y="17376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100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048B59E8-50E8-8A8B-EE2A-6E942F680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30" t="51726" r="71864" b="42787"/>
            <a:stretch/>
          </p:blipFill>
          <p:spPr bwMode="auto">
            <a:xfrm>
              <a:off x="926535" y="1553200"/>
              <a:ext cx="1070069" cy="402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74F00978-B2A6-D71C-1254-55AC429DBA98}"/>
                </a:ext>
              </a:extLst>
            </p:cNvPr>
            <p:cNvSpPr/>
            <p:nvPr/>
          </p:nvSpPr>
          <p:spPr>
            <a:xfrm>
              <a:off x="802206" y="919371"/>
              <a:ext cx="701683" cy="933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CAB2AD7-5ED9-BBA8-7539-69CC7496AC14}"/>
                </a:ext>
              </a:extLst>
            </p:cNvPr>
            <p:cNvSpPr/>
            <p:nvPr/>
          </p:nvSpPr>
          <p:spPr>
            <a:xfrm>
              <a:off x="802206" y="-1240705"/>
              <a:ext cx="1457323" cy="1157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03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8CAA38E-6BEC-2F2F-7E4C-1B4862D3F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8" t="27450" r="64349" b="69986"/>
            <a:stretch/>
          </p:blipFill>
          <p:spPr bwMode="auto">
            <a:xfrm>
              <a:off x="2203287" y="-109879"/>
              <a:ext cx="783341" cy="188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D1BE6B4-241E-C37F-44D4-3B21D429F5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74" t="12951" r="36078" b="84367"/>
            <a:stretch/>
          </p:blipFill>
          <p:spPr bwMode="auto">
            <a:xfrm>
              <a:off x="4240181" y="-1077102"/>
              <a:ext cx="442823" cy="196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0E1EFA8-0297-C04A-6DE9-F81AD4914C91}"/>
                </a:ext>
              </a:extLst>
            </p:cNvPr>
            <p:cNvSpPr/>
            <p:nvPr/>
          </p:nvSpPr>
          <p:spPr>
            <a:xfrm>
              <a:off x="4415741" y="-1798174"/>
              <a:ext cx="2247914" cy="721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3" name="矩形 122">
            <a:extLst>
              <a:ext uri="{FF2B5EF4-FFF2-40B4-BE49-F238E27FC236}">
                <a16:creationId xmlns:a16="http://schemas.microsoft.com/office/drawing/2014/main" id="{7773EE28-DFB0-73A1-7907-EDDBEFB8FBD4}"/>
              </a:ext>
            </a:extLst>
          </p:cNvPr>
          <p:cNvSpPr/>
          <p:nvPr/>
        </p:nvSpPr>
        <p:spPr>
          <a:xfrm>
            <a:off x="6283403" y="1465263"/>
            <a:ext cx="2760520" cy="3138502"/>
          </a:xfrm>
          <a:prstGeom prst="rect">
            <a:avLst/>
          </a:prstGeom>
          <a:solidFill>
            <a:schemeClr val="bg1">
              <a:alpha val="713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Velocity of the End-effector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1" y="1339257"/>
                <a:ext cx="5224818" cy="3639730"/>
              </a:xfrm>
            </p:spPr>
            <p:txBody>
              <a:bodyPr/>
              <a:lstStyle/>
              <a:p>
                <a:r>
                  <a:rPr lang="en-GB" altLang="zh-CN" dirty="0"/>
                  <a:t>Recall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that the </a:t>
                </a:r>
                <a:r>
                  <a:rPr lang="en-GB" altLang="zh-CN" dirty="0"/>
                  <a:t>position of the end-effector (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zh-CN" dirty="0"/>
                  <a:t>) can be find by the transformance matrix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/>
                  <a:t>,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altLang="zh-CN" i="1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sPre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altLang="zh-CN" dirty="0"/>
              </a:p>
              <a:p>
                <a:r>
                  <a:rPr lang="en-GB" altLang="zh-CN" dirty="0"/>
                  <a:t>Here,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/>
                  <a:t> transforms the origin coordinates into the coordinates of the end-effector.</a:t>
                </a:r>
              </a:p>
              <a:p>
                <a:r>
                  <a:rPr lang="en-GB" altLang="zh-CN" dirty="0"/>
                  <a:t>Since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/>
                  <a:t> depends on</a:t>
                </a:r>
                <a:r>
                  <a:rPr lang="en-GB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altLang="zh-CN" dirty="0"/>
                  <a:t>s (angles of joints) ,</a:t>
                </a:r>
              </a:p>
              <a:p>
                <a:r>
                  <a:rPr lang="en-GB" altLang="zh-CN" dirty="0"/>
                  <a:t>We rewrite 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altLang="zh-CN" dirty="0"/>
                  <a:t> as a function of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altLang="zh-CN" dirty="0"/>
                  <a:t>s (denoted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GB" altLang="zh-CN" dirty="0"/>
                  <a:t>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b>
                          <m:sSub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</m:e>
                    </m:sPre>
                    <m:sSup>
                      <m:sSup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GB" altLang="zh-CN" i="1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GB" altLang="zh-CN" i="1" dirty="0"/>
              </a:p>
              <a:p>
                <a:r>
                  <a:rPr lang="en-GB" altLang="zh-CN" i="1" dirty="0"/>
                  <a:t>Since 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altLang="zh-CN" dirty="0"/>
                  <a:t>s depend on time, we rewrite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GB" altLang="zh-CN" i="1" dirty="0"/>
                  <a:t> </a:t>
                </a:r>
                <a:r>
                  <a:rPr lang="en-GB" altLang="zh-CN" dirty="0"/>
                  <a:t>as a function on time.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GB" altLang="zh-CN" i="1" dirty="0"/>
              </a:p>
              <a:p>
                <a:r>
                  <a:rPr lang="en-GB" altLang="zh-CN" dirty="0"/>
                  <a:t>So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altLang="zh-CN" i="1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altLang="zh-CN" i="1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GB" altLang="zh-CN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b="0" i="1" smtClean="0">
                                  <a:solidFill>
                                    <a:srgbClr val="00339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altLang="zh-CN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1" y="1339257"/>
                <a:ext cx="5224818" cy="3639730"/>
              </a:xfrm>
              <a:blipFill>
                <a:blip r:embed="rId4"/>
                <a:stretch>
                  <a:fillRect l="-485" t="-1042" r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85CD1570-EF40-6CB4-8503-EC3C4FAE9BA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0885" y="3741315"/>
            <a:ext cx="461747" cy="219723"/>
          </a:xfrm>
          <a:prstGeom prst="line">
            <a:avLst/>
          </a:prstGeom>
          <a:ln w="22225">
            <a:solidFill>
              <a:schemeClr val="accent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09FAE494-4F76-212F-0606-73B9AD9A7CA5}"/>
              </a:ext>
            </a:extLst>
          </p:cNvPr>
          <p:cNvCxnSpPr>
            <a:cxnSpLocks/>
          </p:cNvCxnSpPr>
          <p:nvPr/>
        </p:nvCxnSpPr>
        <p:spPr>
          <a:xfrm flipH="1">
            <a:off x="6177413" y="3961039"/>
            <a:ext cx="245220" cy="548535"/>
          </a:xfrm>
          <a:prstGeom prst="line">
            <a:avLst/>
          </a:prstGeom>
          <a:ln w="22225">
            <a:solidFill>
              <a:schemeClr val="tx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6D6A093A-6BEA-BF63-4237-9EEBE185CD09}"/>
              </a:ext>
            </a:extLst>
          </p:cNvPr>
          <p:cNvCxnSpPr>
            <a:cxnSpLocks/>
          </p:cNvCxnSpPr>
          <p:nvPr/>
        </p:nvCxnSpPr>
        <p:spPr>
          <a:xfrm flipV="1">
            <a:off x="6422633" y="3911306"/>
            <a:ext cx="270020" cy="49732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弧 119">
            <a:extLst>
              <a:ext uri="{FF2B5EF4-FFF2-40B4-BE49-F238E27FC236}">
                <a16:creationId xmlns:a16="http://schemas.microsoft.com/office/drawing/2014/main" id="{6AE20315-CCAF-4A05-9181-52E8826A5041}"/>
              </a:ext>
            </a:extLst>
          </p:cNvPr>
          <p:cNvSpPr/>
          <p:nvPr/>
        </p:nvSpPr>
        <p:spPr>
          <a:xfrm rot="1572360">
            <a:off x="6117433" y="3614506"/>
            <a:ext cx="190044" cy="483109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弧 120">
            <a:extLst>
              <a:ext uri="{FF2B5EF4-FFF2-40B4-BE49-F238E27FC236}">
                <a16:creationId xmlns:a16="http://schemas.microsoft.com/office/drawing/2014/main" id="{598FCF3C-9AF8-3EEB-B544-C2AD0A914F45}"/>
              </a:ext>
            </a:extLst>
          </p:cNvPr>
          <p:cNvSpPr/>
          <p:nvPr/>
        </p:nvSpPr>
        <p:spPr>
          <a:xfrm rot="17871924">
            <a:off x="6141404" y="4123434"/>
            <a:ext cx="255531" cy="377454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弧 121">
            <a:extLst>
              <a:ext uri="{FF2B5EF4-FFF2-40B4-BE49-F238E27FC236}">
                <a16:creationId xmlns:a16="http://schemas.microsoft.com/office/drawing/2014/main" id="{2778A7BE-BC27-1F38-B25B-DFD884781F18}"/>
              </a:ext>
            </a:extLst>
          </p:cNvPr>
          <p:cNvSpPr/>
          <p:nvPr/>
        </p:nvSpPr>
        <p:spPr>
          <a:xfrm>
            <a:off x="6461853" y="3739227"/>
            <a:ext cx="306291" cy="302033"/>
          </a:xfrm>
          <a:prstGeom prst="arc">
            <a:avLst>
              <a:gd name="adj1" fmla="val 13067873"/>
              <a:gd name="adj2" fmla="val 794305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6779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>
            <a:extLst>
              <a:ext uri="{FF2B5EF4-FFF2-40B4-BE49-F238E27FC236}">
                <a16:creationId xmlns:a16="http://schemas.microsoft.com/office/drawing/2014/main" id="{8A266412-76B5-52DF-F089-A904B1C0338A}"/>
              </a:ext>
            </a:extLst>
          </p:cNvPr>
          <p:cNvGrpSpPr/>
          <p:nvPr/>
        </p:nvGrpSpPr>
        <p:grpSpPr>
          <a:xfrm flipH="1">
            <a:off x="6283403" y="1465263"/>
            <a:ext cx="2777140" cy="3149869"/>
            <a:chOff x="802206" y="-1900482"/>
            <a:chExt cx="6471431" cy="7339984"/>
          </a:xfrm>
        </p:grpSpPr>
        <p:pic>
          <p:nvPicPr>
            <p:cNvPr id="95" name="图片 94" descr="The six degree-of-freedom PUMA 560 robot manipulator">
              <a:extLst>
                <a:ext uri="{FF2B5EF4-FFF2-40B4-BE49-F238E27FC236}">
                  <a16:creationId xmlns:a16="http://schemas.microsoft.com/office/drawing/2014/main" id="{7B04D8B6-CEE0-C7E7-1689-5E3BC852F0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4" r="5754"/>
            <a:stretch/>
          </p:blipFill>
          <p:spPr bwMode="auto">
            <a:xfrm>
              <a:off x="802206" y="-1900482"/>
              <a:ext cx="6471431" cy="7339984"/>
            </a:xfrm>
            <a:custGeom>
              <a:avLst/>
              <a:gdLst>
                <a:gd name="connsiteX0" fmla="*/ 0 w 6471431"/>
                <a:gd name="connsiteY0" fmla="*/ 0 h 7339984"/>
                <a:gd name="connsiteX1" fmla="*/ 6471431 w 6471431"/>
                <a:gd name="connsiteY1" fmla="*/ 0 h 7339984"/>
                <a:gd name="connsiteX2" fmla="*/ 6471431 w 6471431"/>
                <a:gd name="connsiteY2" fmla="*/ 6047632 h 7339984"/>
                <a:gd name="connsiteX3" fmla="*/ 3826295 w 6471431"/>
                <a:gd name="connsiteY3" fmla="*/ 7339984 h 7339984"/>
                <a:gd name="connsiteX4" fmla="*/ 0 w 6471431"/>
                <a:gd name="connsiteY4" fmla="*/ 7339984 h 733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1431" h="7339984">
                  <a:moveTo>
                    <a:pt x="0" y="0"/>
                  </a:moveTo>
                  <a:lnTo>
                    <a:pt x="6471431" y="0"/>
                  </a:lnTo>
                  <a:lnTo>
                    <a:pt x="6471431" y="6047632"/>
                  </a:lnTo>
                  <a:lnTo>
                    <a:pt x="3826295" y="7339984"/>
                  </a:lnTo>
                  <a:lnTo>
                    <a:pt x="0" y="7339984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" name="图片 95" descr="The six degree-of-freedom PUMA 560 robot manipulator">
              <a:extLst>
                <a:ext uri="{FF2B5EF4-FFF2-40B4-BE49-F238E27FC236}">
                  <a16:creationId xmlns:a16="http://schemas.microsoft.com/office/drawing/2014/main" id="{0DE063CE-16CB-2566-12AF-179527B28A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25" t="80683" r="14123" b="15983"/>
            <a:stretch/>
          </p:blipFill>
          <p:spPr bwMode="auto">
            <a:xfrm>
              <a:off x="5170436" y="1056955"/>
              <a:ext cx="235630" cy="244692"/>
            </a:xfrm>
            <a:custGeom>
              <a:avLst/>
              <a:gdLst>
                <a:gd name="connsiteX0" fmla="*/ 0 w 243281"/>
                <a:gd name="connsiteY0" fmla="*/ 0 h 268447"/>
                <a:gd name="connsiteX1" fmla="*/ 243281 w 243281"/>
                <a:gd name="connsiteY1" fmla="*/ 0 h 268447"/>
                <a:gd name="connsiteX2" fmla="*/ 243281 w 243281"/>
                <a:gd name="connsiteY2" fmla="*/ 268447 h 268447"/>
                <a:gd name="connsiteX3" fmla="*/ 86099 w 243281"/>
                <a:gd name="connsiteY3" fmla="*/ 268447 h 268447"/>
                <a:gd name="connsiteX4" fmla="*/ 86144 w 243281"/>
                <a:gd name="connsiteY4" fmla="*/ 268409 h 268447"/>
                <a:gd name="connsiteX5" fmla="*/ 321 w 243281"/>
                <a:gd name="connsiteY5" fmla="*/ 165208 h 268447"/>
                <a:gd name="connsiteX6" fmla="*/ 0 w 243281"/>
                <a:gd name="connsiteY6" fmla="*/ 165475 h 26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281" h="268447">
                  <a:moveTo>
                    <a:pt x="0" y="0"/>
                  </a:moveTo>
                  <a:lnTo>
                    <a:pt x="243281" y="0"/>
                  </a:lnTo>
                  <a:lnTo>
                    <a:pt x="243281" y="268447"/>
                  </a:lnTo>
                  <a:lnTo>
                    <a:pt x="86099" y="268447"/>
                  </a:lnTo>
                  <a:lnTo>
                    <a:pt x="86144" y="268409"/>
                  </a:lnTo>
                  <a:lnTo>
                    <a:pt x="321" y="165208"/>
                  </a:lnTo>
                  <a:lnTo>
                    <a:pt x="0" y="165475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2EECB7AD-B457-4241-28AD-193D29F6D1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58" t="62400" r="20974" b="31949"/>
            <a:stretch/>
          </p:blipFill>
          <p:spPr bwMode="auto">
            <a:xfrm>
              <a:off x="4022179" y="2986283"/>
              <a:ext cx="2176582" cy="414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C29D884A-3F73-7F04-AE2D-D31B093DAE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1" t="78524" r="12984" b="19150"/>
            <a:stretch/>
          </p:blipFill>
          <p:spPr bwMode="auto">
            <a:xfrm flipH="1" flipV="1">
              <a:off x="6230803" y="4211903"/>
              <a:ext cx="178356" cy="17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8329209D-CA9D-6C52-DDB8-3136B9F047FD}"/>
                </a:ext>
              </a:extLst>
            </p:cNvPr>
            <p:cNvSpPr/>
            <p:nvPr/>
          </p:nvSpPr>
          <p:spPr>
            <a:xfrm>
              <a:off x="4240182" y="3401030"/>
              <a:ext cx="2319721" cy="2011986"/>
            </a:xfrm>
            <a:custGeom>
              <a:avLst/>
              <a:gdLst>
                <a:gd name="connsiteX0" fmla="*/ 0 w 2319721"/>
                <a:gd name="connsiteY0" fmla="*/ 0 h 2011986"/>
                <a:gd name="connsiteX1" fmla="*/ 1542860 w 2319721"/>
                <a:gd name="connsiteY1" fmla="*/ 0 h 2011986"/>
                <a:gd name="connsiteX2" fmla="*/ 1542860 w 2319721"/>
                <a:gd name="connsiteY2" fmla="*/ 894444 h 2011986"/>
                <a:gd name="connsiteX3" fmla="*/ 2019424 w 2319721"/>
                <a:gd name="connsiteY3" fmla="*/ 894444 h 2011986"/>
                <a:gd name="connsiteX4" fmla="*/ 2019424 w 2319721"/>
                <a:gd name="connsiteY4" fmla="*/ 1094834 h 2011986"/>
                <a:gd name="connsiteX5" fmla="*/ 2319721 w 2319721"/>
                <a:gd name="connsiteY5" fmla="*/ 1094834 h 2011986"/>
                <a:gd name="connsiteX6" fmla="*/ 442530 w 2319721"/>
                <a:gd name="connsiteY6" fmla="*/ 2011986 h 2011986"/>
                <a:gd name="connsiteX7" fmla="*/ 405987 w 2319721"/>
                <a:gd name="connsiteY7" fmla="*/ 2011986 h 2011986"/>
                <a:gd name="connsiteX8" fmla="*/ 405987 w 2319721"/>
                <a:gd name="connsiteY8" fmla="*/ 1737606 h 2011986"/>
                <a:gd name="connsiteX9" fmla="*/ 0 w 2319721"/>
                <a:gd name="connsiteY9" fmla="*/ 1737606 h 201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19721" h="2011986">
                  <a:moveTo>
                    <a:pt x="0" y="0"/>
                  </a:moveTo>
                  <a:lnTo>
                    <a:pt x="1542860" y="0"/>
                  </a:lnTo>
                  <a:lnTo>
                    <a:pt x="1542860" y="894444"/>
                  </a:lnTo>
                  <a:lnTo>
                    <a:pt x="2019424" y="894444"/>
                  </a:lnTo>
                  <a:lnTo>
                    <a:pt x="2019424" y="1094834"/>
                  </a:lnTo>
                  <a:lnTo>
                    <a:pt x="2319721" y="1094834"/>
                  </a:lnTo>
                  <a:lnTo>
                    <a:pt x="442530" y="2011986"/>
                  </a:lnTo>
                  <a:lnTo>
                    <a:pt x="405987" y="2011986"/>
                  </a:lnTo>
                  <a:lnTo>
                    <a:pt x="405987" y="1737606"/>
                  </a:lnTo>
                  <a:lnTo>
                    <a:pt x="0" y="17376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pic>
          <p:nvPicPr>
            <p:cNvPr id="100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048B59E8-50E8-8A8B-EE2A-6E942F680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30" t="51726" r="71864" b="42787"/>
            <a:stretch/>
          </p:blipFill>
          <p:spPr bwMode="auto">
            <a:xfrm>
              <a:off x="926535" y="1553200"/>
              <a:ext cx="1070069" cy="402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74F00978-B2A6-D71C-1254-55AC429DBA98}"/>
                </a:ext>
              </a:extLst>
            </p:cNvPr>
            <p:cNvSpPr/>
            <p:nvPr/>
          </p:nvSpPr>
          <p:spPr>
            <a:xfrm>
              <a:off x="802206" y="919371"/>
              <a:ext cx="701683" cy="933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CAB2AD7-5ED9-BBA8-7539-69CC7496AC14}"/>
                </a:ext>
              </a:extLst>
            </p:cNvPr>
            <p:cNvSpPr/>
            <p:nvPr/>
          </p:nvSpPr>
          <p:spPr>
            <a:xfrm>
              <a:off x="802206" y="-1240705"/>
              <a:ext cx="1457323" cy="1157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03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8CAA38E-6BEC-2F2F-7E4C-1B4862D3F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8" t="27450" r="64349" b="69986"/>
            <a:stretch/>
          </p:blipFill>
          <p:spPr bwMode="auto">
            <a:xfrm>
              <a:off x="2203287" y="-109879"/>
              <a:ext cx="783341" cy="188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" name="Picture 4" descr="The six degree-of-freedom PUMA 560 robot manipulator">
              <a:extLst>
                <a:ext uri="{FF2B5EF4-FFF2-40B4-BE49-F238E27FC236}">
                  <a16:creationId xmlns:a16="http://schemas.microsoft.com/office/drawing/2014/main" id="{ED1BE6B4-241E-C37F-44D4-3B21D429F5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74" t="12951" r="36078" b="84367"/>
            <a:stretch/>
          </p:blipFill>
          <p:spPr bwMode="auto">
            <a:xfrm>
              <a:off x="4240181" y="-1077102"/>
              <a:ext cx="442823" cy="196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0E1EFA8-0297-C04A-6DE9-F81AD4914C91}"/>
                </a:ext>
              </a:extLst>
            </p:cNvPr>
            <p:cNvSpPr/>
            <p:nvPr/>
          </p:nvSpPr>
          <p:spPr>
            <a:xfrm>
              <a:off x="4415741" y="-1798174"/>
              <a:ext cx="2247914" cy="721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3" name="矩形 122">
            <a:extLst>
              <a:ext uri="{FF2B5EF4-FFF2-40B4-BE49-F238E27FC236}">
                <a16:creationId xmlns:a16="http://schemas.microsoft.com/office/drawing/2014/main" id="{7773EE28-DFB0-73A1-7907-EDDBEFB8FBD4}"/>
              </a:ext>
            </a:extLst>
          </p:cNvPr>
          <p:cNvSpPr/>
          <p:nvPr/>
        </p:nvSpPr>
        <p:spPr>
          <a:xfrm>
            <a:off x="6283403" y="1465263"/>
            <a:ext cx="2760520" cy="3138502"/>
          </a:xfrm>
          <a:prstGeom prst="rect">
            <a:avLst/>
          </a:prstGeom>
          <a:solidFill>
            <a:schemeClr val="bg1">
              <a:alpha val="7131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Differential Form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381701" cy="3196591"/>
              </a:xfrm>
            </p:spPr>
            <p:txBody>
              <a:bodyPr/>
              <a:lstStyle/>
              <a:p>
                <a:r>
                  <a:rPr lang="en-GB" altLang="zh-CN" dirty="0"/>
                  <a:t>When 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GB" altLang="zh-CN" i="1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GB" altLang="zh-CN" i="1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⟶0</m:t>
                    </m:r>
                  </m:oMath>
                </a14:m>
                <a:r>
                  <a:rPr lang="en-GB" altLang="zh-CN" dirty="0"/>
                  <a:t> ,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altLang="zh-CN" dirty="0"/>
                  <a:t> becomes the instantaneous speed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from average speed.</a:t>
                </a:r>
                <a:endParaRPr lang="en-GB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altLang="zh-CN" b="0" i="1" smtClean="0">
                          <a:solidFill>
                            <a:srgbClr val="00339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den>
                      </m:f>
                      <m:f>
                        <m:fPr>
                          <m:ctrlP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num>
                        <m:den>
                          <m:r>
                            <a:rPr lang="en-GB" altLang="zh-CN" i="1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altLang="zh-CN" b="0" i="1" smtClean="0">
                              <a:solidFill>
                                <a:srgbClr val="00339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altLang="zh-CN" i="1" dirty="0">
                  <a:solidFill>
                    <a:srgbClr val="003399"/>
                  </a:solidFill>
                </a:endParaRPr>
              </a:p>
              <a:p>
                <a:r>
                  <a:rPr lang="en-GB" altLang="zh-CN" b="0" dirty="0">
                    <a:ea typeface="Cambria Math" panose="02040503050406030204" pitchFamily="18" charset="0"/>
                  </a:rPr>
                  <a:t>For each entry of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altLang="zh-CN" dirty="0"/>
                  <a:t>,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GB" altLang="zh-CN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GB" altLang="zh-CN" i="1" dirty="0"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GB" altLang="zh-CN" i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:endParaRPr lang="en-GB" altLang="zh-CN" i="1" dirty="0"/>
              </a:p>
              <a:p>
                <a:endParaRPr lang="en-GB" altLang="zh-CN" i="1" dirty="0">
                  <a:solidFill>
                    <a:srgbClr val="003399"/>
                  </a:solidFill>
                </a:endParaRPr>
              </a:p>
              <a:p>
                <a:endParaRPr lang="en-GB" altLang="zh-CN" i="1" dirty="0"/>
              </a:p>
              <a:p>
                <a:endParaRPr lang="en-GB" altLang="zh-CN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5381701" cy="3196591"/>
              </a:xfrm>
              <a:blipFill>
                <a:blip r:embed="rId4"/>
                <a:stretch>
                  <a:fillRect l="-471" t="-1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85CD1570-EF40-6CB4-8503-EC3C4FAE9BA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0885" y="3741315"/>
            <a:ext cx="461747" cy="219723"/>
          </a:xfrm>
          <a:prstGeom prst="line">
            <a:avLst/>
          </a:prstGeom>
          <a:ln w="22225">
            <a:solidFill>
              <a:schemeClr val="accent1"/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09FAE494-4F76-212F-0606-73B9AD9A7CA5}"/>
              </a:ext>
            </a:extLst>
          </p:cNvPr>
          <p:cNvCxnSpPr>
            <a:cxnSpLocks/>
          </p:cNvCxnSpPr>
          <p:nvPr/>
        </p:nvCxnSpPr>
        <p:spPr>
          <a:xfrm flipH="1">
            <a:off x="6177413" y="3961039"/>
            <a:ext cx="245220" cy="548535"/>
          </a:xfrm>
          <a:prstGeom prst="line">
            <a:avLst/>
          </a:prstGeom>
          <a:ln w="22225">
            <a:solidFill>
              <a:schemeClr val="tx2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6D6A093A-6BEA-BF63-4237-9EEBE185CD09}"/>
              </a:ext>
            </a:extLst>
          </p:cNvPr>
          <p:cNvCxnSpPr>
            <a:cxnSpLocks/>
          </p:cNvCxnSpPr>
          <p:nvPr/>
        </p:nvCxnSpPr>
        <p:spPr>
          <a:xfrm flipV="1">
            <a:off x="6422633" y="3911306"/>
            <a:ext cx="270020" cy="49732"/>
          </a:xfrm>
          <a:prstGeom prst="line">
            <a:avLst/>
          </a:prstGeom>
          <a:ln w="22225">
            <a:solidFill>
              <a:schemeClr val="accent3"/>
            </a:solidFill>
            <a:prstDash val="soli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弧 119">
            <a:extLst>
              <a:ext uri="{FF2B5EF4-FFF2-40B4-BE49-F238E27FC236}">
                <a16:creationId xmlns:a16="http://schemas.microsoft.com/office/drawing/2014/main" id="{6AE20315-CCAF-4A05-9181-52E8826A5041}"/>
              </a:ext>
            </a:extLst>
          </p:cNvPr>
          <p:cNvSpPr/>
          <p:nvPr/>
        </p:nvSpPr>
        <p:spPr>
          <a:xfrm rot="1572360">
            <a:off x="6117433" y="3614506"/>
            <a:ext cx="190044" cy="483109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弧 120">
            <a:extLst>
              <a:ext uri="{FF2B5EF4-FFF2-40B4-BE49-F238E27FC236}">
                <a16:creationId xmlns:a16="http://schemas.microsoft.com/office/drawing/2014/main" id="{598FCF3C-9AF8-3EEB-B544-C2AD0A914F45}"/>
              </a:ext>
            </a:extLst>
          </p:cNvPr>
          <p:cNvSpPr/>
          <p:nvPr/>
        </p:nvSpPr>
        <p:spPr>
          <a:xfrm rot="17871924">
            <a:off x="6141404" y="4123434"/>
            <a:ext cx="255531" cy="377454"/>
          </a:xfrm>
          <a:prstGeom prst="arc">
            <a:avLst>
              <a:gd name="adj1" fmla="val 14169402"/>
              <a:gd name="adj2" fmla="val 6725642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弧 121">
            <a:extLst>
              <a:ext uri="{FF2B5EF4-FFF2-40B4-BE49-F238E27FC236}">
                <a16:creationId xmlns:a16="http://schemas.microsoft.com/office/drawing/2014/main" id="{2778A7BE-BC27-1F38-B25B-DFD884781F18}"/>
              </a:ext>
            </a:extLst>
          </p:cNvPr>
          <p:cNvSpPr/>
          <p:nvPr/>
        </p:nvSpPr>
        <p:spPr>
          <a:xfrm>
            <a:off x="6461853" y="3739227"/>
            <a:ext cx="306291" cy="302033"/>
          </a:xfrm>
          <a:prstGeom prst="arc">
            <a:avLst>
              <a:gd name="adj1" fmla="val 13067873"/>
              <a:gd name="adj2" fmla="val 7943056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9979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>
                <a:solidFill>
                  <a:srgbClr val="003399"/>
                </a:solidFill>
              </a:rPr>
              <a:t>Jacobian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41178" y="1401836"/>
                <a:ext cx="8417402" cy="3246291"/>
              </a:xfrm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altLang="zh-CN" i="1" smtClean="0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…+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rgbClr val="003399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 smtClean="0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rgbClr val="003399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GB" altLang="zh-CN" i="1" dirty="0"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altLang="zh-CN" i="1" smtClean="0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+…+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GB" altLang="zh-CN" i="1" dirty="0"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altLang="zh-CN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+…+</m:t>
                              </m:r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en-GB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GB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 smtClean="0">
                                        <a:solidFill>
                                          <a:srgbClr val="00339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rgbClr val="00339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rgbClr val="00339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altLang="zh-CN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GB" altLang="zh-CN" i="1" smtClean="0">
                                    <a:solidFill>
                                      <a:srgbClr val="00339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altLang="zh-CN" i="1">
                                        <a:solidFill>
                                          <a:srgbClr val="00339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solidFill>
                                              <a:srgbClr val="003399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GB" altLang="zh-CN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altLang="zh-CN" i="1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solidFill>
                                              <a:schemeClr val="accent3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GB" altLang="zh-CN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altLang="zh-CN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GB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altLang="zh-CN" i="1" dirty="0">
                  <a:ea typeface="Cambria Math" panose="02040503050406030204" pitchFamily="18" charset="0"/>
                </a:endParaRPr>
              </a:p>
              <a:p>
                <a:r>
                  <a:rPr lang="en-GB" altLang="zh-CN" dirty="0">
                    <a:solidFill>
                      <a:schemeClr val="tx1"/>
                    </a:solidFill>
                  </a:rPr>
                  <a:t>The matrix of the partial derivatives is called the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Jacobian</a:t>
                </a:r>
                <a:r>
                  <a:rPr lang="en-GB" altLang="zh-CN" dirty="0">
                    <a:solidFill>
                      <a:schemeClr val="tx1"/>
                    </a:solidFill>
                  </a:rPr>
                  <a:t> (often referred to as the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Jacobian matrix</a:t>
                </a:r>
                <a:r>
                  <a:rPr lang="en-GB" altLang="zh-CN" dirty="0">
                    <a:solidFill>
                      <a:schemeClr val="tx1"/>
                    </a:solidFill>
                  </a:rPr>
                  <a:t> in mathematics), denoted by</a:t>
                </a:r>
                <a14:m>
                  <m:oMath xmlns:m="http://schemas.openxmlformats.org/officeDocument/2006/math">
                    <m:r>
                      <a:rPr lang="en-GB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  <m:d>
                      <m:d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GB" altLang="zh-CN" dirty="0">
                    <a:solidFill>
                      <a:srgbClr val="003399"/>
                    </a:solidFill>
                  </a:rPr>
                  <a:t>.</a:t>
                </a:r>
                <a:r>
                  <a:rPr lang="en-GB" altLang="zh-CN" dirty="0"/>
                  <a:t> The velocity can be written as: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l-GR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  <m:d>
                      <m:d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acc>
                      <m:accPr>
                        <m:chr m:val="̇"/>
                        <m:ctrl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acc>
                  </m:oMath>
                </a14:m>
                <a:r>
                  <a:rPr lang="en-GB" altLang="zh-CN" dirty="0"/>
                  <a:t> </a:t>
                </a:r>
              </a:p>
              <a:p>
                <a:r>
                  <a:rPr lang="en-GB" altLang="zh-CN" b="0" i="0" dirty="0">
                    <a:solidFill>
                      <a:srgbClr val="0D0D0D"/>
                    </a:solidFill>
                    <a:effectLst/>
                  </a:rPr>
                  <a:t>where the dot above</a:t>
                </a:r>
                <a:r>
                  <a:rPr lang="zh-CN" altLang="en-US" b="0" i="0" dirty="0">
                    <a:solidFill>
                      <a:srgbClr val="0D0D0D"/>
                    </a:solidFill>
                    <a:effectLst/>
                  </a:rPr>
                  <a:t> </a:t>
                </a:r>
                <a:r>
                  <a:rPr lang="en-GB" altLang="zh-CN" dirty="0"/>
                  <a:t>a parameter</a:t>
                </a:r>
                <a:r>
                  <a:rPr lang="el-GR" altLang="zh-CN" dirty="0"/>
                  <a:t> </a:t>
                </a:r>
                <a:r>
                  <a:rPr lang="en-GB" altLang="zh-CN" dirty="0"/>
                  <a:t>denotes</a:t>
                </a:r>
                <a:r>
                  <a:rPr lang="en-GB" altLang="zh-CN" b="0" i="0" dirty="0">
                    <a:solidFill>
                      <a:srgbClr val="0D0D0D"/>
                    </a:solidFill>
                    <a:effectLst/>
                  </a:rPr>
                  <a:t> the derivative of</a:t>
                </a:r>
                <a:r>
                  <a:rPr lang="el-GR" altLang="zh-CN" dirty="0"/>
                  <a:t> </a:t>
                </a:r>
                <a:r>
                  <a:rPr lang="en-GB" altLang="zh-CN" dirty="0"/>
                  <a:t>it with respect to time. </a:t>
                </a: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41178" y="1401836"/>
                <a:ext cx="8417402" cy="3246291"/>
              </a:xfrm>
              <a:blipFill>
                <a:blip r:embed="rId3"/>
                <a:stretch>
                  <a:fillRect l="-301" t="-1563" b="-1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79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Forward Differential Kinematics 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7732713" cy="3228305"/>
              </a:xfrm>
            </p:spPr>
            <p:txBody>
              <a:bodyPr/>
              <a:lstStyle/>
              <a:p>
                <a:r>
                  <a:rPr lang="en-GB" altLang="zh-CN" dirty="0"/>
                  <a:t>Forward differential kinematics deals with the problem of computing an expression that relates the generalised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velocities at the joints </a:t>
                </a:r>
                <a:r>
                  <a:rPr lang="en-GB" altLang="zh-CN" dirty="0"/>
                  <a:t>(i.e. the "speed" of our motors) to the generalised </a:t>
                </a:r>
                <a:r>
                  <a:rPr lang="en-GB" altLang="zh-CN" dirty="0">
                    <a:solidFill>
                      <a:srgbClr val="003399"/>
                    </a:solidFill>
                  </a:rPr>
                  <a:t>velocity of the robot’s end-effector</a:t>
                </a:r>
                <a:r>
                  <a:rPr lang="en-GB" altLang="zh-CN" dirty="0"/>
                  <a:t>.</a:t>
                </a:r>
              </a:p>
              <a:p>
                <a:r>
                  <a:rPr lang="en-GB" altLang="zh-CN" dirty="0">
                    <a:solidFill>
                      <a:schemeClr val="tx1"/>
                    </a:solidFill>
                  </a:rPr>
                  <a:t>The velocities at the joints are denoted by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l-GR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acc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, </a:t>
                </a:r>
                <a:r>
                  <a:rPr lang="en-GB" altLang="zh-CN" dirty="0"/>
                  <a:t>and the Jacobine can be derived from transformation matrix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GB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sPre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. The forward differential kinematics refer to the process of </a:t>
                </a:r>
                <a:r>
                  <a:rPr lang="en-GB" altLang="zh-CN" dirty="0"/>
                  <a:t>determining</a:t>
                </a:r>
                <a:r>
                  <a:rPr lang="en-GB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GB" altLang="zh-CN" dirty="0"/>
                  <a:t> the linear and angular velocity of the end-effector.</a:t>
                </a:r>
                <a:endParaRPr lang="en-GB" altLang="zh-CN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accent3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accent3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accent3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𝒥</m:t>
                            </m:r>
                            <m:d>
                              <m:dPr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  <m:acc>
                              <m:accPr>
                                <m:chr m:val="̇"/>
                                <m:ctrlPr>
                                  <a:rPr lang="el-GR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acc>
                          </m:e>
                          <m:e>
                            <m:sSub>
                              <m:sSubPr>
                                <m:ctrlPr>
                                  <a:rPr lang="en-GB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l-GR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l-GR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l-GR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7732713" cy="3228305"/>
              </a:xfrm>
              <a:blipFill>
                <a:blip r:embed="rId3"/>
                <a:stretch>
                  <a:fillRect l="-328" t="-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784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Forward Differential Kinematics 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7732713" cy="3228305"/>
              </a:xfrm>
            </p:spPr>
            <p:txBody>
              <a:bodyPr/>
              <a:lstStyle/>
              <a:p>
                <a:r>
                  <a:rPr lang="en-GB" altLang="zh-CN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a </a:t>
                </a:r>
                <a:r>
                  <a:rPr lang="en-GB" altLang="zh-CN" b="0" dirty="0">
                    <a:solidFill>
                      <a:srgbClr val="003399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generalised scenario</a:t>
                </a:r>
                <a:r>
                  <a:rPr lang="en-GB" altLang="zh-CN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such as with an arbitrary robot, the Jacobian encompasses the partial derivatives with respect to all its joint variables</a:t>
                </a:r>
                <a:r>
                  <a:rPr lang="en-GB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GB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GB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  <m:d>
                      <m:d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acc>
                      <m:accPr>
                        <m:chr m:val="̇"/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a:rPr lang="en-GB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GB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GB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GB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GB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GB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GB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en-GB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GB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acc>
                          </m:e>
                        </m:eqArr>
                      </m:e>
                    </m:d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7732713" cy="3228305"/>
              </a:xfrm>
              <a:blipFill>
                <a:blip r:embed="rId3"/>
                <a:stretch>
                  <a:fillRect l="-328" t="-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9744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F4F115-F9DA-21D4-0CA7-973C3516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9420"/>
            <a:ext cx="7732925" cy="630335"/>
          </a:xfrm>
        </p:spPr>
        <p:txBody>
          <a:bodyPr>
            <a:normAutofit/>
          </a:bodyPr>
          <a:lstStyle/>
          <a:p>
            <a:r>
              <a:rPr lang="en-GB" altLang="zh-CN" b="0" dirty="0"/>
              <a:t>Inverse Differential Kinematics</a:t>
            </a:r>
            <a:endParaRPr lang="zh-CN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7732713" cy="3228305"/>
              </a:xfrm>
            </p:spPr>
            <p:txBody>
              <a:bodyPr/>
              <a:lstStyle/>
              <a:p>
                <a:r>
                  <a:rPr lang="en-GB" altLang="zh-CN" dirty="0"/>
                  <a:t>It would now be desirable to just invert </a:t>
                </a:r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  <m:d>
                      <m:d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GB" altLang="zh-CN" dirty="0"/>
                  <a:t> in order to calculate the necessary joint speeds for every desired end-effector speed—a problem known as Inverse Differential Kinematics.</a:t>
                </a:r>
              </a:p>
              <a:p>
                <a14:m>
                  <m:oMath xmlns:m="http://schemas.openxmlformats.org/officeDocument/2006/math">
                    <m:r>
                      <a:rPr lang="en-GB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  <m:d>
                      <m:dPr>
                        <m:ctrlPr>
                          <a:rPr lang="en-GB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GB" altLang="zh-CN" dirty="0">
                    <a:solidFill>
                      <a:schemeClr val="tx1"/>
                    </a:solidFill>
                  </a:rPr>
                  <a:t> is only invertible if the matrix is full rank</a:t>
                </a:r>
                <a:r>
                  <a:rPr lang="en-GB" altLang="zh-CN" dirty="0"/>
                  <a:t>, otherwise, we can use the pseudo-inverse computation: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𝒥</m:t>
                      </m:r>
                      <m:r>
                        <a:rPr lang="en-GB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𝒥</m:t>
                              </m:r>
                              <m:sSup>
                                <m:sSupPr>
                                  <m:ctrlP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𝒥</m:t>
                                  </m:r>
                                </m:e>
                                <m:sup>
                                  <m:r>
                                    <a:rPr lang="en-GB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1BBA5D2F-394E-BE08-F848-D5B0A442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465263"/>
                <a:ext cx="7732713" cy="3228305"/>
              </a:xfrm>
              <a:blipFill>
                <a:blip r:embed="rId3"/>
                <a:stretch>
                  <a:fillRect l="-328" t="-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411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480B4D7-6897-F640-4D41-5E9EDFD8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Conclusion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AD8111E-958B-3061-F88D-E05C8DC5E8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We delved into </a:t>
            </a:r>
            <a:r>
              <a:rPr lang="en-GB" altLang="zh-CN" dirty="0">
                <a:solidFill>
                  <a:srgbClr val="003399"/>
                </a:solidFill>
              </a:rPr>
              <a:t>Inverse Kinematics</a:t>
            </a:r>
            <a:r>
              <a:rPr lang="en-GB" altLang="zh-CN" dirty="0"/>
              <a:t>, essential for calculating the joint configurations needed to position the robot's end-effector at a desired location.</a:t>
            </a:r>
          </a:p>
          <a:p>
            <a:r>
              <a:rPr lang="en-GB" altLang="zh-CN" dirty="0"/>
              <a:t>Lastly, </a:t>
            </a:r>
            <a:r>
              <a:rPr lang="en-GB" altLang="zh-CN" dirty="0">
                <a:solidFill>
                  <a:srgbClr val="003399"/>
                </a:solidFill>
              </a:rPr>
              <a:t>Differential Kinematics </a:t>
            </a:r>
            <a:r>
              <a:rPr lang="en-GB" altLang="zh-CN" dirty="0"/>
              <a:t>was discussed, highlighting how robots interpret velocity within their operational environment.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19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A Colours">
      <a:dk1>
        <a:srgbClr val="000000"/>
      </a:dk1>
      <a:lt1>
        <a:srgbClr val="FFFFFF"/>
      </a:lt1>
      <a:dk2>
        <a:srgbClr val="1C4392"/>
      </a:dk2>
      <a:lt2>
        <a:srgbClr val="E7E6E6"/>
      </a:lt2>
      <a:accent1>
        <a:srgbClr val="DA281C"/>
      </a:accent1>
      <a:accent2>
        <a:srgbClr val="5C284F"/>
      </a:accent2>
      <a:accent3>
        <a:srgbClr val="01B6ED"/>
      </a:accent3>
      <a:accent4>
        <a:srgbClr val="C80B6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25-Schools.potx" id="{0ED7EAAF-2CF3-4102-AC85-3A12D51D4024}" vid="{951E1219-D605-412D-92C4-259243AECCAC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25-Schools.potx" id="{0ED7EAAF-2CF3-4102-AC85-3A12D51D4024}" vid="{6E22BCD4-6E3B-486E-A238-7F692C3073B5}"/>
    </a:ext>
  </a:extLst>
</a:theme>
</file>

<file path=ppt/theme/theme3.xml><?xml version="1.0" encoding="utf-8"?>
<a:theme xmlns:a="http://schemas.openxmlformats.org/drawingml/2006/main" name="Content layouts">
  <a:themeElements>
    <a:clrScheme name="UoA Colours">
      <a:dk1>
        <a:srgbClr val="000000"/>
      </a:dk1>
      <a:lt1>
        <a:srgbClr val="FFFFFF"/>
      </a:lt1>
      <a:dk2>
        <a:srgbClr val="1C4392"/>
      </a:dk2>
      <a:lt2>
        <a:srgbClr val="E7E6E6"/>
      </a:lt2>
      <a:accent1>
        <a:srgbClr val="DA281C"/>
      </a:accent1>
      <a:accent2>
        <a:srgbClr val="5C284F"/>
      </a:accent2>
      <a:accent3>
        <a:srgbClr val="01B6ED"/>
      </a:accent3>
      <a:accent4>
        <a:srgbClr val="C80B6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25-Schools.potx" id="{0ED7EAAF-2CF3-4102-AC85-3A12D51D4024}" vid="{4125387D-2C93-4794-91EC-C1716099D6C2}"/>
    </a:ext>
  </a:extLst>
</a:theme>
</file>

<file path=ppt/theme/theme4.xml><?xml version="1.0" encoding="utf-8"?>
<a:theme xmlns:a="http://schemas.openxmlformats.org/drawingml/2006/main" name="1_Content layouts">
  <a:themeElements>
    <a:clrScheme name="UoA Colours">
      <a:dk1>
        <a:srgbClr val="000000"/>
      </a:dk1>
      <a:lt1>
        <a:srgbClr val="FFFFFF"/>
      </a:lt1>
      <a:dk2>
        <a:srgbClr val="1C4392"/>
      </a:dk2>
      <a:lt2>
        <a:srgbClr val="E7E6E6"/>
      </a:lt2>
      <a:accent1>
        <a:srgbClr val="DA281C"/>
      </a:accent1>
      <a:accent2>
        <a:srgbClr val="5C284F"/>
      </a:accent2>
      <a:accent3>
        <a:srgbClr val="01B6ED"/>
      </a:accent3>
      <a:accent4>
        <a:srgbClr val="C80B6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25-Schools.potx" id="{0ED7EAAF-2CF3-4102-AC85-3A12D51D4024}" vid="{4125387D-2C93-4794-91EC-C1716099D6C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0111BF46F3574E9A8F0BE88E59676B" ma:contentTypeVersion="2" ma:contentTypeDescription="Create a new document." ma:contentTypeScope="" ma:versionID="299365d1725ab9f5c9690605c878897d">
  <xsd:schema xmlns:xsd="http://www.w3.org/2001/XMLSchema" xmlns:xs="http://www.w3.org/2001/XMLSchema" xmlns:p="http://schemas.microsoft.com/office/2006/metadata/properties" xmlns:ns2="e315eb9a-1a86-4590-b9b9-657366c2faa6" targetNamespace="http://schemas.microsoft.com/office/2006/metadata/properties" ma:root="true" ma:fieldsID="dd1411bb5617dc68a620ec88108c7d5b" ns2:_="">
    <xsd:import namespace="e315eb9a-1a86-4590-b9b9-657366c2f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15eb9a-1a86-4590-b9b9-657366c2fa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03FF4A-92D1-4AC6-A3D0-2369C39732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AB92E3-26D1-4D43-9D8D-DDC63A368C19}">
  <ds:schemaRefs>
    <ds:schemaRef ds:uri="600fe1d4-0bed-4ae1-99b2-a080a88c64c6"/>
    <ds:schemaRef ds:uri="c2cbd189-ca79-4e30-a19f-ac4b1165c7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1D4C1F-3BBE-4756-865A-AF8F400817C0}">
  <ds:schemaRefs>
    <ds:schemaRef ds:uri="e315eb9a-1a86-4590-b9b9-657366c2f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525-template</Template>
  <TotalTime>13468</TotalTime>
  <Words>2653</Words>
  <Application>Microsoft Macintosh PowerPoint</Application>
  <PresentationFormat>全屏显示(16:9)</PresentationFormat>
  <Paragraphs>299</Paragraphs>
  <Slides>36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Google Sans</vt:lpstr>
      <vt:lpstr>Arial</vt:lpstr>
      <vt:lpstr>Calibri</vt:lpstr>
      <vt:lpstr>Calibri Light</vt:lpstr>
      <vt:lpstr>Cambria</vt:lpstr>
      <vt:lpstr>Cambria Math</vt:lpstr>
      <vt:lpstr>Office Theme</vt:lpstr>
      <vt:lpstr>1_Custom Design</vt:lpstr>
      <vt:lpstr>Content layouts</vt:lpstr>
      <vt:lpstr>1_Content layouts</vt:lpstr>
      <vt:lpstr>JC3504  Robot Technology</vt:lpstr>
      <vt:lpstr>Inverse Kinematics (covered in next lecture)</vt:lpstr>
      <vt:lpstr>Outline</vt:lpstr>
      <vt:lpstr>Frames with Standard Names</vt:lpstr>
      <vt:lpstr>Frames with Standard Names</vt:lpstr>
      <vt:lpstr>Where Is the Tool?</vt:lpstr>
      <vt:lpstr>Goal of Inverse Kinematics </vt:lpstr>
      <vt:lpstr>Solvability</vt:lpstr>
      <vt:lpstr>Solvability</vt:lpstr>
      <vt:lpstr>Closed-form Solutions (algebraic solution)</vt:lpstr>
      <vt:lpstr>Closed-form Solutions (algebraic solution)</vt:lpstr>
      <vt:lpstr>Closed-form Solutions (algebraic solution)</vt:lpstr>
      <vt:lpstr>Closed-form Solutions (algebraic solution)</vt:lpstr>
      <vt:lpstr>Closed-form Solutions (algebraic solution)</vt:lpstr>
      <vt:lpstr>Closed-form Solutions (algebraic solution)</vt:lpstr>
      <vt:lpstr>Closed-form Solutions (geometric solution)</vt:lpstr>
      <vt:lpstr>Closed-form Solutions (geometric solution)</vt:lpstr>
      <vt:lpstr>Closed-form Solutions (geometric solution)</vt:lpstr>
      <vt:lpstr>Closed-form Solutions (geometric solution)</vt:lpstr>
      <vt:lpstr>Pieper’s Solution When Axis 4,5,6 Intersect</vt:lpstr>
      <vt:lpstr>Pieper’s Solution Process</vt:lpstr>
      <vt:lpstr>Find 0P_4org</vt:lpstr>
      <vt:lpstr>Find θ_1, θ_2, θ_3</vt:lpstr>
      <vt:lpstr>Find θ_4, θ_5, θ_6</vt:lpstr>
      <vt:lpstr>Differential Kinematics (Velocity) </vt:lpstr>
      <vt:lpstr>Differential Kinematics (Velocity)</vt:lpstr>
      <vt:lpstr>Velocity of the End-effector</vt:lpstr>
      <vt:lpstr>Velocity of the End-effector</vt:lpstr>
      <vt:lpstr>Velocity of the End-effector</vt:lpstr>
      <vt:lpstr>Velocity of the End-effector</vt:lpstr>
      <vt:lpstr>Differential Form</vt:lpstr>
      <vt:lpstr>Jacobian</vt:lpstr>
      <vt:lpstr>Forward Differential Kinematics </vt:lpstr>
      <vt:lpstr>Forward Differential Kinematics </vt:lpstr>
      <vt:lpstr>Inverse Differential Kinematics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about this template</dc:title>
  <dc:creator>Macdonald, Lucy J</dc:creator>
  <cp:lastModifiedBy>Li, Xiao</cp:lastModifiedBy>
  <cp:revision>251</cp:revision>
  <dcterms:created xsi:type="dcterms:W3CDTF">2021-09-17T13:50:02Z</dcterms:created>
  <dcterms:modified xsi:type="dcterms:W3CDTF">2026-02-19T16:49:40Z</dcterms:modified>
  <cp:category>525 years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0x010100580111BF46F3574E9A8F0BE88E59676B</vt:lpwstr>
  </property>
</Properties>
</file>